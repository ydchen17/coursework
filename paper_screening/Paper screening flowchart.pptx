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10799763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50" d="100"/>
          <a:sy n="50" d="100"/>
        </p:scale>
        <p:origin x="2480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885414"/>
            <a:ext cx="9179799" cy="401083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6050924"/>
            <a:ext cx="8099822" cy="2781450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2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4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872125"/>
            <a:ext cx="9314796" cy="4792202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709663"/>
            <a:ext cx="9314796" cy="252010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2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066796"/>
            <a:ext cx="4589899" cy="7309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066796"/>
            <a:ext cx="4589899" cy="7309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4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613362"/>
            <a:ext cx="9314796" cy="222676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824120"/>
            <a:ext cx="4568805" cy="138405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4208178"/>
            <a:ext cx="4568805" cy="6189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824120"/>
            <a:ext cx="4591306" cy="138405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4208178"/>
            <a:ext cx="4591306" cy="6189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1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7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9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8032"/>
            <a:ext cx="3483205" cy="2688114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658740"/>
            <a:ext cx="5467380" cy="8187013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456146"/>
            <a:ext cx="3483205" cy="640293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6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8032"/>
            <a:ext cx="3483205" cy="2688114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658740"/>
            <a:ext cx="5467380" cy="8187013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456146"/>
            <a:ext cx="3483205" cy="640293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81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613359"/>
            <a:ext cx="2328699" cy="976308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613359"/>
            <a:ext cx="6851100" cy="976308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0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613362"/>
            <a:ext cx="9314796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066796"/>
            <a:ext cx="9314796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677788"/>
            <a:ext cx="2429947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B578F-CE61-D445-8E48-39808DB5B3FE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677788"/>
            <a:ext cx="364492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677788"/>
            <a:ext cx="2429947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7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895FBE-7394-2979-54AC-EFAA318EFC2F}"/>
              </a:ext>
            </a:extLst>
          </p:cNvPr>
          <p:cNvSpPr/>
          <p:nvPr/>
        </p:nvSpPr>
        <p:spPr>
          <a:xfrm>
            <a:off x="4221992" y="803973"/>
            <a:ext cx="2802564" cy="2050213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Records identified from: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Medline (n = 1156)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Embase (n = 1247)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Global Health (n = 382)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PsyclNFO (n = 404)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CINAHL (n = 448)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260483" algn="just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As of 21 Sept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ember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 2022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2D5A5-F90B-6D17-60FF-47C218758D55}"/>
              </a:ext>
            </a:extLst>
          </p:cNvPr>
          <p:cNvSpPr/>
          <p:nvPr/>
        </p:nvSpPr>
        <p:spPr>
          <a:xfrm>
            <a:off x="7860650" y="803969"/>
            <a:ext cx="2802564" cy="2049166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984 duplicate records removed before screening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4C4B30-745D-3271-A65C-F2064F3BF4BB}"/>
              </a:ext>
            </a:extLst>
          </p:cNvPr>
          <p:cNvSpPr/>
          <p:nvPr/>
        </p:nvSpPr>
        <p:spPr>
          <a:xfrm>
            <a:off x="4221992" y="3336517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2653 records screened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D6C13-FC98-571E-4FA7-C36658DBB09A}"/>
              </a:ext>
            </a:extLst>
          </p:cNvPr>
          <p:cNvSpPr/>
          <p:nvPr/>
        </p:nvSpPr>
        <p:spPr>
          <a:xfrm>
            <a:off x="7873834" y="3336517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2369 records excluded through Rayyan-assisted screening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73773-27BD-0927-0849-288FFADE6B0E}"/>
              </a:ext>
            </a:extLst>
          </p:cNvPr>
          <p:cNvSpPr/>
          <p:nvPr/>
        </p:nvSpPr>
        <p:spPr>
          <a:xfrm>
            <a:off x="4221992" y="4697946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257 reports sought for 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B9FDC-E811-97C1-ACC7-65D7BA90E7B6}"/>
              </a:ext>
            </a:extLst>
          </p:cNvPr>
          <p:cNvSpPr/>
          <p:nvPr/>
        </p:nvSpPr>
        <p:spPr>
          <a:xfrm>
            <a:off x="7873834" y="4727223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14 reports not retrieved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35CA5-1AC4-8356-9ACE-03A403DFAB17}"/>
              </a:ext>
            </a:extLst>
          </p:cNvPr>
          <p:cNvSpPr/>
          <p:nvPr/>
        </p:nvSpPr>
        <p:spPr>
          <a:xfrm>
            <a:off x="4221992" y="6044733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243 reports assessed for eligibility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383EA7-910D-0AAA-E00A-0BA0FA46AD65}"/>
              </a:ext>
            </a:extLst>
          </p:cNvPr>
          <p:cNvSpPr/>
          <p:nvPr/>
        </p:nvSpPr>
        <p:spPr>
          <a:xfrm>
            <a:off x="7887019" y="5862109"/>
            <a:ext cx="2802564" cy="4152046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159 reports excluded: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publication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type</a:t>
            </a:r>
            <a:endParaRPr lang="en-GB" altLang="zh-CN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Systematic review and meta-analysis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 = 54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Retracted article 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 = 1)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Conference abstracts (n = 7)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Foreign language (n = 12)*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population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 LMICs (n = 30)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 people with dementia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and/or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their carers (n = 23)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intervention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significant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proportion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of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caregiver support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n=77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)</a:t>
            </a:r>
            <a:endParaRPr lang="en-GB" sz="105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comparator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 intervention evaluated (n = 4)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outcomes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 evaluation for caregivers (n = 1)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study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design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endParaRPr lang="en-US" altLang="zh-CN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 RCT (n = 28)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91C13-624F-4C87-7EB7-C16CFBBB5BE1}"/>
              </a:ext>
            </a:extLst>
          </p:cNvPr>
          <p:cNvSpPr/>
          <p:nvPr/>
        </p:nvSpPr>
        <p:spPr>
          <a:xfrm>
            <a:off x="4221991" y="7991725"/>
            <a:ext cx="2802564" cy="119368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6 new studies included in review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282FFF-14AC-B994-23B1-7A230AD70A50}"/>
              </a:ext>
            </a:extLst>
          </p:cNvPr>
          <p:cNvCxnSpPr/>
          <p:nvPr/>
        </p:nvCxnSpPr>
        <p:spPr>
          <a:xfrm>
            <a:off x="7030091" y="1822600"/>
            <a:ext cx="836469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6FBEE7-1EEB-8041-CF70-8A8177E83E3B}"/>
              </a:ext>
            </a:extLst>
          </p:cNvPr>
          <p:cNvCxnSpPr/>
          <p:nvPr/>
        </p:nvCxnSpPr>
        <p:spPr>
          <a:xfrm>
            <a:off x="7030087" y="3754949"/>
            <a:ext cx="83643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ED695C-9763-D0E1-EF3A-88CA9BDD51DD}"/>
              </a:ext>
            </a:extLst>
          </p:cNvPr>
          <p:cNvCxnSpPr/>
          <p:nvPr/>
        </p:nvCxnSpPr>
        <p:spPr>
          <a:xfrm>
            <a:off x="7043271" y="5145654"/>
            <a:ext cx="83643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82BCEA-7C53-BBC7-2123-FF1A773F6AEA}"/>
              </a:ext>
            </a:extLst>
          </p:cNvPr>
          <p:cNvCxnSpPr/>
          <p:nvPr/>
        </p:nvCxnSpPr>
        <p:spPr>
          <a:xfrm>
            <a:off x="7069637" y="6507083"/>
            <a:ext cx="83643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Alternate Process 29">
            <a:extLst>
              <a:ext uri="{FF2B5EF4-FFF2-40B4-BE49-F238E27FC236}">
                <a16:creationId xmlns:a16="http://schemas.microsoft.com/office/drawing/2014/main" id="{88491F17-ECB5-626F-F02D-4CBDE182D351}"/>
              </a:ext>
            </a:extLst>
          </p:cNvPr>
          <p:cNvSpPr/>
          <p:nvPr/>
        </p:nvSpPr>
        <p:spPr>
          <a:xfrm>
            <a:off x="4195629" y="247687"/>
            <a:ext cx="6451933" cy="433498"/>
          </a:xfrm>
          <a:prstGeom prst="flowChartAlternateProcess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Identification of new studies via databases and registers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21" name="Flowchart: Alternate Process 31">
            <a:extLst>
              <a:ext uri="{FF2B5EF4-FFF2-40B4-BE49-F238E27FC236}">
                <a16:creationId xmlns:a16="http://schemas.microsoft.com/office/drawing/2014/main" id="{2B6FDE12-9D46-16CA-9E72-E9AE1BB2FC13}"/>
              </a:ext>
            </a:extLst>
          </p:cNvPr>
          <p:cNvSpPr/>
          <p:nvPr/>
        </p:nvSpPr>
        <p:spPr>
          <a:xfrm rot="16200000">
            <a:off x="-750024" y="1733383"/>
            <a:ext cx="2116708" cy="390398"/>
          </a:xfrm>
          <a:prstGeom prst="flowChartAlternateProcess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Identification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22" name="Flowchart: Alternate Process 32">
            <a:extLst>
              <a:ext uri="{FF2B5EF4-FFF2-40B4-BE49-F238E27FC236}">
                <a16:creationId xmlns:a16="http://schemas.microsoft.com/office/drawing/2014/main" id="{44B25415-3CFE-B6E1-E1C6-7A908F5D2826}"/>
              </a:ext>
            </a:extLst>
          </p:cNvPr>
          <p:cNvSpPr/>
          <p:nvPr/>
        </p:nvSpPr>
        <p:spPr>
          <a:xfrm rot="16200000">
            <a:off x="-1890047" y="5379684"/>
            <a:ext cx="4396755" cy="390398"/>
          </a:xfrm>
          <a:prstGeom prst="flowChartAlternateProcess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Screening</a:t>
            </a:r>
          </a:p>
        </p:txBody>
      </p:sp>
      <p:sp>
        <p:nvSpPr>
          <p:cNvPr id="23" name="Flowchart: Alternate Process 33">
            <a:extLst>
              <a:ext uri="{FF2B5EF4-FFF2-40B4-BE49-F238E27FC236}">
                <a16:creationId xmlns:a16="http://schemas.microsoft.com/office/drawing/2014/main" id="{5E73CB6E-CAEB-23DE-E3DC-7B186C62C72D}"/>
              </a:ext>
            </a:extLst>
          </p:cNvPr>
          <p:cNvSpPr/>
          <p:nvPr/>
        </p:nvSpPr>
        <p:spPr>
          <a:xfrm rot="16200000">
            <a:off x="-1387932" y="9536040"/>
            <a:ext cx="3419865" cy="363061"/>
          </a:xfrm>
          <a:prstGeom prst="flowChartAlternateProcess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Inclusion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4DDF69-B973-AFFD-96E5-A1263F229BD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623274" y="2854186"/>
            <a:ext cx="0" cy="48233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3D2D0B-2B8D-4D32-40E9-B06C65F0CD7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623274" y="4204563"/>
            <a:ext cx="0" cy="49338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904C88-F1C6-43BF-B842-ACA82B4838BC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5623274" y="5565992"/>
            <a:ext cx="0" cy="47874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5067E6-A540-99D9-1F32-BB13CA6D5CF7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5623277" y="6912775"/>
            <a:ext cx="1" cy="107894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54642F8-9949-D233-DE56-662414FAB06F}"/>
              </a:ext>
            </a:extLst>
          </p:cNvPr>
          <p:cNvSpPr/>
          <p:nvPr/>
        </p:nvSpPr>
        <p:spPr>
          <a:xfrm>
            <a:off x="4221991" y="10181898"/>
            <a:ext cx="2802564" cy="119368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Total studies included in review</a:t>
            </a:r>
          </a:p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 = 33)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B82E70-C17E-64B2-EBD4-5963433DD8B3}"/>
              </a:ext>
            </a:extLst>
          </p:cNvPr>
          <p:cNvCxnSpPr>
            <a:cxnSpLocks/>
            <a:stCxn id="15" idx="2"/>
            <a:endCxn id="28" idx="0"/>
          </p:cNvCxnSpPr>
          <p:nvPr/>
        </p:nvCxnSpPr>
        <p:spPr>
          <a:xfrm>
            <a:off x="5623273" y="9185410"/>
            <a:ext cx="0" cy="99648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B4BA77C-ED3C-301D-63DC-A0CA31249CD6}"/>
              </a:ext>
            </a:extLst>
          </p:cNvPr>
          <p:cNvSpPr/>
          <p:nvPr/>
        </p:nvSpPr>
        <p:spPr>
          <a:xfrm>
            <a:off x="872906" y="872325"/>
            <a:ext cx="2802553" cy="2062694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Studies included in previous version of review (n = 733)</a:t>
            </a:r>
          </a:p>
        </p:txBody>
      </p:sp>
      <p:cxnSp>
        <p:nvCxnSpPr>
          <p:cNvPr id="31" name="Connector: Elbow 26">
            <a:extLst>
              <a:ext uri="{FF2B5EF4-FFF2-40B4-BE49-F238E27FC236}">
                <a16:creationId xmlns:a16="http://schemas.microsoft.com/office/drawing/2014/main" id="{F87A194A-1415-B25F-451A-403B9E67683F}"/>
              </a:ext>
            </a:extLst>
          </p:cNvPr>
          <p:cNvCxnSpPr>
            <a:cxnSpLocks/>
            <a:stCxn id="60" idx="2"/>
            <a:endCxn id="28" idx="1"/>
          </p:cNvCxnSpPr>
          <p:nvPr/>
        </p:nvCxnSpPr>
        <p:spPr>
          <a:xfrm rot="16200000" flipH="1">
            <a:off x="2883689" y="9440438"/>
            <a:ext cx="728801" cy="1947807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Flowchart: Alternate Process 28">
            <a:extLst>
              <a:ext uri="{FF2B5EF4-FFF2-40B4-BE49-F238E27FC236}">
                <a16:creationId xmlns:a16="http://schemas.microsoft.com/office/drawing/2014/main" id="{E3309D03-E99D-E3FC-A051-9DF36C887E62}"/>
              </a:ext>
            </a:extLst>
          </p:cNvPr>
          <p:cNvSpPr/>
          <p:nvPr/>
        </p:nvSpPr>
        <p:spPr>
          <a:xfrm>
            <a:off x="872902" y="275481"/>
            <a:ext cx="2797276" cy="405704"/>
          </a:xfrm>
          <a:prstGeom prst="flowChartAlternateProcess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Previous studies</a:t>
            </a:r>
            <a:endParaRPr lang="en-GB" sz="1589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ACC287-1AD0-DE91-7AB4-90A1161C6BE8}"/>
              </a:ext>
            </a:extLst>
          </p:cNvPr>
          <p:cNvSpPr/>
          <p:nvPr/>
        </p:nvSpPr>
        <p:spPr>
          <a:xfrm>
            <a:off x="872902" y="3377369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733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records screened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F6FB169-8B2A-B4E8-DE46-5E176A48470A}"/>
              </a:ext>
            </a:extLst>
          </p:cNvPr>
          <p:cNvCxnSpPr>
            <a:cxnSpLocks/>
          </p:cNvCxnSpPr>
          <p:nvPr/>
        </p:nvCxnSpPr>
        <p:spPr>
          <a:xfrm flipH="1">
            <a:off x="2269814" y="2945319"/>
            <a:ext cx="4364" cy="4320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7CFF646-CC30-5A9C-9B8A-6CF97583958D}"/>
              </a:ext>
            </a:extLst>
          </p:cNvPr>
          <p:cNvSpPr/>
          <p:nvPr/>
        </p:nvSpPr>
        <p:spPr>
          <a:xfrm>
            <a:off x="876756" y="4915457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345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reports assessed for eligibility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16BBB9-FB7C-F973-0116-C5364F9F4295}"/>
              </a:ext>
            </a:extLst>
          </p:cNvPr>
          <p:cNvSpPr/>
          <p:nvPr/>
        </p:nvSpPr>
        <p:spPr>
          <a:xfrm>
            <a:off x="876756" y="5779985"/>
            <a:ext cx="2802564" cy="19206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319 reports excluded:</a:t>
            </a:r>
          </a:p>
          <a:p>
            <a:pPr lvl="1"/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intervention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significant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proportion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of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caregiver support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n=318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endParaRPr lang="en-GB" sz="105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outcomes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 evaluation for caregivers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(n=1)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A359F4-C7B4-0FB2-FFF1-61040E7D7225}"/>
              </a:ext>
            </a:extLst>
          </p:cNvPr>
          <p:cNvSpPr/>
          <p:nvPr/>
        </p:nvSpPr>
        <p:spPr>
          <a:xfrm>
            <a:off x="872902" y="8856253"/>
            <a:ext cx="2802564" cy="119368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26 previous studies included in review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90B48CC-5EA7-7863-2D87-713660B61E49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>
            <a:off x="2274184" y="4245411"/>
            <a:ext cx="3854" cy="67004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2AAFDE1-CA55-2608-8664-625164FC6D35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 flipH="1">
            <a:off x="2274184" y="7700602"/>
            <a:ext cx="3854" cy="115565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44C84F4-0786-E397-BFC6-019B457F44C8}"/>
              </a:ext>
            </a:extLst>
          </p:cNvPr>
          <p:cNvCxnSpPr>
            <a:cxnSpLocks/>
          </p:cNvCxnSpPr>
          <p:nvPr/>
        </p:nvCxnSpPr>
        <p:spPr>
          <a:xfrm flipV="1">
            <a:off x="-4289220" y="6747033"/>
            <a:ext cx="1010452" cy="332509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DF257DB-43A3-64C0-F2CC-D934B8A993E7}"/>
              </a:ext>
            </a:extLst>
          </p:cNvPr>
          <p:cNvSpPr txBox="1"/>
          <p:nvPr/>
        </p:nvSpPr>
        <p:spPr>
          <a:xfrm>
            <a:off x="7906069" y="10098314"/>
            <a:ext cx="278351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Note: </a:t>
            </a:r>
            <a:r>
              <a:rPr lang="en-GB" sz="11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We exclude 12 foreign language studies, as our reviewers cannot read in the language, thus unable to acquire relevant information from these studies. However, we also include 17 foreign-language studies that the reviewers were able to read and retrieve data from.</a:t>
            </a:r>
          </a:p>
        </p:txBody>
      </p:sp>
    </p:spTree>
    <p:extLst>
      <p:ext uri="{BB962C8B-B14F-4D97-AF65-F5344CB8AC3E}">
        <p14:creationId xmlns:p14="http://schemas.microsoft.com/office/powerpoint/2010/main" val="88501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</TotalTime>
  <Words>305</Words>
  <Application>Microsoft Macintosh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2022-12-14T01:40:57Z</dcterms:created>
  <dcterms:modified xsi:type="dcterms:W3CDTF">2022-12-14T05:13:20Z</dcterms:modified>
</cp:coreProperties>
</file>