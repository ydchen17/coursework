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4" r:id="rId1"/>
  </p:sldMasterIdLst>
  <p:sldIdLst>
    <p:sldId id="256" r:id="rId2"/>
    <p:sldId id="274" r:id="rId3"/>
    <p:sldId id="259" r:id="rId4"/>
    <p:sldId id="273" r:id="rId5"/>
    <p:sldId id="257" r:id="rId6"/>
    <p:sldId id="263" r:id="rId7"/>
    <p:sldId id="269" r:id="rId8"/>
    <p:sldId id="264" r:id="rId9"/>
    <p:sldId id="267" r:id="rId10"/>
    <p:sldId id="268" r:id="rId11"/>
    <p:sldId id="272" r:id="rId12"/>
    <p:sldId id="271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 snapToObjects="1">
      <p:cViewPr>
        <p:scale>
          <a:sx n="88" d="100"/>
          <a:sy n="88" d="100"/>
        </p:scale>
        <p:origin x="816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002-315D-49B1-B10F-137139C4B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96" y="1122363"/>
            <a:ext cx="7276733" cy="3381398"/>
          </a:xfrm>
        </p:spPr>
        <p:txBody>
          <a:bodyPr anchor="b">
            <a:normAutofit/>
          </a:bodyPr>
          <a:lstStyle>
            <a:lvl1pPr algn="l">
              <a:defRPr sz="4800" cap="none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35E0-4D9C-4DCA-8569-64503C5D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94" y="4612942"/>
            <a:ext cx="7276733" cy="1181683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3B68-70CF-4A98-948C-6EA4BD68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C2EF9-7F83-4AD3-B3F6-B9D4618D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751B-3464-41CD-B728-A72BB19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9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FD42-94A9-4345-AF38-7D562B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458-A63B-4032-B4EC-732DAC18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55B5-7F2F-408B-800D-92CB34B9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03412-EA6B-43CA-8B3A-F502587C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E9EE-F895-4ECE-B4B2-586D65E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87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193F-AFAD-4A9A-B0EF-530DFB1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76299"/>
            <a:ext cx="7876722" cy="37131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BBE4-9FC1-4F89-B120-1C49D816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46170"/>
            <a:ext cx="6781301" cy="10484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0A6B-E3FD-4920-8128-C263CA1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6B85-0649-47DB-AD69-458D8F6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5931-A293-42E9-BDF5-B2AE121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6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262B-ECD6-47BB-A6F1-92A6033E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8779-51E9-44D1-9F7B-28F3C6D3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74" y="2080517"/>
            <a:ext cx="4970124" cy="39773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8BFB-5295-4C5E-9CB1-E276E9D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99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22BF-1819-4301-B699-EF5A2F4D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1/28/22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0A2DF-39DE-49C3-A213-3E8423C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3A8-238B-4A68-A9F9-672D2F06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9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468-D010-4225-B024-DCEF543B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1955"/>
            <a:ext cx="10441236" cy="139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60A0-FCAB-425A-9ECD-94CDE4F4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926" y="1983242"/>
            <a:ext cx="5007110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986B-07CB-4FB0-9419-2AAB318B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063" y="2813959"/>
            <a:ext cx="5007110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9D784-7968-4E8B-B704-E42EE8F1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9255" y="1983242"/>
            <a:ext cx="5031769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754F-08D1-4593-988F-95F0ED1A0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9255" y="2813959"/>
            <a:ext cx="5031769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D2E61-83B4-4C8F-BBFE-D959203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1/28/22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0C136-A664-4013-8073-B0C6BDE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9547-8EE7-461B-9E99-484B11E9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85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667-0EFA-4EE6-8E4D-20805309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9" y="895440"/>
            <a:ext cx="10138451" cy="1832349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E4825-BB8C-4567-B407-B4452409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1/28/22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38892-25DB-4A4E-9D43-6058C45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DDDA-48EF-4B42-9980-4762AF5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01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A7D9-6801-4DD0-8D7D-505212F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1/28/22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FA3EA-1519-4178-AC3A-231A5BA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E-6FD6-4D60-8336-7843B4BD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10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D9AE-CA1A-4751-9B33-0AC09CE6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96948"/>
            <a:ext cx="3046410" cy="147955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9941-76E5-42B5-8464-C1A7010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96" y="876300"/>
            <a:ext cx="5758235" cy="518159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785D8-F112-415F-9AB4-5F2AC060D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4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B3-4E9C-4FAC-B1D1-2673F7B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1/28/22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370A-33F5-48A6-962A-47C0F15D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AD606-A37D-4697-AA7A-EAE4F101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E0B5E-1030-4A34-AB09-05ACB45CE993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47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D4C-0A93-40A6-9645-5EF7DE6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89314"/>
            <a:ext cx="3046409" cy="148718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F9455-852F-4604-87D4-801E8D5DB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4" y="876300"/>
            <a:ext cx="5943596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2061-B161-4973-9EE4-76D0B73F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3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E2E0-050A-4BC2-91DF-7A00811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1/28/22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AB003-B443-4B96-9DD9-4284E7E1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9DBA-16C0-4FFB-B367-B96169B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2BD78-1D6B-4742-9726-75646D91F4AC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740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731-248B-49C2-93DE-8A3260C9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D5C5-3D5A-4F3D-8A08-7053DACF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5372-3FC6-4227-B2DD-6CB24E6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B1B1-B637-4E46-B64C-F082B54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67AD-4B78-41F6-B814-726D4BD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05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74D5E-67E6-4C23-B80A-0C66B533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76299"/>
            <a:ext cx="2628900" cy="5181601"/>
          </a:xfrm>
        </p:spPr>
        <p:txBody>
          <a:bodyPr vert="eaVert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FF2A-08E8-447D-85C7-7D5A9C4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76299"/>
            <a:ext cx="7734300" cy="51816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30D-E580-4B0C-B5A8-2C8A094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1/28/22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AEB-1B6E-492E-918E-47179AF4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4A38-A745-436E-9E33-63B9F8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52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8CBCD-166B-4F97-A6DF-DAA3BF2B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876302"/>
            <a:ext cx="10427840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D6D9-636D-450B-839A-22AE0CED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758" y="2065984"/>
            <a:ext cx="10427841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CAEC-1EE5-4B71-9646-5C378EEB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2838" y="6356350"/>
            <a:ext cx="3361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1/28/22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EF8-70B2-4AFC-8388-691A146A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74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7DC7-D05C-4038-B51A-F00B7B9C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356350"/>
            <a:ext cx="617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2"/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4CCDA-06BF-4D2A-B44F-195AEC0B5B22}"/>
              </a:ext>
            </a:extLst>
          </p:cNvPr>
          <p:cNvCxnSpPr>
            <a:cxnSpLocks/>
          </p:cNvCxnSpPr>
          <p:nvPr/>
        </p:nvCxnSpPr>
        <p:spPr>
          <a:xfrm>
            <a:off x="952498" y="6252722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863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903" r:id="rId6"/>
    <p:sldLayoutId id="2147483898" r:id="rId7"/>
    <p:sldLayoutId id="2147483899" r:id="rId8"/>
    <p:sldLayoutId id="2147483900" r:id="rId9"/>
    <p:sldLayoutId id="2147483902" r:id="rId10"/>
    <p:sldLayoutId id="214748390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Tx/>
        <a:buNone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None/>
        <a:defRPr sz="1600" i="1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https://www.ura.gov.sg/-/media/Corporate/Planning/DMP19/Urban%20Transformations/Changi/ChangiMap.jpg?la=en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https://www.ura.gov.sg/-/media/Corporate/Planning/DMP19/Urban%20Transformations/Changi/ChangiMap.jpg?la=en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https://www.ura.gov.sg/-/media/Corporate/Planning/DMP19/Urban%20Transformations/Changi/ChangiMap.jpg?la=en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https://www.ura.gov.sg/-/media/Corporate/Planning/DMP19/Urban%20Transformations/Changi/ChangiMap.jpg?la=en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https://www.ura.gov.sg/-/media/Corporate/Planning/DMP19/Urban%20Transformations/Changi/ChangiMap.jpg?la=en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51C0BCA8-B9D5-4F84-B063-ABE683EE0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Picture 3" descr="Single tree on a field with cityscape in foggy distance">
            <a:extLst>
              <a:ext uri="{FF2B5EF4-FFF2-40B4-BE49-F238E27FC236}">
                <a16:creationId xmlns:a16="http://schemas.microsoft.com/office/drawing/2014/main" id="{AD733525-813F-43AF-9B07-0BE05452FC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814" b="600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3148D7B7-CAFA-4089-A365-6371A76FE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144236 w 12192000"/>
              <a:gd name="connsiteY0" fmla="*/ 859953 h 6858000"/>
              <a:gd name="connsiteX1" fmla="*/ 954990 w 12192000"/>
              <a:gd name="connsiteY1" fmla="*/ 3049201 h 6858000"/>
              <a:gd name="connsiteX2" fmla="*/ 954990 w 12192000"/>
              <a:gd name="connsiteY2" fmla="*/ 3317710 h 6858000"/>
              <a:gd name="connsiteX3" fmla="*/ 954990 w 12192000"/>
              <a:gd name="connsiteY3" fmla="*/ 6057900 h 6858000"/>
              <a:gd name="connsiteX4" fmla="*/ 5334000 w 12192000"/>
              <a:gd name="connsiteY4" fmla="*/ 6057900 h 6858000"/>
              <a:gd name="connsiteX5" fmla="*/ 5334000 w 12192000"/>
              <a:gd name="connsiteY5" fmla="*/ 3049201 h 6858000"/>
              <a:gd name="connsiteX6" fmla="*/ 3144755 w 12192000"/>
              <a:gd name="connsiteY6" fmla="*/ 859953 h 6858000"/>
              <a:gd name="connsiteX7" fmla="*/ 0 w 12192000"/>
              <a:gd name="connsiteY7" fmla="*/ 0 h 6858000"/>
              <a:gd name="connsiteX8" fmla="*/ 12192000 w 12192000"/>
              <a:gd name="connsiteY8" fmla="*/ 0 h 6858000"/>
              <a:gd name="connsiteX9" fmla="*/ 12192000 w 12192000"/>
              <a:gd name="connsiteY9" fmla="*/ 6858000 h 6858000"/>
              <a:gd name="connsiteX10" fmla="*/ 0 w 12192000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3144236" y="859953"/>
                </a:moveTo>
                <a:cubicBezTo>
                  <a:pt x="1935127" y="859953"/>
                  <a:pt x="954990" y="1840119"/>
                  <a:pt x="954990" y="3049201"/>
                </a:cubicBezTo>
                <a:lnTo>
                  <a:pt x="954990" y="3317710"/>
                </a:lnTo>
                <a:lnTo>
                  <a:pt x="954990" y="6057900"/>
                </a:lnTo>
                <a:lnTo>
                  <a:pt x="5334000" y="6057900"/>
                </a:lnTo>
                <a:lnTo>
                  <a:pt x="5334000" y="3049201"/>
                </a:lnTo>
                <a:cubicBezTo>
                  <a:pt x="5334000" y="1840119"/>
                  <a:pt x="4353860" y="859953"/>
                  <a:pt x="3144755" y="85995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328C4-95EB-3A48-9655-BFC0F2139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5663" y="1161232"/>
            <a:ext cx="5004176" cy="248547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700" dirty="0">
                <a:solidFill>
                  <a:srgbClr val="FFFFFF"/>
                </a:solidFill>
                <a:latin typeface="Times" pitchFamily="2" charset="0"/>
              </a:rPr>
              <a:t>Assessing the health impact of a major airport expansion in Singapore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DBB2A-8CE9-034B-A596-013905854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3004" y="4993240"/>
            <a:ext cx="3694048" cy="1137107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GB" cap="none">
                <a:solidFill>
                  <a:srgbClr val="FFFFFF"/>
                </a:solidFill>
              </a:rPr>
              <a:t>Yaoding Chen</a:t>
            </a:r>
          </a:p>
          <a:p>
            <a:pPr>
              <a:lnSpc>
                <a:spcPct val="110000"/>
              </a:lnSpc>
            </a:pPr>
            <a:r>
              <a:rPr lang="en-GB" cap="none">
                <a:solidFill>
                  <a:srgbClr val="FFFFFF"/>
                </a:solidFill>
              </a:rPr>
              <a:t>Nanyang Technological University, Singapore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476E355-DC49-4AFB-88DE-62B854B9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9851" y="4003443"/>
            <a:ext cx="0" cy="2054457"/>
          </a:xfrm>
          <a:prstGeom prst="line">
            <a:avLst/>
          </a:prstGeom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23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9409916" cy="1560083"/>
          </a:xfrm>
        </p:spPr>
        <p:txBody>
          <a:bodyPr>
            <a:normAutofit/>
          </a:bodyPr>
          <a:lstStyle/>
          <a:p>
            <a:r>
              <a:rPr lang="en-GB" b="1" dirty="0"/>
              <a:t>Method</a:t>
            </a:r>
            <a:br>
              <a:rPr lang="en-GB" dirty="0"/>
            </a:br>
            <a:r>
              <a:rPr lang="en-GB" sz="2700" dirty="0"/>
              <a:t>Health impact assessment (HIA)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1" y="2753546"/>
            <a:ext cx="10055905" cy="3402555"/>
          </a:xfrm>
        </p:spPr>
        <p:txBody>
          <a:bodyPr anchor="t">
            <a:normAutofit/>
          </a:bodyPr>
          <a:lstStyle/>
          <a:p>
            <a:r>
              <a:rPr lang="en-US" dirty="0"/>
              <a:t>What is HIA?</a:t>
            </a:r>
            <a:endParaRPr lang="en-GB" dirty="0"/>
          </a:p>
          <a:p>
            <a:pPr lvl="2"/>
            <a:r>
              <a:rPr lang="en-GB" dirty="0"/>
              <a:t>A scheme to identify potential health impact resulted from a public policy or other decisions, especially how such decisions affect those who are vulnerable or disadvantaged.</a:t>
            </a:r>
          </a:p>
          <a:p>
            <a:r>
              <a:rPr lang="en-GB" dirty="0"/>
              <a:t>Why we need HIA?</a:t>
            </a:r>
          </a:p>
          <a:p>
            <a:pPr lvl="2"/>
            <a:r>
              <a:rPr lang="en-GB" dirty="0"/>
              <a:t>If we need to critically evaluate the health impact of a specific programme or project, then HIA should be introduced, especially it involves great public health interests</a:t>
            </a:r>
          </a:p>
          <a:p>
            <a:pPr lvl="2"/>
            <a:r>
              <a:rPr lang="en-GB" dirty="0"/>
              <a:t>Sustainable development of a project or a programme is only possible with healthy populations. And HIA helps us find ways to achieve population health and sustainable development</a:t>
            </a:r>
          </a:p>
        </p:txBody>
      </p:sp>
    </p:spTree>
    <p:extLst>
      <p:ext uri="{BB962C8B-B14F-4D97-AF65-F5344CB8AC3E}">
        <p14:creationId xmlns:p14="http://schemas.microsoft.com/office/powerpoint/2010/main" val="253045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9409916" cy="1560083"/>
          </a:xfrm>
        </p:spPr>
        <p:txBody>
          <a:bodyPr>
            <a:normAutofit/>
          </a:bodyPr>
          <a:lstStyle/>
          <a:p>
            <a:r>
              <a:rPr lang="en-GB" b="1" dirty="0"/>
              <a:t>Method</a:t>
            </a:r>
            <a:br>
              <a:rPr lang="en-GB" dirty="0"/>
            </a:br>
            <a:r>
              <a:rPr lang="en-GB" sz="2700" dirty="0"/>
              <a:t>US CDC framework of health impact assessment (HIA)</a:t>
            </a:r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52500" y="2871627"/>
            <a:ext cx="0" cy="3186701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1" y="2753546"/>
            <a:ext cx="10055905" cy="3402555"/>
          </a:xfrm>
        </p:spPr>
        <p:txBody>
          <a:bodyPr anchor="t">
            <a:normAutofit/>
          </a:bodyPr>
          <a:lstStyle/>
          <a:p>
            <a:r>
              <a:rPr lang="en-SG" dirty="0"/>
              <a:t>We use US Centre for Disease Control and Prevention (CDC)’s </a:t>
            </a:r>
            <a:r>
              <a:rPr lang="en-GB" dirty="0"/>
              <a:t>approach to HIA:</a:t>
            </a:r>
          </a:p>
          <a:p>
            <a:pPr lvl="2"/>
            <a:r>
              <a:rPr lang="en-GB" dirty="0"/>
              <a:t>Screening &gt; Scoping &gt; Assessment &gt; Recommendations &gt; Reporting &gt; Monitoring &amp; Evaluation</a:t>
            </a:r>
          </a:p>
          <a:p>
            <a:r>
              <a:rPr lang="en-GB" dirty="0"/>
              <a:t>Why we use this approach?</a:t>
            </a:r>
          </a:p>
          <a:p>
            <a:pPr lvl="2"/>
            <a:r>
              <a:rPr lang="en-GB" dirty="0"/>
              <a:t>The approach contains well-rounded consideration of recommendations and how to address recommendations to different shareholders than the WHO approach</a:t>
            </a:r>
          </a:p>
          <a:p>
            <a:pPr lvl="2"/>
            <a:r>
              <a:rPr lang="en-GB" dirty="0"/>
              <a:t>Also, each step is more clearly defined and is easy to follow.</a:t>
            </a:r>
          </a:p>
          <a:p>
            <a:pPr lvl="2"/>
            <a:r>
              <a:rPr lang="en-GB" dirty="0"/>
              <a:t>Besides, there are more research using the scheme, which helps international comparison of similar research</a:t>
            </a:r>
          </a:p>
        </p:txBody>
      </p:sp>
    </p:spTree>
    <p:extLst>
      <p:ext uri="{BB962C8B-B14F-4D97-AF65-F5344CB8AC3E}">
        <p14:creationId xmlns:p14="http://schemas.microsoft.com/office/powerpoint/2010/main" val="2528417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4569407" cy="156008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Screening</a:t>
            </a:r>
            <a:br>
              <a:rPr lang="en-GB" dirty="0"/>
            </a:br>
            <a:r>
              <a:rPr lang="en-GB" sz="2700" dirty="0"/>
              <a:t>Introduction to Changi Airport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2" y="2753546"/>
            <a:ext cx="4917261" cy="3402555"/>
          </a:xfrm>
        </p:spPr>
        <p:txBody>
          <a:bodyPr anchor="t">
            <a:normAutofit fontScale="92500"/>
          </a:bodyPr>
          <a:lstStyle/>
          <a:p>
            <a:r>
              <a:rPr lang="en-GB" dirty="0"/>
              <a:t>Changi Airport is Singapore’s sole commercial international airport</a:t>
            </a:r>
          </a:p>
          <a:p>
            <a:r>
              <a:rPr lang="en-GB" dirty="0"/>
              <a:t>8 years as the world’s best airport before 2021 according to Skytrax</a:t>
            </a:r>
          </a:p>
          <a:p>
            <a:r>
              <a:rPr lang="en-GB" dirty="0"/>
              <a:t>Heavily hit by Covid-19 in term of both local and international visitors</a:t>
            </a:r>
          </a:p>
          <a:p>
            <a:r>
              <a:rPr lang="en-GB" dirty="0"/>
              <a:t>Infectious disease control raised as a public health concern related to the airport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609D0D-029B-4F46-BC3D-78C3B290F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694" y="342918"/>
            <a:ext cx="4424713" cy="2803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936C92-0419-0D4F-BDCF-28039042597E}"/>
              </a:ext>
            </a:extLst>
          </p:cNvPr>
          <p:cNvSpPr txBox="1"/>
          <p:nvPr/>
        </p:nvSpPr>
        <p:spPr>
          <a:xfrm>
            <a:off x="6886994" y="3206595"/>
            <a:ext cx="4795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number of passengers in millions at Changi  dropped in 2020, indicating heavy hit by the Covid-19 pandemic</a:t>
            </a:r>
          </a:p>
        </p:txBody>
      </p:sp>
      <p:pic>
        <p:nvPicPr>
          <p:cNvPr id="8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976FB0D-5DAA-A640-9E2F-CC6F939D7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694" y="4029734"/>
            <a:ext cx="4463069" cy="19889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7F5E91-1274-F846-AF21-2101925435A9}"/>
              </a:ext>
            </a:extLst>
          </p:cNvPr>
          <p:cNvSpPr txBox="1"/>
          <p:nvPr/>
        </p:nvSpPr>
        <p:spPr>
          <a:xfrm>
            <a:off x="6836370" y="6079157"/>
            <a:ext cx="4795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Local news report on Changi Airport employees among the first to be tested positive for Omicron variants in Singapore</a:t>
            </a:r>
          </a:p>
        </p:txBody>
      </p:sp>
    </p:spTree>
    <p:extLst>
      <p:ext uri="{BB962C8B-B14F-4D97-AF65-F5344CB8AC3E}">
        <p14:creationId xmlns:p14="http://schemas.microsoft.com/office/powerpoint/2010/main" val="327744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52500" y="2871627"/>
            <a:ext cx="0" cy="3186701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D80BE-B1B9-EE4A-A764-DAC9DB213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3" y="2753546"/>
            <a:ext cx="3746928" cy="3402555"/>
          </a:xfrm>
        </p:spPr>
        <p:txBody>
          <a:bodyPr anchor="t">
            <a:normAutofit fontScale="92500"/>
          </a:bodyPr>
          <a:lstStyle/>
          <a:p>
            <a:r>
              <a:rPr lang="en-GB" dirty="0"/>
              <a:t>Project launched in 2014</a:t>
            </a:r>
          </a:p>
          <a:p>
            <a:r>
              <a:rPr lang="en-GB" dirty="0"/>
              <a:t>3rd  runway finished in 2020</a:t>
            </a:r>
          </a:p>
          <a:p>
            <a:r>
              <a:rPr lang="en-GB" dirty="0"/>
              <a:t>Terminal 5 construction and the rest paused in 2021 due to uncertainty caused by Covid-19</a:t>
            </a:r>
          </a:p>
          <a:p>
            <a:r>
              <a:rPr lang="en-GB" dirty="0"/>
              <a:t>No health impact assessment ever done before, suggesting urgent need to do so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049" name="Picture 1" descr="Changi Region">
            <a:extLst>
              <a:ext uri="{FF2B5EF4-FFF2-40B4-BE49-F238E27FC236}">
                <a16:creationId xmlns:a16="http://schemas.microsoft.com/office/drawing/2014/main" id="{20B2DC13-5DBC-FC44-81CA-011354C2C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6" r="9515" b="-2"/>
          <a:stretch>
            <a:fillRect/>
          </a:stretch>
        </p:blipFill>
        <p:spPr bwMode="auto">
          <a:xfrm>
            <a:off x="5934493" y="447720"/>
            <a:ext cx="5920914" cy="596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986EA14-57F6-564D-B68C-AE66E6C68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319" y="109248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BC27F3F-8A60-C643-82CE-E56316502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4882445" cy="156008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Screening</a:t>
            </a:r>
            <a:br>
              <a:rPr lang="en-GB" dirty="0"/>
            </a:br>
            <a:r>
              <a:rPr lang="en-GB" sz="2700" dirty="0"/>
              <a:t>Introduction to Changi East Project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934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5515891" cy="156008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Scoping</a:t>
            </a:r>
            <a:br>
              <a:rPr lang="en-GB" dirty="0"/>
            </a:br>
            <a:r>
              <a:rPr lang="en-GB" sz="2700" dirty="0"/>
              <a:t>Potential health impact by Changi East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2" y="2753546"/>
            <a:ext cx="4917261" cy="3402555"/>
          </a:xfrm>
        </p:spPr>
        <p:txBody>
          <a:bodyPr anchor="t">
            <a:normAutofit/>
          </a:bodyPr>
          <a:lstStyle/>
          <a:p>
            <a:r>
              <a:rPr lang="en-GB" dirty="0"/>
              <a:t>Infectious diseases such as Covid-19 to put employees and public health in danger</a:t>
            </a:r>
          </a:p>
          <a:p>
            <a:r>
              <a:rPr lang="en-GB" dirty="0"/>
              <a:t>Increased noise level due to more jet flyovers </a:t>
            </a:r>
          </a:p>
          <a:p>
            <a:r>
              <a:rPr lang="en-GB" dirty="0"/>
              <a:t>Debris and wastewater from the new industrial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36C92-0419-0D4F-BDCF-28039042597E}"/>
              </a:ext>
            </a:extLst>
          </p:cNvPr>
          <p:cNvSpPr txBox="1"/>
          <p:nvPr/>
        </p:nvSpPr>
        <p:spPr>
          <a:xfrm>
            <a:off x="6924212" y="3373319"/>
            <a:ext cx="458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Local news report on Northeast Singapore suffering from jet noise</a:t>
            </a:r>
          </a:p>
        </p:txBody>
      </p:sp>
      <p:pic>
        <p:nvPicPr>
          <p:cNvPr id="8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976FB0D-5DAA-A640-9E2F-CC6F939D77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773" b="30299"/>
          <a:stretch/>
        </p:blipFill>
        <p:spPr>
          <a:xfrm>
            <a:off x="6929541" y="564207"/>
            <a:ext cx="4463069" cy="933360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0250450-513D-3248-8F5A-9B3382C64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212" y="2299640"/>
            <a:ext cx="4463069" cy="970747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1E196AB1-7426-6640-BB16-BF4A2D04CE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226"/>
          <a:stretch/>
        </p:blipFill>
        <p:spPr bwMode="auto">
          <a:xfrm>
            <a:off x="6924212" y="3997192"/>
            <a:ext cx="4468396" cy="160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A64174-3C84-C14C-877E-9E4802F6D21F}"/>
              </a:ext>
            </a:extLst>
          </p:cNvPr>
          <p:cNvSpPr txBox="1"/>
          <p:nvPr/>
        </p:nvSpPr>
        <p:spPr>
          <a:xfrm>
            <a:off x="6929539" y="1561046"/>
            <a:ext cx="4328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Local news report on Changi Airport employees among the first to be tested positive for Omicron variants in Singapore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7179F-9077-FA4A-A8EE-922B682A01C0}"/>
              </a:ext>
            </a:extLst>
          </p:cNvPr>
          <p:cNvSpPr txBox="1"/>
          <p:nvPr/>
        </p:nvSpPr>
        <p:spPr>
          <a:xfrm>
            <a:off x="6924212" y="5702029"/>
            <a:ext cx="4582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Masterplan shows an industrial zone to be built within Changi East</a:t>
            </a:r>
          </a:p>
        </p:txBody>
      </p:sp>
    </p:spTree>
    <p:extLst>
      <p:ext uri="{BB962C8B-B14F-4D97-AF65-F5344CB8AC3E}">
        <p14:creationId xmlns:p14="http://schemas.microsoft.com/office/powerpoint/2010/main" val="1602604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6615921" cy="156008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Assessment</a:t>
            </a:r>
            <a:br>
              <a:rPr lang="en-GB" dirty="0"/>
            </a:br>
            <a:r>
              <a:rPr lang="en-GB" sz="2700" dirty="0"/>
              <a:t>Population impacted by infectious disease control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2" y="2753546"/>
            <a:ext cx="5549225" cy="3402555"/>
          </a:xfrm>
        </p:spPr>
        <p:txBody>
          <a:bodyPr anchor="t">
            <a:normAutofit fontScale="92500" lnSpcReduction="20000"/>
          </a:bodyPr>
          <a:lstStyle/>
          <a:p>
            <a:r>
              <a:rPr lang="en-GB" dirty="0"/>
              <a:t>International travellers through Changi on in-/outbound flights</a:t>
            </a:r>
          </a:p>
          <a:p>
            <a:pPr marL="0" indent="0" algn="ctr">
              <a:buNone/>
            </a:pPr>
            <a:r>
              <a:rPr lang="en-GB" sz="3000" b="1" dirty="0"/>
              <a:t>1.1M/</a:t>
            </a:r>
            <a:r>
              <a:rPr lang="en-GB" sz="3000" b="1" dirty="0" err="1"/>
              <a:t>yr</a:t>
            </a:r>
            <a:endParaRPr lang="en-GB" sz="3000" b="1" dirty="0"/>
          </a:p>
          <a:p>
            <a:r>
              <a:rPr lang="en-GB" dirty="0"/>
              <a:t>Local land travellers through Changi via public transport &gt; 700k/day</a:t>
            </a:r>
          </a:p>
          <a:p>
            <a:r>
              <a:rPr lang="en-GB" dirty="0"/>
              <a:t>Airport employees = </a:t>
            </a:r>
            <a:r>
              <a:rPr lang="en-SG" dirty="0"/>
              <a:t>1,800 </a:t>
            </a:r>
            <a:endParaRPr lang="en-GB" dirty="0"/>
          </a:p>
          <a:p>
            <a:r>
              <a:rPr lang="en-GB" dirty="0"/>
              <a:t>Industrial zone employees = N/A</a:t>
            </a:r>
          </a:p>
          <a:p>
            <a:r>
              <a:rPr lang="en-GB" dirty="0"/>
              <a:t>Public transport drivers &lt; 1000</a:t>
            </a:r>
          </a:p>
        </p:txBody>
      </p:sp>
      <p:pic>
        <p:nvPicPr>
          <p:cNvPr id="7" name="Picture 6" descr="Timeline&#10;&#10;Description automatically generated">
            <a:extLst>
              <a:ext uri="{FF2B5EF4-FFF2-40B4-BE49-F238E27FC236}">
                <a16:creationId xmlns:a16="http://schemas.microsoft.com/office/drawing/2014/main" id="{87FE6046-53A9-E041-BADC-DCEB4BE49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954" y="731520"/>
            <a:ext cx="3565439" cy="53949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79F8F5-DBE4-1946-8D0C-EBC26C21C531}"/>
              </a:ext>
            </a:extLst>
          </p:cNvPr>
          <p:cNvSpPr txBox="1"/>
          <p:nvPr/>
        </p:nvSpPr>
        <p:spPr>
          <a:xfrm>
            <a:off x="8305296" y="6290400"/>
            <a:ext cx="29770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Data from Changi Airport Group annual report</a:t>
            </a:r>
          </a:p>
        </p:txBody>
      </p:sp>
    </p:spTree>
    <p:extLst>
      <p:ext uri="{BB962C8B-B14F-4D97-AF65-F5344CB8AC3E}">
        <p14:creationId xmlns:p14="http://schemas.microsoft.com/office/powerpoint/2010/main" val="155098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4" y="895440"/>
            <a:ext cx="4934786" cy="1560083"/>
          </a:xfrm>
        </p:spPr>
        <p:txBody>
          <a:bodyPr>
            <a:normAutofit/>
          </a:bodyPr>
          <a:lstStyle/>
          <a:p>
            <a:r>
              <a:rPr lang="en-GB" sz="4000" b="1" dirty="0"/>
              <a:t>Assessment</a:t>
            </a:r>
            <a:br>
              <a:rPr lang="en-GB" sz="4000" dirty="0"/>
            </a:br>
            <a:r>
              <a:rPr lang="en-GB" sz="2400" dirty="0"/>
              <a:t>Populations impacted by jet noise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3" y="2753546"/>
            <a:ext cx="3465264" cy="3402555"/>
          </a:xfrm>
        </p:spPr>
        <p:txBody>
          <a:bodyPr anchor="t">
            <a:normAutofit/>
          </a:bodyPr>
          <a:lstStyle/>
          <a:p>
            <a:r>
              <a:rPr lang="en-GB" dirty="0"/>
              <a:t>Northeast Singapore residents already impacted by the existing runways</a:t>
            </a:r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25480B3A-37C7-B24D-AFD2-5462DBF2F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712" y="543403"/>
            <a:ext cx="5525178" cy="50178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71F648-C3A2-BD4D-83EF-46125F704509}"/>
              </a:ext>
            </a:extLst>
          </p:cNvPr>
          <p:cNvSpPr txBox="1"/>
          <p:nvPr/>
        </p:nvSpPr>
        <p:spPr>
          <a:xfrm>
            <a:off x="6308712" y="5647195"/>
            <a:ext cx="552517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Google map snapshot of Changi Airport</a:t>
            </a:r>
          </a:p>
          <a:p>
            <a:pPr algn="ctr"/>
            <a:r>
              <a:rPr lang="en-GB" sz="1200" dirty="0"/>
              <a:t>The existing airport zone is coloured yellow and the third runway is coloured in red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F75461-EB28-1643-B4AF-918383036FB0}"/>
              </a:ext>
            </a:extLst>
          </p:cNvPr>
          <p:cNvSpPr/>
          <p:nvPr/>
        </p:nvSpPr>
        <p:spPr>
          <a:xfrm rot="1288301">
            <a:off x="9267550" y="1508315"/>
            <a:ext cx="652217" cy="3900463"/>
          </a:xfrm>
          <a:prstGeom prst="rect">
            <a:avLst/>
          </a:prstGeom>
          <a:solidFill>
            <a:srgbClr val="FF0000">
              <a:alpha val="20424"/>
            </a:srgbClr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EE75AE-C9AD-7641-81E2-E464145F49A4}"/>
              </a:ext>
            </a:extLst>
          </p:cNvPr>
          <p:cNvSpPr/>
          <p:nvPr/>
        </p:nvSpPr>
        <p:spPr>
          <a:xfrm rot="1288301">
            <a:off x="7521653" y="646363"/>
            <a:ext cx="1398532" cy="3540112"/>
          </a:xfrm>
          <a:prstGeom prst="rect">
            <a:avLst/>
          </a:prstGeom>
          <a:solidFill>
            <a:srgbClr val="FFC000">
              <a:alpha val="31836"/>
            </a:srgbClr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863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10683695" cy="1560083"/>
          </a:xfrm>
        </p:spPr>
        <p:txBody>
          <a:bodyPr>
            <a:normAutofit/>
          </a:bodyPr>
          <a:lstStyle/>
          <a:p>
            <a:r>
              <a:rPr lang="en-GB" sz="4000" b="1" dirty="0"/>
              <a:t>Assessment</a:t>
            </a:r>
            <a:br>
              <a:rPr lang="en-GB" sz="4000" dirty="0"/>
            </a:br>
            <a:r>
              <a:rPr lang="en-GB" sz="2400" dirty="0"/>
              <a:t>Populations impacted by jet noise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3" y="2753546"/>
            <a:ext cx="3465264" cy="3402555"/>
          </a:xfrm>
        </p:spPr>
        <p:txBody>
          <a:bodyPr anchor="t">
            <a:normAutofit fontScale="92500" lnSpcReduction="20000"/>
          </a:bodyPr>
          <a:lstStyle/>
          <a:p>
            <a:r>
              <a:rPr lang="en-GB" dirty="0"/>
              <a:t>Northeast Singapore residents already impacted by the existing runways</a:t>
            </a:r>
          </a:p>
          <a:p>
            <a:r>
              <a:rPr lang="en-GB" dirty="0"/>
              <a:t>Still landing of the third runway affect eastern half of Singapore, plus part of Kawasan, Malaysia</a:t>
            </a:r>
          </a:p>
          <a:p>
            <a:r>
              <a:rPr lang="en-GB" dirty="0"/>
              <a:t>Using the third runway may reduce extreme noise but still cause much noise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71F648-C3A2-BD4D-83EF-46125F704509}"/>
              </a:ext>
            </a:extLst>
          </p:cNvPr>
          <p:cNvSpPr txBox="1"/>
          <p:nvPr/>
        </p:nvSpPr>
        <p:spPr>
          <a:xfrm>
            <a:off x="6429073" y="5569874"/>
            <a:ext cx="5221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Instrument approach chart of the third runway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332429-5DEB-9C47-AF2F-DE8A09BB5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974" y="930164"/>
            <a:ext cx="5028929" cy="45464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EE0A91-9595-594F-AB02-19D2F7B38201}"/>
              </a:ext>
            </a:extLst>
          </p:cNvPr>
          <p:cNvSpPr txBox="1"/>
          <p:nvPr/>
        </p:nvSpPr>
        <p:spPr>
          <a:xfrm>
            <a:off x="8435925" y="6262566"/>
            <a:ext cx="30123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Map from Civil Aviation Authority of Singapore</a:t>
            </a:r>
          </a:p>
        </p:txBody>
      </p:sp>
    </p:spTree>
    <p:extLst>
      <p:ext uri="{BB962C8B-B14F-4D97-AF65-F5344CB8AC3E}">
        <p14:creationId xmlns:p14="http://schemas.microsoft.com/office/powerpoint/2010/main" val="294056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10683695" cy="1560083"/>
          </a:xfrm>
        </p:spPr>
        <p:txBody>
          <a:bodyPr>
            <a:normAutofit/>
          </a:bodyPr>
          <a:lstStyle/>
          <a:p>
            <a:r>
              <a:rPr lang="en-GB" sz="4000" b="1" dirty="0"/>
              <a:t>Assessment</a:t>
            </a:r>
            <a:br>
              <a:rPr lang="en-GB" sz="4000" dirty="0"/>
            </a:br>
            <a:r>
              <a:rPr lang="en-GB" sz="2400" dirty="0"/>
              <a:t>Populations impacted by jet noise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3" y="2753546"/>
            <a:ext cx="3465264" cy="3402555"/>
          </a:xfrm>
        </p:spPr>
        <p:txBody>
          <a:bodyPr anchor="t">
            <a:normAutofit fontScale="92500" lnSpcReduction="20000"/>
          </a:bodyPr>
          <a:lstStyle/>
          <a:p>
            <a:r>
              <a:rPr lang="en-GB" dirty="0"/>
              <a:t>Northeast Singapore residents already impacted by the existing runways</a:t>
            </a:r>
          </a:p>
          <a:p>
            <a:r>
              <a:rPr lang="en-GB" dirty="0"/>
              <a:t>Still landing of the third runway affect eastern half of Singapore, plus part of Kawasan, Malaysia</a:t>
            </a:r>
          </a:p>
          <a:p>
            <a:r>
              <a:rPr lang="en-GB" dirty="0"/>
              <a:t>Consideration to expand the runway may need to be consulted by the majority</a:t>
            </a:r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71F648-C3A2-BD4D-83EF-46125F704509}"/>
              </a:ext>
            </a:extLst>
          </p:cNvPr>
          <p:cNvSpPr txBox="1"/>
          <p:nvPr/>
        </p:nvSpPr>
        <p:spPr>
          <a:xfrm>
            <a:off x="6143906" y="3758228"/>
            <a:ext cx="5525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Affected regions among the most populated in Singapore </a:t>
            </a:r>
          </a:p>
        </p:txBody>
      </p:sp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A59122C5-0F1E-0A4D-9117-EAF3C82FC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396" y="644348"/>
            <a:ext cx="5326198" cy="298742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EDE2E60-8CBC-0940-8FD2-EB02095F8F12}"/>
              </a:ext>
            </a:extLst>
          </p:cNvPr>
          <p:cNvSpPr/>
          <p:nvPr/>
        </p:nvSpPr>
        <p:spPr>
          <a:xfrm>
            <a:off x="8686802" y="186261"/>
            <a:ext cx="3125974" cy="31259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CE4175-CD19-B84B-B9C8-A5FA8060CD31}"/>
                  </a:ext>
                </a:extLst>
              </p:cNvPr>
              <p:cNvSpPr txBox="1"/>
              <p:nvPr/>
            </p:nvSpPr>
            <p:spPr>
              <a:xfrm>
                <a:off x="5809285" y="4353330"/>
                <a:ext cx="552517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/>
                  <a:t>Eastern Region population </a:t>
                </a:r>
              </a:p>
              <a:p>
                <a:pPr algn="ctr"/>
                <a:r>
                  <a:rPr lang="en-GB" sz="2800" b="1" dirty="0"/>
                  <a:t>est.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GB" sz="2800" b="1" dirty="0"/>
                  <a:t> 686k</a:t>
                </a:r>
              </a:p>
              <a:p>
                <a:pPr algn="ctr"/>
                <a:r>
                  <a:rPr lang="en-GB" sz="2000" b="1" dirty="0"/>
                  <a:t>Population within the circle</a:t>
                </a:r>
              </a:p>
              <a:p>
                <a:pPr algn="ctr"/>
                <a:r>
                  <a:rPr lang="en-GB" sz="2800" b="1" dirty="0"/>
                  <a:t>est.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GB" sz="2800" b="1" dirty="0"/>
                  <a:t> 2M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CE4175-CD19-B84B-B9C8-A5FA8060C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285" y="4353330"/>
                <a:ext cx="5525177" cy="1569660"/>
              </a:xfrm>
              <a:prstGeom prst="rect">
                <a:avLst/>
              </a:prstGeom>
              <a:blipFill>
                <a:blip r:embed="rId3"/>
                <a:stretch>
                  <a:fillRect t="-1600" b="-96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97DE1D7-B8E0-DB44-8332-90499627B831}"/>
              </a:ext>
            </a:extLst>
          </p:cNvPr>
          <p:cNvSpPr txBox="1"/>
          <p:nvPr/>
        </p:nvSpPr>
        <p:spPr>
          <a:xfrm>
            <a:off x="7304205" y="6262566"/>
            <a:ext cx="41440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Map and population data from Department of Statistics, Singapore</a:t>
            </a:r>
          </a:p>
        </p:txBody>
      </p:sp>
    </p:spTree>
    <p:extLst>
      <p:ext uri="{BB962C8B-B14F-4D97-AF65-F5344CB8AC3E}">
        <p14:creationId xmlns:p14="http://schemas.microsoft.com/office/powerpoint/2010/main" val="2902821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10683695" cy="1560083"/>
          </a:xfrm>
        </p:spPr>
        <p:txBody>
          <a:bodyPr>
            <a:normAutofit/>
          </a:bodyPr>
          <a:lstStyle/>
          <a:p>
            <a:r>
              <a:rPr lang="en-SG" sz="4000" b="1" dirty="0"/>
              <a:t>Recommendations</a:t>
            </a:r>
            <a:br>
              <a:rPr lang="en-GB" sz="4000" dirty="0"/>
            </a:br>
            <a:r>
              <a:rPr lang="en-GB" sz="2400" dirty="0"/>
              <a:t>In term of disease control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3" y="2753546"/>
            <a:ext cx="3465264" cy="3402555"/>
          </a:xfrm>
        </p:spPr>
        <p:txBody>
          <a:bodyPr anchor="t">
            <a:normAutofit/>
          </a:bodyPr>
          <a:lstStyle/>
          <a:p>
            <a:r>
              <a:rPr lang="en-GB" dirty="0"/>
              <a:t>Reconsider a buffer zone at the proposed Changi city to prepare for room for quarantine near the airport</a:t>
            </a:r>
          </a:p>
          <a:p>
            <a:r>
              <a:rPr lang="en-GB" dirty="0"/>
              <a:t>All employees serving the airport should have enhanced training for public health and disease control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DE1D7-B8E0-DB44-8332-90499627B831}"/>
              </a:ext>
            </a:extLst>
          </p:cNvPr>
          <p:cNvSpPr txBox="1"/>
          <p:nvPr/>
        </p:nvSpPr>
        <p:spPr>
          <a:xfrm>
            <a:off x="8574708" y="6222787"/>
            <a:ext cx="2775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Map from Urban Redevelopment Authority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5A8EC-4AAC-DE49-92F3-A6F4A75988FA}"/>
              </a:ext>
            </a:extLst>
          </p:cNvPr>
          <p:cNvSpPr txBox="1"/>
          <p:nvPr/>
        </p:nvSpPr>
        <p:spPr>
          <a:xfrm>
            <a:off x="11448288" y="-2903734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New industrial zone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A9A6AD-4D89-1B4F-94FA-F7C4A73249EC}"/>
              </a:ext>
            </a:extLst>
          </p:cNvPr>
          <p:cNvSpPr txBox="1"/>
          <p:nvPr/>
        </p:nvSpPr>
        <p:spPr>
          <a:xfrm>
            <a:off x="6348194" y="5516033"/>
            <a:ext cx="2950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Waterfront business district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8D4899-EF23-B240-B04C-BBC23923D41F}"/>
              </a:ext>
            </a:extLst>
          </p:cNvPr>
          <p:cNvSpPr txBox="1"/>
          <p:nvPr/>
        </p:nvSpPr>
        <p:spPr>
          <a:xfrm>
            <a:off x="10247845" y="1240586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Industrial Zone</a:t>
            </a:r>
          </a:p>
        </p:txBody>
      </p:sp>
      <p:pic>
        <p:nvPicPr>
          <p:cNvPr id="11" name="Picture 1" descr="Changi Region">
            <a:extLst>
              <a:ext uri="{FF2B5EF4-FFF2-40B4-BE49-F238E27FC236}">
                <a16:creationId xmlns:a16="http://schemas.microsoft.com/office/drawing/2014/main" id="{A020B6F7-026E-6A41-9461-980F549099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6" r="9515" b="-2"/>
          <a:stretch>
            <a:fillRect/>
          </a:stretch>
        </p:blipFill>
        <p:spPr bwMode="auto">
          <a:xfrm>
            <a:off x="6096000" y="193541"/>
            <a:ext cx="5920914" cy="596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A5AC57-BFF1-9D49-B64C-03F7B3EDA135}"/>
              </a:ext>
            </a:extLst>
          </p:cNvPr>
          <p:cNvSpPr/>
          <p:nvPr/>
        </p:nvSpPr>
        <p:spPr>
          <a:xfrm rot="1555293">
            <a:off x="6560457" y="3135086"/>
            <a:ext cx="957943" cy="1553028"/>
          </a:xfrm>
          <a:prstGeom prst="rect">
            <a:avLst/>
          </a:prstGeom>
          <a:solidFill>
            <a:srgbClr val="00B05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FC63E-EE7F-E542-BBCE-298CAEFD2D22}"/>
              </a:ext>
            </a:extLst>
          </p:cNvPr>
          <p:cNvSpPr txBox="1"/>
          <p:nvPr/>
        </p:nvSpPr>
        <p:spPr>
          <a:xfrm>
            <a:off x="6640919" y="3588434"/>
            <a:ext cx="8162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buffer </a:t>
            </a:r>
          </a:p>
          <a:p>
            <a:r>
              <a:rPr lang="en-GB" dirty="0"/>
              <a:t>zone?</a:t>
            </a:r>
          </a:p>
        </p:txBody>
      </p:sp>
    </p:spTree>
    <p:extLst>
      <p:ext uri="{BB962C8B-B14F-4D97-AF65-F5344CB8AC3E}">
        <p14:creationId xmlns:p14="http://schemas.microsoft.com/office/powerpoint/2010/main" val="2540247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10683695" cy="1560083"/>
          </a:xfrm>
        </p:spPr>
        <p:txBody>
          <a:bodyPr>
            <a:normAutofit/>
          </a:bodyPr>
          <a:lstStyle/>
          <a:p>
            <a:r>
              <a:rPr lang="en-SG" sz="4000" b="1" dirty="0"/>
              <a:t>Recommendations</a:t>
            </a:r>
            <a:br>
              <a:rPr lang="en-GB" sz="4000" dirty="0"/>
            </a:br>
            <a:r>
              <a:rPr lang="en-GB" sz="2400" dirty="0"/>
              <a:t>In term of jet noise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3" y="2753546"/>
            <a:ext cx="3465264" cy="3402555"/>
          </a:xfrm>
        </p:spPr>
        <p:txBody>
          <a:bodyPr anchor="t">
            <a:normAutofit lnSpcReduction="10000"/>
          </a:bodyPr>
          <a:lstStyle/>
          <a:p>
            <a:r>
              <a:rPr lang="en-GB" dirty="0"/>
              <a:t>The industrial zone should have extra protection from jet noise for the workers</a:t>
            </a:r>
          </a:p>
          <a:p>
            <a:r>
              <a:rPr lang="en-GB" dirty="0"/>
              <a:t>Noise shielding should be built for the proposed Waterfront district </a:t>
            </a:r>
          </a:p>
          <a:p>
            <a:r>
              <a:rPr lang="en-GB" dirty="0"/>
              <a:t>Restrict night flight number and use 3rd runway at night to reduce noise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DE1D7-B8E0-DB44-8332-90499627B831}"/>
              </a:ext>
            </a:extLst>
          </p:cNvPr>
          <p:cNvSpPr txBox="1"/>
          <p:nvPr/>
        </p:nvSpPr>
        <p:spPr>
          <a:xfrm>
            <a:off x="8574708" y="6222787"/>
            <a:ext cx="2775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Map from Urban Redevelopment Authority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5A8EC-4AAC-DE49-92F3-A6F4A75988FA}"/>
              </a:ext>
            </a:extLst>
          </p:cNvPr>
          <p:cNvSpPr txBox="1"/>
          <p:nvPr/>
        </p:nvSpPr>
        <p:spPr>
          <a:xfrm>
            <a:off x="11448288" y="-2903734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New industrial zone</a:t>
            </a:r>
          </a:p>
        </p:txBody>
      </p:sp>
      <p:pic>
        <p:nvPicPr>
          <p:cNvPr id="9" name="Picture 1" descr="Changi Region">
            <a:extLst>
              <a:ext uri="{FF2B5EF4-FFF2-40B4-BE49-F238E27FC236}">
                <a16:creationId xmlns:a16="http://schemas.microsoft.com/office/drawing/2014/main" id="{C5E43D4D-967B-024F-BE85-F405D9A48D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6" r="9515" b="-2"/>
          <a:stretch>
            <a:fillRect/>
          </a:stretch>
        </p:blipFill>
        <p:spPr bwMode="auto">
          <a:xfrm>
            <a:off x="6096000" y="193541"/>
            <a:ext cx="5920914" cy="596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A9A6AD-4D89-1B4F-94FA-F7C4A73249EC}"/>
              </a:ext>
            </a:extLst>
          </p:cNvPr>
          <p:cNvSpPr txBox="1"/>
          <p:nvPr/>
        </p:nvSpPr>
        <p:spPr>
          <a:xfrm>
            <a:off x="7000473" y="5430250"/>
            <a:ext cx="29502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Noise-hit </a:t>
            </a:r>
          </a:p>
          <a:p>
            <a:r>
              <a:rPr lang="en-GB" dirty="0">
                <a:solidFill>
                  <a:srgbClr val="FF0000"/>
                </a:solidFill>
              </a:rPr>
              <a:t>Waterfront business district 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0919A7-3199-4444-BBFD-1853E6C30C86}"/>
              </a:ext>
            </a:extLst>
          </p:cNvPr>
          <p:cNvSpPr/>
          <p:nvPr/>
        </p:nvSpPr>
        <p:spPr>
          <a:xfrm rot="1512100">
            <a:off x="6976729" y="4633999"/>
            <a:ext cx="2223906" cy="654020"/>
          </a:xfrm>
          <a:prstGeom prst="rect">
            <a:avLst/>
          </a:prstGeom>
          <a:solidFill>
            <a:schemeClr val="accent3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BFF4FD-0FDF-E34A-B86C-B46C86A8FF37}"/>
              </a:ext>
            </a:extLst>
          </p:cNvPr>
          <p:cNvSpPr txBox="1"/>
          <p:nvPr/>
        </p:nvSpPr>
        <p:spPr>
          <a:xfrm>
            <a:off x="9756799" y="764623"/>
            <a:ext cx="1691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Noise-hit </a:t>
            </a:r>
          </a:p>
          <a:p>
            <a:r>
              <a:rPr lang="en-GB" dirty="0">
                <a:solidFill>
                  <a:srgbClr val="FF0000"/>
                </a:solidFill>
              </a:rPr>
              <a:t>Industrial Zone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9790BB-21B2-1E42-8C76-4E65C6E9B10D}"/>
              </a:ext>
            </a:extLst>
          </p:cNvPr>
          <p:cNvSpPr/>
          <p:nvPr/>
        </p:nvSpPr>
        <p:spPr>
          <a:xfrm rot="1512100">
            <a:off x="9608358" y="1675539"/>
            <a:ext cx="677918" cy="3956427"/>
          </a:xfrm>
          <a:prstGeom prst="rect">
            <a:avLst/>
          </a:prstGeom>
          <a:solidFill>
            <a:schemeClr val="accent6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CCCB1-F0CD-1E43-B8D7-2ADAA725EA99}"/>
              </a:ext>
            </a:extLst>
          </p:cNvPr>
          <p:cNvSpPr txBox="1"/>
          <p:nvPr/>
        </p:nvSpPr>
        <p:spPr>
          <a:xfrm rot="17610262">
            <a:off x="9103097" y="3546440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Third runway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1FEF16-CAEB-694E-9ED5-D4741EF02C20}"/>
              </a:ext>
            </a:extLst>
          </p:cNvPr>
          <p:cNvSpPr/>
          <p:nvPr/>
        </p:nvSpPr>
        <p:spPr>
          <a:xfrm rot="1512100">
            <a:off x="8759143" y="1569981"/>
            <a:ext cx="2223906" cy="654020"/>
          </a:xfrm>
          <a:prstGeom prst="rect">
            <a:avLst/>
          </a:prstGeom>
          <a:solidFill>
            <a:schemeClr val="accent3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1335DF-60D3-3C40-871D-5AB563814484}"/>
              </a:ext>
            </a:extLst>
          </p:cNvPr>
          <p:cNvSpPr txBox="1"/>
          <p:nvPr/>
        </p:nvSpPr>
        <p:spPr>
          <a:xfrm>
            <a:off x="6212347" y="1719505"/>
            <a:ext cx="165141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Local residents</a:t>
            </a:r>
          </a:p>
        </p:txBody>
      </p:sp>
    </p:spTree>
    <p:extLst>
      <p:ext uri="{BB962C8B-B14F-4D97-AF65-F5344CB8AC3E}">
        <p14:creationId xmlns:p14="http://schemas.microsoft.com/office/powerpoint/2010/main" val="2264645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10683695" cy="1560083"/>
          </a:xfrm>
        </p:spPr>
        <p:txBody>
          <a:bodyPr>
            <a:normAutofit/>
          </a:bodyPr>
          <a:lstStyle/>
          <a:p>
            <a:r>
              <a:rPr lang="en-US" sz="4000" b="1" dirty="0"/>
              <a:t>Reporting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2" y="2753546"/>
            <a:ext cx="4364545" cy="3402555"/>
          </a:xfrm>
        </p:spPr>
        <p:txBody>
          <a:bodyPr anchor="t">
            <a:normAutofit/>
          </a:bodyPr>
          <a:lstStyle/>
          <a:p>
            <a:r>
              <a:rPr lang="en-GB" dirty="0"/>
              <a:t>Local residents, potential users of the industrial zone, and the employees serving the airport should be included for project rehearsal</a:t>
            </a:r>
          </a:p>
          <a:p>
            <a:r>
              <a:rPr lang="en-GB" dirty="0"/>
              <a:t>Reports of HIA should be published and publicly available for the local residents to know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DE1D7-B8E0-DB44-8332-90499627B831}"/>
              </a:ext>
            </a:extLst>
          </p:cNvPr>
          <p:cNvSpPr txBox="1"/>
          <p:nvPr/>
        </p:nvSpPr>
        <p:spPr>
          <a:xfrm>
            <a:off x="8574708" y="6222787"/>
            <a:ext cx="2775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Map from Urban Redevelopment Authority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5A8EC-4AAC-DE49-92F3-A6F4A75988FA}"/>
              </a:ext>
            </a:extLst>
          </p:cNvPr>
          <p:cNvSpPr txBox="1"/>
          <p:nvPr/>
        </p:nvSpPr>
        <p:spPr>
          <a:xfrm>
            <a:off x="11448288" y="-2903734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New industrial zone</a:t>
            </a:r>
          </a:p>
        </p:txBody>
      </p:sp>
      <p:pic>
        <p:nvPicPr>
          <p:cNvPr id="9" name="Picture 1" descr="Changi Region">
            <a:extLst>
              <a:ext uri="{FF2B5EF4-FFF2-40B4-BE49-F238E27FC236}">
                <a16:creationId xmlns:a16="http://schemas.microsoft.com/office/drawing/2014/main" id="{C5E43D4D-967B-024F-BE85-F405D9A48D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6" r="9515" b="-2"/>
          <a:stretch>
            <a:fillRect/>
          </a:stretch>
        </p:blipFill>
        <p:spPr bwMode="auto">
          <a:xfrm>
            <a:off x="6096000" y="193541"/>
            <a:ext cx="5920914" cy="596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A9A6AD-4D89-1B4F-94FA-F7C4A73249EC}"/>
              </a:ext>
            </a:extLst>
          </p:cNvPr>
          <p:cNvSpPr txBox="1"/>
          <p:nvPr/>
        </p:nvSpPr>
        <p:spPr>
          <a:xfrm>
            <a:off x="7000473" y="5430250"/>
            <a:ext cx="29502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Noise-hit </a:t>
            </a:r>
          </a:p>
          <a:p>
            <a:r>
              <a:rPr lang="en-GB" dirty="0">
                <a:solidFill>
                  <a:srgbClr val="FF0000"/>
                </a:solidFill>
              </a:rPr>
              <a:t>Waterfront business district 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0919A7-3199-4444-BBFD-1853E6C30C86}"/>
              </a:ext>
            </a:extLst>
          </p:cNvPr>
          <p:cNvSpPr/>
          <p:nvPr/>
        </p:nvSpPr>
        <p:spPr>
          <a:xfrm rot="1512100">
            <a:off x="6976729" y="4633999"/>
            <a:ext cx="2223906" cy="654020"/>
          </a:xfrm>
          <a:prstGeom prst="rect">
            <a:avLst/>
          </a:prstGeom>
          <a:solidFill>
            <a:schemeClr val="accent3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BFF4FD-0FDF-E34A-B86C-B46C86A8FF37}"/>
              </a:ext>
            </a:extLst>
          </p:cNvPr>
          <p:cNvSpPr txBox="1"/>
          <p:nvPr/>
        </p:nvSpPr>
        <p:spPr>
          <a:xfrm>
            <a:off x="9756799" y="764623"/>
            <a:ext cx="1691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Noise-hit </a:t>
            </a:r>
          </a:p>
          <a:p>
            <a:r>
              <a:rPr lang="en-GB" dirty="0">
                <a:solidFill>
                  <a:srgbClr val="FF0000"/>
                </a:solidFill>
              </a:rPr>
              <a:t>Industrial Zone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9790BB-21B2-1E42-8C76-4E65C6E9B10D}"/>
              </a:ext>
            </a:extLst>
          </p:cNvPr>
          <p:cNvSpPr/>
          <p:nvPr/>
        </p:nvSpPr>
        <p:spPr>
          <a:xfrm rot="1512100">
            <a:off x="9608358" y="1675539"/>
            <a:ext cx="677918" cy="3956427"/>
          </a:xfrm>
          <a:prstGeom prst="rect">
            <a:avLst/>
          </a:prstGeom>
          <a:solidFill>
            <a:schemeClr val="accent6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CCCB1-F0CD-1E43-B8D7-2ADAA725EA99}"/>
              </a:ext>
            </a:extLst>
          </p:cNvPr>
          <p:cNvSpPr txBox="1"/>
          <p:nvPr/>
        </p:nvSpPr>
        <p:spPr>
          <a:xfrm rot="17610262">
            <a:off x="9103097" y="3546440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Third runway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1FEF16-CAEB-694E-9ED5-D4741EF02C20}"/>
              </a:ext>
            </a:extLst>
          </p:cNvPr>
          <p:cNvSpPr/>
          <p:nvPr/>
        </p:nvSpPr>
        <p:spPr>
          <a:xfrm rot="1512100">
            <a:off x="8759143" y="1569981"/>
            <a:ext cx="2223906" cy="654020"/>
          </a:xfrm>
          <a:prstGeom prst="rect">
            <a:avLst/>
          </a:prstGeom>
          <a:solidFill>
            <a:schemeClr val="accent3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1335DF-60D3-3C40-871D-5AB563814484}"/>
              </a:ext>
            </a:extLst>
          </p:cNvPr>
          <p:cNvSpPr txBox="1"/>
          <p:nvPr/>
        </p:nvSpPr>
        <p:spPr>
          <a:xfrm>
            <a:off x="6212347" y="1719505"/>
            <a:ext cx="165141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Local residents</a:t>
            </a:r>
          </a:p>
        </p:txBody>
      </p:sp>
    </p:spTree>
    <p:extLst>
      <p:ext uri="{BB962C8B-B14F-4D97-AF65-F5344CB8AC3E}">
        <p14:creationId xmlns:p14="http://schemas.microsoft.com/office/powerpoint/2010/main" val="3259002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6560-0111-3A40-9535-CF477AA0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10683695" cy="1560083"/>
          </a:xfrm>
        </p:spPr>
        <p:txBody>
          <a:bodyPr>
            <a:normAutofit/>
          </a:bodyPr>
          <a:lstStyle/>
          <a:p>
            <a:r>
              <a:rPr lang="en-US" sz="4000" b="1" dirty="0"/>
              <a:t>Evaluation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4C66-7039-2343-8544-A8BE5AA0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2" y="2753546"/>
            <a:ext cx="4364545" cy="3402555"/>
          </a:xfrm>
        </p:spPr>
        <p:txBody>
          <a:bodyPr anchor="t">
            <a:normAutofit/>
          </a:bodyPr>
          <a:lstStyle/>
          <a:p>
            <a:r>
              <a:rPr lang="en-GB" dirty="0"/>
              <a:t>Noise measurement networks should be built near the airport for noise monitoring</a:t>
            </a:r>
          </a:p>
          <a:p>
            <a:r>
              <a:rPr lang="en-GB" dirty="0"/>
              <a:t>Workers in the region should be surveyed for noise control and disease control measures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DE1D7-B8E0-DB44-8332-90499627B831}"/>
              </a:ext>
            </a:extLst>
          </p:cNvPr>
          <p:cNvSpPr txBox="1"/>
          <p:nvPr/>
        </p:nvSpPr>
        <p:spPr>
          <a:xfrm>
            <a:off x="8574708" y="6222787"/>
            <a:ext cx="2775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/>
              <a:t>Map from Urban Redevelopment Authority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5A8EC-4AAC-DE49-92F3-A6F4A75988FA}"/>
              </a:ext>
            </a:extLst>
          </p:cNvPr>
          <p:cNvSpPr txBox="1"/>
          <p:nvPr/>
        </p:nvSpPr>
        <p:spPr>
          <a:xfrm>
            <a:off x="11448288" y="-2903734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New industrial zone</a:t>
            </a:r>
          </a:p>
        </p:txBody>
      </p:sp>
      <p:pic>
        <p:nvPicPr>
          <p:cNvPr id="9" name="Picture 1" descr="Changi Region">
            <a:extLst>
              <a:ext uri="{FF2B5EF4-FFF2-40B4-BE49-F238E27FC236}">
                <a16:creationId xmlns:a16="http://schemas.microsoft.com/office/drawing/2014/main" id="{C5E43D4D-967B-024F-BE85-F405D9A48D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6" r="9515" b="-2"/>
          <a:stretch>
            <a:fillRect/>
          </a:stretch>
        </p:blipFill>
        <p:spPr bwMode="auto">
          <a:xfrm>
            <a:off x="6096000" y="193541"/>
            <a:ext cx="5920914" cy="596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A9A6AD-4D89-1B4F-94FA-F7C4A73249EC}"/>
              </a:ext>
            </a:extLst>
          </p:cNvPr>
          <p:cNvSpPr txBox="1"/>
          <p:nvPr/>
        </p:nvSpPr>
        <p:spPr>
          <a:xfrm>
            <a:off x="7000473" y="5430250"/>
            <a:ext cx="29502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Noise-hit </a:t>
            </a:r>
          </a:p>
          <a:p>
            <a:r>
              <a:rPr lang="en-GB" dirty="0">
                <a:solidFill>
                  <a:srgbClr val="FF0000"/>
                </a:solidFill>
              </a:rPr>
              <a:t>Waterfront business district 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0919A7-3199-4444-BBFD-1853E6C30C86}"/>
              </a:ext>
            </a:extLst>
          </p:cNvPr>
          <p:cNvSpPr/>
          <p:nvPr/>
        </p:nvSpPr>
        <p:spPr>
          <a:xfrm rot="1512100">
            <a:off x="6976729" y="4633999"/>
            <a:ext cx="2223906" cy="654020"/>
          </a:xfrm>
          <a:prstGeom prst="rect">
            <a:avLst/>
          </a:prstGeom>
          <a:solidFill>
            <a:schemeClr val="accent3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BFF4FD-0FDF-E34A-B86C-B46C86A8FF37}"/>
              </a:ext>
            </a:extLst>
          </p:cNvPr>
          <p:cNvSpPr txBox="1"/>
          <p:nvPr/>
        </p:nvSpPr>
        <p:spPr>
          <a:xfrm>
            <a:off x="9756799" y="764623"/>
            <a:ext cx="1691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Noise-hit </a:t>
            </a:r>
          </a:p>
          <a:p>
            <a:r>
              <a:rPr lang="en-GB" dirty="0">
                <a:solidFill>
                  <a:srgbClr val="FF0000"/>
                </a:solidFill>
              </a:rPr>
              <a:t>Industrial Zone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9790BB-21B2-1E42-8C76-4E65C6E9B10D}"/>
              </a:ext>
            </a:extLst>
          </p:cNvPr>
          <p:cNvSpPr/>
          <p:nvPr/>
        </p:nvSpPr>
        <p:spPr>
          <a:xfrm rot="1512100">
            <a:off x="9608358" y="1675539"/>
            <a:ext cx="677918" cy="3956427"/>
          </a:xfrm>
          <a:prstGeom prst="rect">
            <a:avLst/>
          </a:prstGeom>
          <a:solidFill>
            <a:schemeClr val="accent6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CCCB1-F0CD-1E43-B8D7-2ADAA725EA99}"/>
              </a:ext>
            </a:extLst>
          </p:cNvPr>
          <p:cNvSpPr txBox="1"/>
          <p:nvPr/>
        </p:nvSpPr>
        <p:spPr>
          <a:xfrm rot="17610262">
            <a:off x="9103097" y="3546440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Third runway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1FEF16-CAEB-694E-9ED5-D4741EF02C20}"/>
              </a:ext>
            </a:extLst>
          </p:cNvPr>
          <p:cNvSpPr/>
          <p:nvPr/>
        </p:nvSpPr>
        <p:spPr>
          <a:xfrm rot="1512100">
            <a:off x="8759143" y="1569981"/>
            <a:ext cx="2223906" cy="654020"/>
          </a:xfrm>
          <a:prstGeom prst="rect">
            <a:avLst/>
          </a:prstGeom>
          <a:solidFill>
            <a:schemeClr val="accent3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1335DF-60D3-3C40-871D-5AB563814484}"/>
              </a:ext>
            </a:extLst>
          </p:cNvPr>
          <p:cNvSpPr txBox="1"/>
          <p:nvPr/>
        </p:nvSpPr>
        <p:spPr>
          <a:xfrm>
            <a:off x="6212347" y="1719505"/>
            <a:ext cx="165141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Local residents</a:t>
            </a:r>
          </a:p>
        </p:txBody>
      </p:sp>
    </p:spTree>
    <p:extLst>
      <p:ext uri="{BB962C8B-B14F-4D97-AF65-F5344CB8AC3E}">
        <p14:creationId xmlns:p14="http://schemas.microsoft.com/office/powerpoint/2010/main" val="1278308775"/>
      </p:ext>
    </p:extLst>
  </p:cSld>
  <p:clrMapOvr>
    <a:masterClrMapping/>
  </p:clrMapOvr>
</p:sld>
</file>

<file path=ppt/theme/theme1.xml><?xml version="1.0" encoding="utf-8"?>
<a:theme xmlns:a="http://schemas.openxmlformats.org/drawingml/2006/main" name="VaultVTI">
  <a:themeElements>
    <a:clrScheme name="archway">
      <a:dk1>
        <a:sysClr val="windowText" lastClr="000000"/>
      </a:dk1>
      <a:lt1>
        <a:sysClr val="window" lastClr="FFFFFF"/>
      </a:lt1>
      <a:dk2>
        <a:srgbClr val="262626"/>
      </a:dk2>
      <a:lt2>
        <a:srgbClr val="CCC9C2"/>
      </a:lt2>
      <a:accent1>
        <a:srgbClr val="A85E3E"/>
      </a:accent1>
      <a:accent2>
        <a:srgbClr val="C3743C"/>
      </a:accent2>
      <a:accent3>
        <a:srgbClr val="CF6749"/>
      </a:accent3>
      <a:accent4>
        <a:srgbClr val="7D8B71"/>
      </a:accent4>
      <a:accent5>
        <a:srgbClr val="A37A59"/>
      </a:accent5>
      <a:accent6>
        <a:srgbClr val="AB8244"/>
      </a:accent6>
      <a:hlink>
        <a:srgbClr val="B94F31"/>
      </a:hlink>
      <a:folHlink>
        <a:srgbClr val="667458"/>
      </a:folHlink>
    </a:clrScheme>
    <a:fontScheme name="Custom 5">
      <a:majorFont>
        <a:latin typeface="Georgia Pro Light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ultVTI" id="{144E1EB0-F9F9-4F8D-8264-A2820BA0C47A}" vid="{3A992A48-7697-4A22-A884-B4A11E6218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882</Words>
  <Application>Microsoft Macintosh PowerPoint</Application>
  <PresentationFormat>Widescreen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Georgia Pro Light</vt:lpstr>
      <vt:lpstr>Times</vt:lpstr>
      <vt:lpstr>VaultVTI</vt:lpstr>
      <vt:lpstr>Assessing the health impact of a major airport expansion in Singapore</vt:lpstr>
      <vt:lpstr>Method Health impact assessment (HIA)</vt:lpstr>
      <vt:lpstr>Method US CDC framework of health impact assessment (HIA)</vt:lpstr>
      <vt:lpstr>Screening Introduction to Changi Airport</vt:lpstr>
      <vt:lpstr>Screening Introduction to Changi East Project</vt:lpstr>
      <vt:lpstr>Scoping Potential health impact by Changi East</vt:lpstr>
      <vt:lpstr>Assessment Population impacted by infectious disease control </vt:lpstr>
      <vt:lpstr>Assessment Populations impacted by jet noise</vt:lpstr>
      <vt:lpstr>Assessment Populations impacted by jet noise</vt:lpstr>
      <vt:lpstr>Assessment Populations impacted by jet noise</vt:lpstr>
      <vt:lpstr>Recommendations In term of disease control</vt:lpstr>
      <vt:lpstr>Recommendations In term of jet noise</vt:lpstr>
      <vt:lpstr>Reporting</vt:lpstr>
      <vt:lpstr>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Assessing the health impact of a major airport expansion in Singapore</dc:title>
  <dc:creator>#CHEN YAODING#</dc:creator>
  <cp:lastModifiedBy>#CHEN YAODING#</cp:lastModifiedBy>
  <cp:revision>1</cp:revision>
  <dcterms:created xsi:type="dcterms:W3CDTF">2022-01-28T08:51:22Z</dcterms:created>
  <dcterms:modified xsi:type="dcterms:W3CDTF">2022-01-28T13:06:28Z</dcterms:modified>
</cp:coreProperties>
</file>