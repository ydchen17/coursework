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1" r:id="rId1"/>
  </p:sldMasterIdLst>
  <p:notesMasterIdLst>
    <p:notesMasterId r:id="rId12"/>
  </p:notesMasterIdLst>
  <p:sldIdLst>
    <p:sldId id="256" r:id="rId2"/>
    <p:sldId id="264" r:id="rId3"/>
    <p:sldId id="265" r:id="rId4"/>
    <p:sldId id="259" r:id="rId5"/>
    <p:sldId id="257" r:id="rId6"/>
    <p:sldId id="260" r:id="rId7"/>
    <p:sldId id="261" r:id="rId8"/>
    <p:sldId id="262" r:id="rId9"/>
    <p:sldId id="263" r:id="rId10"/>
    <p:sldId id="266"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69592"/>
  </p:normalViewPr>
  <p:slideViewPr>
    <p:cSldViewPr snapToGrid="0">
      <p:cViewPr varScale="1">
        <p:scale>
          <a:sx n="87" d="100"/>
          <a:sy n="87" d="100"/>
        </p:scale>
        <p:origin x="208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BC662F-77A9-8B44-A166-5B650702E03B}" type="datetimeFigureOut">
              <a:rPr lang="en-GB" smtClean="0"/>
              <a:t>20/07/2025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A0D926-0B64-594E-9DCE-66112001AC28}" type="slidenum">
              <a:rPr lang="en-GB" smtClean="0"/>
              <a:t>‹#›</a:t>
            </a:fld>
            <a:endParaRPr lang="en-GB"/>
          </a:p>
        </p:txBody>
      </p:sp>
    </p:spTree>
    <p:extLst>
      <p:ext uri="{BB962C8B-B14F-4D97-AF65-F5344CB8AC3E}">
        <p14:creationId xmlns:p14="http://schemas.microsoft.com/office/powerpoint/2010/main" val="21006478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b="0" i="0" u="none" strike="noStrike" kern="1200" dirty="0">
                <a:solidFill>
                  <a:schemeClr val="tx1"/>
                </a:solidFill>
                <a:effectLst/>
                <a:latin typeface="+mn-lt"/>
                <a:ea typeface="+mn-ea"/>
                <a:cs typeface="+mn-cs"/>
              </a:rPr>
              <a:t>好，随便聊一下简单空间分析的一些入门级的内容。</a:t>
            </a:r>
          </a:p>
          <a:p>
            <a:endParaRPr lang="en-GB" dirty="0"/>
          </a:p>
        </p:txBody>
      </p:sp>
      <p:sp>
        <p:nvSpPr>
          <p:cNvPr id="4" name="Slide Number Placeholder 3"/>
          <p:cNvSpPr>
            <a:spLocks noGrp="1"/>
          </p:cNvSpPr>
          <p:nvPr>
            <p:ph type="sldNum" sz="quarter" idx="5"/>
          </p:nvPr>
        </p:nvSpPr>
        <p:spPr/>
        <p:txBody>
          <a:bodyPr/>
          <a:lstStyle/>
          <a:p>
            <a:fld id="{6AA0D926-0B64-594E-9DCE-66112001AC28}" type="slidenum">
              <a:rPr lang="en-GB" smtClean="0"/>
              <a:t>1</a:t>
            </a:fld>
            <a:endParaRPr lang="en-GB"/>
          </a:p>
        </p:txBody>
      </p:sp>
    </p:spTree>
    <p:extLst>
      <p:ext uri="{BB962C8B-B14F-4D97-AF65-F5344CB8AC3E}">
        <p14:creationId xmlns:p14="http://schemas.microsoft.com/office/powerpoint/2010/main" val="30309545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u="none" strike="noStrike" kern="1200" dirty="0">
                <a:solidFill>
                  <a:schemeClr val="tx1"/>
                </a:solidFill>
                <a:effectLst/>
                <a:latin typeface="+mn-lt"/>
                <a:ea typeface="+mn-ea"/>
                <a:cs typeface="+mn-cs"/>
              </a:rPr>
              <a:t>首先介绍数据来源。本研究选取了</a:t>
            </a:r>
            <a:r>
              <a:rPr lang="en-US" altLang="zh-CN" sz="1200" b="0" i="0" u="none" strike="noStrike" kern="1200" dirty="0">
                <a:solidFill>
                  <a:schemeClr val="tx1"/>
                </a:solidFill>
                <a:effectLst/>
                <a:latin typeface="+mn-lt"/>
                <a:ea typeface="+mn-ea"/>
                <a:cs typeface="+mn-cs"/>
              </a:rPr>
              <a:t>2022</a:t>
            </a:r>
            <a:r>
              <a:rPr lang="zh-CN" altLang="en-US" sz="1200" b="0" i="0" u="none" strike="noStrike" kern="1200" dirty="0">
                <a:solidFill>
                  <a:schemeClr val="tx1"/>
                </a:solidFill>
                <a:effectLst/>
                <a:latin typeface="+mn-lt"/>
                <a:ea typeface="+mn-ea"/>
                <a:cs typeface="+mn-cs"/>
              </a:rPr>
              <a:t>年作为基准年份，以保证不同地区之间的可比性。大陆部分指标包括：寿命预期（</a:t>
            </a:r>
            <a:r>
              <a:rPr lang="en-GB" sz="1200" b="0" i="0" u="none" strike="noStrike" kern="1200" dirty="0">
                <a:solidFill>
                  <a:schemeClr val="tx1"/>
                </a:solidFill>
                <a:effectLst/>
                <a:latin typeface="+mn-lt"/>
                <a:ea typeface="+mn-ea"/>
                <a:cs typeface="+mn-cs"/>
              </a:rPr>
              <a:t>Life Expectancy，</a:t>
            </a:r>
            <a:r>
              <a:rPr lang="zh-CN" altLang="en-US" sz="1200" b="0" i="0" u="none" strike="noStrike" kern="1200" dirty="0">
                <a:solidFill>
                  <a:schemeClr val="tx1"/>
                </a:solidFill>
                <a:effectLst/>
                <a:latin typeface="+mn-lt"/>
                <a:ea typeface="+mn-ea"/>
                <a:cs typeface="+mn-cs"/>
              </a:rPr>
              <a:t>简称</a:t>
            </a:r>
            <a:r>
              <a:rPr lang="en-GB" sz="1200" b="0" i="0" u="none" strike="noStrike" kern="1200" dirty="0">
                <a:solidFill>
                  <a:schemeClr val="tx1"/>
                </a:solidFill>
                <a:effectLst/>
                <a:latin typeface="+mn-lt"/>
                <a:ea typeface="+mn-ea"/>
                <a:cs typeface="+mn-cs"/>
              </a:rPr>
              <a:t>LE）</a:t>
            </a:r>
            <a:r>
              <a:rPr lang="zh-CN" altLang="en-US" sz="1200" b="0" i="0" u="none" strike="noStrike" kern="1200" dirty="0">
                <a:solidFill>
                  <a:schemeClr val="tx1"/>
                </a:solidFill>
                <a:effectLst/>
                <a:latin typeface="+mn-lt"/>
                <a:ea typeface="+mn-ea"/>
                <a:cs typeface="+mn-cs"/>
              </a:rPr>
              <a:t>数据来自</a:t>
            </a:r>
            <a:r>
              <a:rPr lang="en-GB" sz="1200" b="0" i="0" u="none" strike="noStrike" kern="1200" dirty="0">
                <a:solidFill>
                  <a:schemeClr val="tx1"/>
                </a:solidFill>
                <a:effectLst/>
                <a:latin typeface="+mn-lt"/>
                <a:ea typeface="+mn-ea"/>
                <a:cs typeface="+mn-cs"/>
              </a:rPr>
              <a:t>Global Data Lab；</a:t>
            </a:r>
            <a:r>
              <a:rPr lang="zh-CN" altLang="en-US" sz="1200" b="0" i="0" u="none" strike="noStrike" kern="1200" dirty="0">
                <a:solidFill>
                  <a:schemeClr val="tx1"/>
                </a:solidFill>
                <a:effectLst/>
                <a:latin typeface="+mn-lt"/>
                <a:ea typeface="+mn-ea"/>
                <a:cs typeface="+mn-cs"/>
              </a:rPr>
              <a:t>平均受教育年限（</a:t>
            </a:r>
            <a:r>
              <a:rPr lang="en-GB" sz="1200" b="0" i="0" u="none" strike="noStrike" kern="1200" dirty="0">
                <a:solidFill>
                  <a:schemeClr val="tx1"/>
                </a:solidFill>
                <a:effectLst/>
                <a:latin typeface="+mn-lt"/>
                <a:ea typeface="+mn-ea"/>
                <a:cs typeface="+mn-cs"/>
              </a:rPr>
              <a:t>Edu）</a:t>
            </a:r>
            <a:r>
              <a:rPr lang="zh-CN" altLang="en-US" sz="1200" b="0" i="0" u="none" strike="noStrike" kern="1200" dirty="0">
                <a:solidFill>
                  <a:schemeClr val="tx1"/>
                </a:solidFill>
                <a:effectLst/>
                <a:latin typeface="+mn-lt"/>
                <a:ea typeface="+mn-ea"/>
                <a:cs typeface="+mn-cs"/>
              </a:rPr>
              <a:t>和以购买力平价（</a:t>
            </a:r>
            <a:r>
              <a:rPr lang="en-GB" sz="1200" b="0" i="0" u="none" strike="noStrike" kern="1200" dirty="0">
                <a:solidFill>
                  <a:schemeClr val="tx1"/>
                </a:solidFill>
                <a:effectLst/>
                <a:latin typeface="+mn-lt"/>
                <a:ea typeface="+mn-ea"/>
                <a:cs typeface="+mn-cs"/>
              </a:rPr>
              <a:t>PPP）</a:t>
            </a:r>
            <a:r>
              <a:rPr lang="zh-CN" altLang="en-US" sz="1200" b="0" i="0" u="none" strike="noStrike" kern="1200" dirty="0">
                <a:solidFill>
                  <a:schemeClr val="tx1"/>
                </a:solidFill>
                <a:effectLst/>
                <a:latin typeface="+mn-lt"/>
                <a:ea typeface="+mn-ea"/>
                <a:cs typeface="+mn-cs"/>
              </a:rPr>
              <a:t>计的人均国内生产总值（</a:t>
            </a:r>
            <a:r>
              <a:rPr lang="en-GB" sz="1200" b="0" i="0" u="none" strike="noStrike" kern="1200" dirty="0">
                <a:solidFill>
                  <a:schemeClr val="tx1"/>
                </a:solidFill>
                <a:effectLst/>
                <a:latin typeface="+mn-lt"/>
                <a:ea typeface="+mn-ea"/>
                <a:cs typeface="+mn-cs"/>
              </a:rPr>
              <a:t>GDP per capita）</a:t>
            </a:r>
            <a:r>
              <a:rPr lang="zh-CN" altLang="en-US" sz="1200" b="0" i="0" u="none" strike="noStrike" kern="1200" dirty="0">
                <a:solidFill>
                  <a:schemeClr val="tx1"/>
                </a:solidFill>
                <a:effectLst/>
                <a:latin typeface="+mn-lt"/>
                <a:ea typeface="+mn-ea"/>
                <a:cs typeface="+mn-cs"/>
              </a:rPr>
              <a:t>均取自国际货币基金组织（</a:t>
            </a:r>
            <a:r>
              <a:rPr lang="en-GB" sz="1200" b="0" i="0" u="none" strike="noStrike" kern="1200" dirty="0">
                <a:solidFill>
                  <a:schemeClr val="tx1"/>
                </a:solidFill>
                <a:effectLst/>
                <a:latin typeface="+mn-lt"/>
                <a:ea typeface="+mn-ea"/>
                <a:cs typeface="+mn-cs"/>
              </a:rPr>
              <a:t>IMF）。</a:t>
            </a:r>
            <a:r>
              <a:rPr lang="zh-CN" altLang="en-US" sz="1200" b="0" i="0" u="none" strike="noStrike" kern="1200" dirty="0">
                <a:solidFill>
                  <a:schemeClr val="tx1"/>
                </a:solidFill>
                <a:effectLst/>
                <a:latin typeface="+mn-lt"/>
                <a:ea typeface="+mn-ea"/>
                <a:cs typeface="+mn-cs"/>
              </a:rPr>
              <a:t>对于香港、澳门和台湾地区，则在</a:t>
            </a:r>
            <a:r>
              <a:rPr lang="en-GB" sz="1200" b="0" i="0" u="none" strike="noStrike" kern="1200" dirty="0">
                <a:solidFill>
                  <a:schemeClr val="tx1"/>
                </a:solidFill>
                <a:effectLst/>
                <a:latin typeface="+mn-lt"/>
                <a:ea typeface="+mn-ea"/>
                <a:cs typeface="+mn-cs"/>
              </a:rPr>
              <a:t>IMF</a:t>
            </a:r>
            <a:r>
              <a:rPr lang="zh-CN" altLang="en-US" sz="1200" b="0" i="0" u="none" strike="noStrike" kern="1200" dirty="0">
                <a:solidFill>
                  <a:schemeClr val="tx1"/>
                </a:solidFill>
                <a:effectLst/>
                <a:latin typeface="+mn-lt"/>
                <a:ea typeface="+mn-ea"/>
                <a:cs typeface="+mn-cs"/>
              </a:rPr>
              <a:t>数据缺失时，补充采集当地政府发布的数据。所有货币数值均已转换为</a:t>
            </a:r>
            <a:r>
              <a:rPr lang="en-GB" sz="1200" b="0" i="0" u="none" strike="noStrike" kern="1200" dirty="0">
                <a:solidFill>
                  <a:schemeClr val="tx1"/>
                </a:solidFill>
                <a:effectLst/>
                <a:latin typeface="+mn-lt"/>
                <a:ea typeface="+mn-ea"/>
                <a:cs typeface="+mn-cs"/>
              </a:rPr>
              <a:t>PPP，</a:t>
            </a:r>
            <a:r>
              <a:rPr lang="zh-CN" altLang="en-US" sz="1200" b="0" i="0" u="none" strike="noStrike" kern="1200" dirty="0">
                <a:solidFill>
                  <a:schemeClr val="tx1"/>
                </a:solidFill>
                <a:effectLst/>
                <a:latin typeface="+mn-lt"/>
                <a:ea typeface="+mn-ea"/>
                <a:cs typeface="+mn-cs"/>
              </a:rPr>
              <a:t>以消除汇率差异对分析结果的影响；地理空间矢量数据则由本课程统一提供。</a:t>
            </a:r>
          </a:p>
          <a:p>
            <a:endParaRPr lang="en-GB" dirty="0"/>
          </a:p>
        </p:txBody>
      </p:sp>
      <p:sp>
        <p:nvSpPr>
          <p:cNvPr id="4" name="Slide Number Placeholder 3"/>
          <p:cNvSpPr>
            <a:spLocks noGrp="1"/>
          </p:cNvSpPr>
          <p:nvPr>
            <p:ph type="sldNum" sz="quarter" idx="5"/>
          </p:nvPr>
        </p:nvSpPr>
        <p:spPr/>
        <p:txBody>
          <a:bodyPr/>
          <a:lstStyle/>
          <a:p>
            <a:fld id="{6AA0D926-0B64-594E-9DCE-66112001AC28}" type="slidenum">
              <a:rPr lang="en-GB" smtClean="0"/>
              <a:t>2</a:t>
            </a:fld>
            <a:endParaRPr lang="en-GB"/>
          </a:p>
        </p:txBody>
      </p:sp>
    </p:spTree>
    <p:extLst>
      <p:ext uri="{BB962C8B-B14F-4D97-AF65-F5344CB8AC3E}">
        <p14:creationId xmlns:p14="http://schemas.microsoft.com/office/powerpoint/2010/main" val="8879062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b="0" i="0" u="none" strike="noStrike" kern="1200" dirty="0">
                <a:solidFill>
                  <a:schemeClr val="tx1"/>
                </a:solidFill>
                <a:effectLst/>
                <a:latin typeface="+mn-lt"/>
                <a:ea typeface="+mn-ea"/>
                <a:cs typeface="+mn-cs"/>
              </a:rPr>
              <a:t>接下来说明研究方法。本研究的核心问题是：如何量化教育水平（平均受教育年限）和收入水平（人均</a:t>
            </a:r>
            <a:r>
              <a:rPr lang="en-GB" sz="1200" b="0" i="0" u="none" strike="noStrike" kern="1200" dirty="0">
                <a:solidFill>
                  <a:schemeClr val="tx1"/>
                </a:solidFill>
                <a:effectLst/>
                <a:latin typeface="+mn-lt"/>
                <a:ea typeface="+mn-ea"/>
                <a:cs typeface="+mn-cs"/>
              </a:rPr>
              <a:t>GDP）</a:t>
            </a:r>
            <a:r>
              <a:rPr lang="zh-CN" altLang="en-US" sz="1200" b="0" i="0" u="none" strike="noStrike" kern="1200" dirty="0">
                <a:solidFill>
                  <a:schemeClr val="tx1"/>
                </a:solidFill>
                <a:effectLst/>
                <a:latin typeface="+mn-lt"/>
                <a:ea typeface="+mn-ea"/>
                <a:cs typeface="+mn-cs"/>
              </a:rPr>
              <a:t>对健康结果（寿命预期）差异的贡献，并揭示其在空间分布上的特点。为此，我们依次构建并比较了四种回归模型：</a:t>
            </a:r>
            <a:br>
              <a:rPr lang="zh-CN" altLang="en-US" dirty="0"/>
            </a:br>
            <a:r>
              <a:rPr lang="zh-CN" altLang="en-US" sz="1200" b="0" i="0" u="none" strike="noStrike" kern="1200" dirty="0">
                <a:solidFill>
                  <a:schemeClr val="tx1"/>
                </a:solidFill>
                <a:effectLst/>
                <a:latin typeface="+mn-lt"/>
                <a:ea typeface="+mn-ea"/>
                <a:cs typeface="+mn-cs"/>
              </a:rPr>
              <a:t>第一，普通最小二乘回归（</a:t>
            </a:r>
            <a:r>
              <a:rPr lang="en-GB" sz="1200" b="0" i="0" u="none" strike="noStrike" kern="1200" dirty="0">
                <a:solidFill>
                  <a:schemeClr val="tx1"/>
                </a:solidFill>
                <a:effectLst/>
                <a:latin typeface="+mn-lt"/>
                <a:ea typeface="+mn-ea"/>
                <a:cs typeface="+mn-cs"/>
              </a:rPr>
              <a:t>OLS），</a:t>
            </a:r>
            <a:r>
              <a:rPr lang="zh-CN" altLang="en-US" sz="1200" b="0" i="0" u="none" strike="noStrike" kern="1200" dirty="0">
                <a:solidFill>
                  <a:schemeClr val="tx1"/>
                </a:solidFill>
                <a:effectLst/>
                <a:latin typeface="+mn-lt"/>
                <a:ea typeface="+mn-ea"/>
                <a:cs typeface="+mn-cs"/>
              </a:rPr>
              <a:t>作为基准模型；</a:t>
            </a:r>
            <a:br>
              <a:rPr lang="zh-CN" altLang="en-US" dirty="0"/>
            </a:br>
            <a:r>
              <a:rPr lang="zh-CN" altLang="en-US" sz="1200" b="0" i="0" u="none" strike="noStrike" kern="1200" dirty="0">
                <a:solidFill>
                  <a:schemeClr val="tx1"/>
                </a:solidFill>
                <a:effectLst/>
                <a:latin typeface="+mn-lt"/>
                <a:ea typeface="+mn-ea"/>
                <a:cs typeface="+mn-cs"/>
              </a:rPr>
              <a:t>第二，空间滞后模型，用于捕捉邻近地区健康结果的相互影响；</a:t>
            </a:r>
            <a:br>
              <a:rPr lang="zh-CN" altLang="en-US" dirty="0"/>
            </a:br>
            <a:r>
              <a:rPr lang="zh-CN" altLang="en-US" sz="1200" b="0" i="0" u="none" strike="noStrike" kern="1200" dirty="0">
                <a:solidFill>
                  <a:schemeClr val="tx1"/>
                </a:solidFill>
                <a:effectLst/>
                <a:latin typeface="+mn-lt"/>
                <a:ea typeface="+mn-ea"/>
                <a:cs typeface="+mn-cs"/>
              </a:rPr>
              <a:t>第三，空间误差模型，用以剔除模型残差中的空间自相关；</a:t>
            </a:r>
            <a:br>
              <a:rPr lang="zh-CN" altLang="en-US" dirty="0"/>
            </a:br>
            <a:r>
              <a:rPr lang="zh-CN" altLang="en-US" sz="1200" b="0" i="0" u="none" strike="noStrike" kern="1200" dirty="0">
                <a:solidFill>
                  <a:schemeClr val="tx1"/>
                </a:solidFill>
                <a:effectLst/>
                <a:latin typeface="+mn-lt"/>
                <a:ea typeface="+mn-ea"/>
                <a:cs typeface="+mn-cs"/>
              </a:rPr>
              <a:t>第四，空间混合模型，综合考虑滞后效应和误差效应两种空间相关性机制。</a:t>
            </a:r>
            <a:endParaRPr lang="en-GB" altLang="zh-CN" sz="1200" b="0" i="0" u="none" strike="noStrike" kern="1200" dirty="0">
              <a:solidFill>
                <a:schemeClr val="tx1"/>
              </a:solidFill>
              <a:effectLst/>
              <a:latin typeface="+mn-lt"/>
              <a:ea typeface="+mn-ea"/>
              <a:cs typeface="+mn-cs"/>
            </a:endParaRPr>
          </a:p>
          <a:p>
            <a:endParaRPr lang="en-GB" sz="1200" b="0" i="0" u="none" strike="noStrike" kern="1200" dirty="0">
              <a:solidFill>
                <a:schemeClr val="tx1"/>
              </a:solidFill>
              <a:effectLst/>
              <a:latin typeface="+mn-lt"/>
              <a:ea typeface="+mn-ea"/>
              <a:cs typeface="+mn-cs"/>
            </a:endParaRPr>
          </a:p>
          <a:p>
            <a:r>
              <a:rPr lang="zh-CN" altLang="en-US" sz="1200" b="0" i="0" u="none" strike="noStrike" kern="1200" dirty="0">
                <a:solidFill>
                  <a:schemeClr val="tx1"/>
                </a:solidFill>
                <a:effectLst/>
                <a:latin typeface="+mn-lt"/>
                <a:ea typeface="+mn-ea"/>
                <a:cs typeface="+mn-cs"/>
              </a:rPr>
              <a:t>在后续部分，我将展示各模型的估计结果及其统计意义，并通过比较发现，空间模型较</a:t>
            </a:r>
            <a:r>
              <a:rPr lang="en-GB" sz="1200" b="0" i="0" u="none" strike="noStrike" kern="1200" dirty="0">
                <a:solidFill>
                  <a:schemeClr val="tx1"/>
                </a:solidFill>
                <a:effectLst/>
                <a:latin typeface="+mn-lt"/>
                <a:ea typeface="+mn-ea"/>
                <a:cs typeface="+mn-cs"/>
              </a:rPr>
              <a:t>OLS</a:t>
            </a:r>
            <a:r>
              <a:rPr lang="zh-CN" altLang="en-US" sz="1200" b="0" i="0" u="none" strike="noStrike" kern="1200" dirty="0">
                <a:solidFill>
                  <a:schemeClr val="tx1"/>
                </a:solidFill>
                <a:effectLst/>
                <a:latin typeface="+mn-lt"/>
                <a:ea typeface="+mn-ea"/>
                <a:cs typeface="+mn-cs"/>
              </a:rPr>
              <a:t>能够更好地解释寿命预期的区域集聚现象，且教育年限和收入水平对健康结局的影响在不同地区存在显著差异。最后，我将就政策含义提出若干建议，以期为区域卫生资源分配和教育投资策略提供参考。</a:t>
            </a:r>
            <a:endParaRPr lang="en-GB" dirty="0"/>
          </a:p>
        </p:txBody>
      </p:sp>
      <p:sp>
        <p:nvSpPr>
          <p:cNvPr id="4" name="Slide Number Placeholder 3"/>
          <p:cNvSpPr>
            <a:spLocks noGrp="1"/>
          </p:cNvSpPr>
          <p:nvPr>
            <p:ph type="sldNum" sz="quarter" idx="5"/>
          </p:nvPr>
        </p:nvSpPr>
        <p:spPr/>
        <p:txBody>
          <a:bodyPr/>
          <a:lstStyle/>
          <a:p>
            <a:fld id="{6AA0D926-0B64-594E-9DCE-66112001AC28}" type="slidenum">
              <a:rPr lang="en-GB" smtClean="0"/>
              <a:t>3</a:t>
            </a:fld>
            <a:endParaRPr lang="en-GB"/>
          </a:p>
        </p:txBody>
      </p:sp>
    </p:spTree>
    <p:extLst>
      <p:ext uri="{BB962C8B-B14F-4D97-AF65-F5344CB8AC3E}">
        <p14:creationId xmlns:p14="http://schemas.microsoft.com/office/powerpoint/2010/main" val="3493393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AA0D926-0B64-594E-9DCE-66112001AC28}" type="slidenum">
              <a:rPr lang="en-GB" smtClean="0"/>
              <a:t>4</a:t>
            </a:fld>
            <a:endParaRPr lang="en-GB"/>
          </a:p>
        </p:txBody>
      </p:sp>
    </p:spTree>
    <p:extLst>
      <p:ext uri="{BB962C8B-B14F-4D97-AF65-F5344CB8AC3E}">
        <p14:creationId xmlns:p14="http://schemas.microsoft.com/office/powerpoint/2010/main" val="29207726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b="0" i="0" u="none" strike="noStrike" kern="1200" dirty="0">
                <a:solidFill>
                  <a:schemeClr val="tx1"/>
                </a:solidFill>
                <a:effectLst/>
                <a:latin typeface="+mn-lt"/>
                <a:ea typeface="+mn-ea"/>
                <a:cs typeface="+mn-cs"/>
              </a:rPr>
              <a:t>首先是普通最小二乘回归（</a:t>
            </a:r>
            <a:r>
              <a:rPr lang="en-GB" sz="1200" b="0" i="0" u="none" strike="noStrike" kern="1200" dirty="0">
                <a:solidFill>
                  <a:schemeClr val="tx1"/>
                </a:solidFill>
                <a:effectLst/>
                <a:latin typeface="+mn-lt"/>
                <a:ea typeface="+mn-ea"/>
                <a:cs typeface="+mn-cs"/>
              </a:rPr>
              <a:t>OLS）</a:t>
            </a:r>
            <a:r>
              <a:rPr lang="zh-CN" altLang="en-US" sz="1200" b="0" i="0" u="none" strike="noStrike" kern="1200" dirty="0">
                <a:solidFill>
                  <a:schemeClr val="tx1"/>
                </a:solidFill>
                <a:effectLst/>
                <a:latin typeface="+mn-lt"/>
                <a:ea typeface="+mn-ea"/>
                <a:cs typeface="+mn-cs"/>
              </a:rPr>
              <a:t>结果：</a:t>
            </a:r>
            <a:br>
              <a:rPr lang="zh-CN" altLang="en-US" sz="1200" b="0" i="0" u="none" strike="noStrike" kern="1200" dirty="0">
                <a:solidFill>
                  <a:schemeClr val="tx1"/>
                </a:solidFill>
                <a:effectLst/>
                <a:latin typeface="+mn-lt"/>
                <a:ea typeface="+mn-ea"/>
                <a:cs typeface="+mn-cs"/>
              </a:rPr>
            </a:br>
            <a:r>
              <a:rPr lang="zh-CN" altLang="en-US" sz="1200" b="0" i="0" u="none" strike="noStrike" kern="1200" dirty="0">
                <a:solidFill>
                  <a:schemeClr val="tx1"/>
                </a:solidFill>
                <a:effectLst/>
                <a:latin typeface="+mn-lt"/>
                <a:ea typeface="+mn-ea"/>
                <a:cs typeface="+mn-cs"/>
              </a:rPr>
              <a:t>模型整体的</a:t>
            </a:r>
            <a:r>
              <a:rPr lang="en-GB" sz="1200" b="0" i="0" u="none" strike="noStrike" kern="1200" dirty="0">
                <a:solidFill>
                  <a:schemeClr val="tx1"/>
                </a:solidFill>
                <a:effectLst/>
                <a:latin typeface="+mn-lt"/>
                <a:ea typeface="+mn-ea"/>
                <a:cs typeface="+mn-cs"/>
              </a:rPr>
              <a:t>F</a:t>
            </a:r>
            <a:r>
              <a:rPr lang="zh-CN" altLang="en-US" sz="1200" b="0" i="0" u="none" strike="noStrike" kern="1200" dirty="0">
                <a:solidFill>
                  <a:schemeClr val="tx1"/>
                </a:solidFill>
                <a:effectLst/>
                <a:latin typeface="+mn-lt"/>
                <a:ea typeface="+mn-ea"/>
                <a:cs typeface="+mn-cs"/>
              </a:rPr>
              <a:t>统计量为</a:t>
            </a:r>
            <a:r>
              <a:rPr lang="en-US" altLang="zh-CN" sz="1200" b="0" i="0" u="none" strike="noStrike" kern="1200" dirty="0">
                <a:solidFill>
                  <a:schemeClr val="tx1"/>
                </a:solidFill>
                <a:effectLst/>
                <a:latin typeface="+mn-lt"/>
                <a:ea typeface="+mn-ea"/>
                <a:cs typeface="+mn-cs"/>
              </a:rPr>
              <a:t>65.17</a:t>
            </a:r>
            <a:r>
              <a:rPr lang="zh-CN" altLang="en-US" sz="1200" b="0" i="0" u="none" strike="noStrike" kern="1200" dirty="0">
                <a:solidFill>
                  <a:schemeClr val="tx1"/>
                </a:solidFill>
                <a:effectLst/>
                <a:latin typeface="+mn-lt"/>
                <a:ea typeface="+mn-ea"/>
                <a:cs typeface="+mn-cs"/>
              </a:rPr>
              <a:t>，其对应的</a:t>
            </a:r>
            <a:r>
              <a:rPr lang="en-GB" sz="1200" b="0" i="0" u="none" strike="noStrike" kern="1200" dirty="0">
                <a:solidFill>
                  <a:schemeClr val="tx1"/>
                </a:solidFill>
                <a:effectLst/>
                <a:latin typeface="+mn-lt"/>
                <a:ea typeface="+mn-ea"/>
                <a:cs typeface="+mn-cs"/>
              </a:rPr>
              <a:t>p</a:t>
            </a:r>
            <a:r>
              <a:rPr lang="zh-CN" altLang="en-US" sz="1200" b="0" i="0" u="none" strike="noStrike" kern="1200" dirty="0">
                <a:solidFill>
                  <a:schemeClr val="tx1"/>
                </a:solidFill>
                <a:effectLst/>
                <a:latin typeface="+mn-lt"/>
                <a:ea typeface="+mn-ea"/>
                <a:cs typeface="+mn-cs"/>
              </a:rPr>
              <a:t>值小于</a:t>
            </a:r>
            <a:r>
              <a:rPr lang="en-US" altLang="zh-CN" sz="1200" b="0" i="0" u="none" strike="noStrike" kern="1200" dirty="0">
                <a:solidFill>
                  <a:schemeClr val="tx1"/>
                </a:solidFill>
                <a:effectLst/>
                <a:latin typeface="+mn-lt"/>
                <a:ea typeface="+mn-ea"/>
                <a:cs typeface="+mn-cs"/>
              </a:rPr>
              <a:t>0.0001</a:t>
            </a:r>
            <a:r>
              <a:rPr lang="zh-CN" altLang="en-US" sz="1200" b="0" i="0" u="none" strike="noStrike" kern="1200" dirty="0">
                <a:solidFill>
                  <a:schemeClr val="tx1"/>
                </a:solidFill>
                <a:effectLst/>
                <a:latin typeface="+mn-lt"/>
                <a:ea typeface="+mn-ea"/>
                <a:cs typeface="+mn-cs"/>
              </a:rPr>
              <a:t>，表明教育年限和人均</a:t>
            </a:r>
            <a:r>
              <a:rPr lang="en-GB" sz="1200" b="0" i="0" u="none" strike="noStrike" kern="1200" dirty="0">
                <a:solidFill>
                  <a:schemeClr val="tx1"/>
                </a:solidFill>
                <a:effectLst/>
                <a:latin typeface="+mn-lt"/>
                <a:ea typeface="+mn-ea"/>
                <a:cs typeface="+mn-cs"/>
              </a:rPr>
              <a:t>GDP</a:t>
            </a:r>
            <a:r>
              <a:rPr lang="zh-CN" altLang="en-US" sz="1200" b="0" i="0" u="none" strike="noStrike" kern="1200" dirty="0">
                <a:solidFill>
                  <a:schemeClr val="tx1"/>
                </a:solidFill>
                <a:effectLst/>
                <a:latin typeface="+mn-lt"/>
                <a:ea typeface="+mn-ea"/>
                <a:cs typeface="+mn-cs"/>
              </a:rPr>
              <a:t>两个解释变量对寿命预期具有显著的联合解释力。</a:t>
            </a:r>
            <a:r>
              <a:rPr lang="en-GB" sz="1200" b="0" i="0" u="none" strike="noStrike" kern="1200" dirty="0">
                <a:solidFill>
                  <a:schemeClr val="tx1"/>
                </a:solidFill>
                <a:effectLst/>
                <a:latin typeface="+mn-lt"/>
                <a:ea typeface="+mn-ea"/>
                <a:cs typeface="+mn-cs"/>
              </a:rPr>
              <a:t>R²</a:t>
            </a:r>
            <a:r>
              <a:rPr lang="zh-CN" altLang="en-US" sz="1200" b="0" i="0" u="none" strike="noStrike" kern="1200" dirty="0">
                <a:solidFill>
                  <a:schemeClr val="tx1"/>
                </a:solidFill>
                <a:effectLst/>
                <a:latin typeface="+mn-lt"/>
                <a:ea typeface="+mn-ea"/>
                <a:cs typeface="+mn-cs"/>
              </a:rPr>
              <a:t>为</a:t>
            </a:r>
            <a:r>
              <a:rPr lang="en-US" altLang="zh-CN" sz="1200" b="0" i="0" u="none" strike="noStrike" kern="1200" dirty="0">
                <a:solidFill>
                  <a:schemeClr val="tx1"/>
                </a:solidFill>
                <a:effectLst/>
                <a:latin typeface="+mn-lt"/>
                <a:ea typeface="+mn-ea"/>
                <a:cs typeface="+mn-cs"/>
              </a:rPr>
              <a:t>0.8232</a:t>
            </a:r>
            <a:r>
              <a:rPr lang="zh-CN" altLang="en-US" sz="1200" b="0" i="0" u="none" strike="noStrike" kern="1200" dirty="0">
                <a:solidFill>
                  <a:schemeClr val="tx1"/>
                </a:solidFill>
                <a:effectLst/>
                <a:latin typeface="+mn-lt"/>
                <a:ea typeface="+mn-ea"/>
                <a:cs typeface="+mn-cs"/>
              </a:rPr>
              <a:t>，调整后的</a:t>
            </a:r>
            <a:r>
              <a:rPr lang="en-GB" sz="1200" b="0" i="0" u="none" strike="noStrike" kern="1200" dirty="0">
                <a:solidFill>
                  <a:schemeClr val="tx1"/>
                </a:solidFill>
                <a:effectLst/>
                <a:latin typeface="+mn-lt"/>
                <a:ea typeface="+mn-ea"/>
                <a:cs typeface="+mn-cs"/>
              </a:rPr>
              <a:t>R²</a:t>
            </a:r>
            <a:r>
              <a:rPr lang="zh-CN" altLang="en-US" sz="1200" b="0" i="0" u="none" strike="noStrike" kern="1200" dirty="0">
                <a:solidFill>
                  <a:schemeClr val="tx1"/>
                </a:solidFill>
                <a:effectLst/>
                <a:latin typeface="+mn-lt"/>
                <a:ea typeface="+mn-ea"/>
                <a:cs typeface="+mn-cs"/>
              </a:rPr>
              <a:t>为</a:t>
            </a:r>
            <a:r>
              <a:rPr lang="en-US" altLang="zh-CN" sz="1200" b="0" i="0" u="none" strike="noStrike" kern="1200" dirty="0">
                <a:solidFill>
                  <a:schemeClr val="tx1"/>
                </a:solidFill>
                <a:effectLst/>
                <a:latin typeface="+mn-lt"/>
                <a:ea typeface="+mn-ea"/>
                <a:cs typeface="+mn-cs"/>
              </a:rPr>
              <a:t>0.8105</a:t>
            </a:r>
            <a:r>
              <a:rPr lang="zh-CN" altLang="en-US" sz="1200" b="0" i="0" u="none" strike="noStrike" kern="1200" dirty="0">
                <a:solidFill>
                  <a:schemeClr val="tx1"/>
                </a:solidFill>
                <a:effectLst/>
                <a:latin typeface="+mn-lt"/>
                <a:ea typeface="+mn-ea"/>
                <a:cs typeface="+mn-cs"/>
              </a:rPr>
              <a:t>，说明这两个变量能够解释约</a:t>
            </a:r>
            <a:r>
              <a:rPr lang="en-US" altLang="zh-CN" sz="1200" b="0" i="0" u="none" strike="noStrike" kern="1200" dirty="0">
                <a:solidFill>
                  <a:schemeClr val="tx1"/>
                </a:solidFill>
                <a:effectLst/>
                <a:latin typeface="+mn-lt"/>
                <a:ea typeface="+mn-ea"/>
                <a:cs typeface="+mn-cs"/>
              </a:rPr>
              <a:t>82 %</a:t>
            </a:r>
            <a:r>
              <a:rPr lang="zh-CN" altLang="en-US" sz="1200" b="0" i="0" u="none" strike="noStrike" kern="1200" dirty="0">
                <a:solidFill>
                  <a:schemeClr val="tx1"/>
                </a:solidFill>
                <a:effectLst/>
                <a:latin typeface="+mn-lt"/>
                <a:ea typeface="+mn-ea"/>
                <a:cs typeface="+mn-cs"/>
              </a:rPr>
              <a:t>的寿命预期区域差异。</a:t>
            </a:r>
            <a:br>
              <a:rPr lang="zh-CN" altLang="en-US" sz="1200" b="0" i="0" u="none" strike="noStrike" kern="1200" dirty="0">
                <a:solidFill>
                  <a:schemeClr val="tx1"/>
                </a:solidFill>
                <a:effectLst/>
                <a:latin typeface="+mn-lt"/>
                <a:ea typeface="+mn-ea"/>
                <a:cs typeface="+mn-cs"/>
              </a:rPr>
            </a:br>
            <a:r>
              <a:rPr lang="zh-CN" altLang="en-US" sz="1200" b="0" i="0" u="none" strike="noStrike" kern="1200" dirty="0">
                <a:solidFill>
                  <a:schemeClr val="tx1"/>
                </a:solidFill>
                <a:effectLst/>
                <a:latin typeface="+mn-lt"/>
                <a:ea typeface="+mn-ea"/>
                <a:cs typeface="+mn-cs"/>
              </a:rPr>
              <a:t>就单个系数而言：</a:t>
            </a:r>
          </a:p>
          <a:p>
            <a:r>
              <a:rPr lang="zh-CN" altLang="en-US" sz="1200" b="0" i="0" u="none" strike="noStrike" kern="1200" dirty="0">
                <a:solidFill>
                  <a:schemeClr val="tx1"/>
                </a:solidFill>
                <a:effectLst/>
                <a:latin typeface="+mn-lt"/>
                <a:ea typeface="+mn-ea"/>
                <a:cs typeface="+mn-cs"/>
              </a:rPr>
              <a:t>教育年限（</a:t>
            </a:r>
            <a:r>
              <a:rPr lang="en-GB" sz="1200" b="0" i="0" u="none" strike="noStrike" kern="1200" dirty="0">
                <a:solidFill>
                  <a:schemeClr val="tx1"/>
                </a:solidFill>
                <a:effectLst/>
                <a:latin typeface="+mn-lt"/>
                <a:ea typeface="+mn-ea"/>
                <a:cs typeface="+mn-cs"/>
              </a:rPr>
              <a:t>Edu）</a:t>
            </a:r>
            <a:r>
              <a:rPr lang="zh-CN" altLang="en-US" sz="1200" b="0" i="0" u="none" strike="noStrike" kern="1200" dirty="0">
                <a:solidFill>
                  <a:schemeClr val="tx1"/>
                </a:solidFill>
                <a:effectLst/>
                <a:latin typeface="+mn-lt"/>
                <a:ea typeface="+mn-ea"/>
                <a:cs typeface="+mn-cs"/>
              </a:rPr>
              <a:t>的系数为</a:t>
            </a:r>
            <a:r>
              <a:rPr lang="en-US" altLang="zh-CN" sz="1200" b="0" i="0" u="none" strike="noStrike" kern="1200" dirty="0">
                <a:solidFill>
                  <a:schemeClr val="tx1"/>
                </a:solidFill>
                <a:effectLst/>
                <a:latin typeface="+mn-lt"/>
                <a:ea typeface="+mn-ea"/>
                <a:cs typeface="+mn-cs"/>
              </a:rPr>
              <a:t>2.0072</a:t>
            </a:r>
            <a:r>
              <a:rPr lang="zh-CN" altLang="en-US" sz="1200" b="0" i="0" u="none" strike="noStrike" kern="1200" dirty="0">
                <a:solidFill>
                  <a:schemeClr val="tx1"/>
                </a:solidFill>
                <a:effectLst/>
                <a:latin typeface="+mn-lt"/>
                <a:ea typeface="+mn-ea"/>
                <a:cs typeface="+mn-cs"/>
              </a:rPr>
              <a:t>，对应的</a:t>
            </a:r>
            <a:r>
              <a:rPr lang="en-GB" sz="1200" b="0" i="0" u="none" strike="noStrike" kern="1200" dirty="0">
                <a:solidFill>
                  <a:schemeClr val="tx1"/>
                </a:solidFill>
                <a:effectLst/>
                <a:latin typeface="+mn-lt"/>
                <a:ea typeface="+mn-ea"/>
                <a:cs typeface="+mn-cs"/>
              </a:rPr>
              <a:t>t</a:t>
            </a:r>
            <a:r>
              <a:rPr lang="zh-CN" altLang="en-US" sz="1200" b="0" i="0" u="none" strike="noStrike" kern="1200" dirty="0">
                <a:solidFill>
                  <a:schemeClr val="tx1"/>
                </a:solidFill>
                <a:effectLst/>
                <a:latin typeface="+mn-lt"/>
                <a:ea typeface="+mn-ea"/>
                <a:cs typeface="+mn-cs"/>
              </a:rPr>
              <a:t>值为</a:t>
            </a:r>
            <a:r>
              <a:rPr lang="en-US" altLang="zh-CN" sz="1200" b="0" i="0" u="none" strike="noStrike" kern="1200" dirty="0">
                <a:solidFill>
                  <a:schemeClr val="tx1"/>
                </a:solidFill>
                <a:effectLst/>
                <a:latin typeface="+mn-lt"/>
                <a:ea typeface="+mn-ea"/>
                <a:cs typeface="+mn-cs"/>
              </a:rPr>
              <a:t>6.69</a:t>
            </a:r>
            <a:r>
              <a:rPr lang="zh-CN" altLang="en-US" sz="1200" b="0"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p</a:t>
            </a:r>
            <a:r>
              <a:rPr lang="zh-CN" altLang="en-US" sz="1200" b="0" i="0" u="none" strike="noStrike" kern="1200" dirty="0">
                <a:solidFill>
                  <a:schemeClr val="tx1"/>
                </a:solidFill>
                <a:effectLst/>
                <a:latin typeface="+mn-lt"/>
                <a:ea typeface="+mn-ea"/>
                <a:cs typeface="+mn-cs"/>
              </a:rPr>
              <a:t>值远小于</a:t>
            </a:r>
            <a:r>
              <a:rPr lang="en-US" altLang="zh-CN" sz="1200" b="0" i="0" u="none" strike="noStrike" kern="1200" dirty="0">
                <a:solidFill>
                  <a:schemeClr val="tx1"/>
                </a:solidFill>
                <a:effectLst/>
                <a:latin typeface="+mn-lt"/>
                <a:ea typeface="+mn-ea"/>
                <a:cs typeface="+mn-cs"/>
              </a:rPr>
              <a:t>0.001</a:t>
            </a:r>
            <a:r>
              <a:rPr lang="zh-CN" altLang="en-US" sz="1200" b="0" i="0" u="none" strike="noStrike" kern="1200" dirty="0">
                <a:solidFill>
                  <a:schemeClr val="tx1"/>
                </a:solidFill>
                <a:effectLst/>
                <a:latin typeface="+mn-lt"/>
                <a:ea typeface="+mn-ea"/>
                <a:cs typeface="+mn-cs"/>
              </a:rPr>
              <a:t>，其</a:t>
            </a:r>
            <a:r>
              <a:rPr lang="en-US" altLang="zh-CN" sz="1200" b="0" i="0" u="none" strike="noStrike" kern="1200" dirty="0">
                <a:solidFill>
                  <a:schemeClr val="tx1"/>
                </a:solidFill>
                <a:effectLst/>
                <a:latin typeface="+mn-lt"/>
                <a:ea typeface="+mn-ea"/>
                <a:cs typeface="+mn-cs"/>
              </a:rPr>
              <a:t>95 %</a:t>
            </a:r>
            <a:r>
              <a:rPr lang="zh-CN" altLang="en-US" sz="1200" b="0" i="0" u="none" strike="noStrike" kern="1200" dirty="0">
                <a:solidFill>
                  <a:schemeClr val="tx1"/>
                </a:solidFill>
                <a:effectLst/>
                <a:latin typeface="+mn-lt"/>
                <a:ea typeface="+mn-ea"/>
                <a:cs typeface="+mn-cs"/>
              </a:rPr>
              <a:t>置信区间在</a:t>
            </a:r>
            <a:r>
              <a:rPr lang="en-US" altLang="zh-CN" sz="1200" b="0" i="0" u="none" strike="noStrike" kern="1200" dirty="0">
                <a:solidFill>
                  <a:schemeClr val="tx1"/>
                </a:solidFill>
                <a:effectLst/>
                <a:latin typeface="+mn-lt"/>
                <a:ea typeface="+mn-ea"/>
                <a:cs typeface="+mn-cs"/>
              </a:rPr>
              <a:t>[1.3924, 2.6220]</a:t>
            </a:r>
            <a:r>
              <a:rPr lang="zh-CN" altLang="en-US" sz="1200" b="0" i="0" u="none" strike="noStrike" kern="1200" dirty="0">
                <a:solidFill>
                  <a:schemeClr val="tx1"/>
                </a:solidFill>
                <a:effectLst/>
                <a:latin typeface="+mn-lt"/>
                <a:ea typeface="+mn-ea"/>
                <a:cs typeface="+mn-cs"/>
              </a:rPr>
              <a:t>之间，表明平均受教育年限每增加一年，寿命预期可提高约</a:t>
            </a:r>
            <a:r>
              <a:rPr lang="en-US" altLang="zh-CN" sz="1200" b="0" i="0" u="none" strike="noStrike" kern="1200" dirty="0">
                <a:solidFill>
                  <a:schemeClr val="tx1"/>
                </a:solidFill>
                <a:effectLst/>
                <a:latin typeface="+mn-lt"/>
                <a:ea typeface="+mn-ea"/>
                <a:cs typeface="+mn-cs"/>
              </a:rPr>
              <a:t>2</a:t>
            </a:r>
            <a:r>
              <a:rPr lang="zh-CN" altLang="en-US" sz="1200" b="0" i="0" u="none" strike="noStrike" kern="1200" dirty="0">
                <a:solidFill>
                  <a:schemeClr val="tx1"/>
                </a:solidFill>
                <a:effectLst/>
                <a:latin typeface="+mn-lt"/>
                <a:ea typeface="+mn-ea"/>
                <a:cs typeface="+mn-cs"/>
              </a:rPr>
              <a:t>年左右，且该影响高度显著；</a:t>
            </a:r>
          </a:p>
          <a:p>
            <a:r>
              <a:rPr lang="zh-CN" altLang="en-US" sz="1200" b="0" i="0" u="none" strike="noStrike" kern="1200" dirty="0">
                <a:solidFill>
                  <a:schemeClr val="tx1"/>
                </a:solidFill>
                <a:effectLst/>
                <a:latin typeface="+mn-lt"/>
                <a:ea typeface="+mn-ea"/>
                <a:cs typeface="+mn-cs"/>
              </a:rPr>
              <a:t>人均</a:t>
            </a:r>
            <a:r>
              <a:rPr lang="en-GB" sz="1200" b="0" i="0" u="none" strike="noStrike" kern="1200" dirty="0">
                <a:solidFill>
                  <a:schemeClr val="tx1"/>
                </a:solidFill>
                <a:effectLst/>
                <a:latin typeface="+mn-lt"/>
                <a:ea typeface="+mn-ea"/>
                <a:cs typeface="+mn-cs"/>
              </a:rPr>
              <a:t>GDP（GDP）</a:t>
            </a:r>
            <a:r>
              <a:rPr lang="zh-CN" altLang="en-US" sz="1200" b="0" i="0" u="none" strike="noStrike" kern="1200" dirty="0">
                <a:solidFill>
                  <a:schemeClr val="tx1"/>
                </a:solidFill>
                <a:effectLst/>
                <a:latin typeface="+mn-lt"/>
                <a:ea typeface="+mn-ea"/>
                <a:cs typeface="+mn-cs"/>
              </a:rPr>
              <a:t>的系数为</a:t>
            </a:r>
            <a:r>
              <a:rPr lang="en-US" altLang="zh-CN" sz="1200" b="0" i="0" u="none" strike="noStrike" kern="1200" dirty="0">
                <a:solidFill>
                  <a:schemeClr val="tx1"/>
                </a:solidFill>
                <a:effectLst/>
                <a:latin typeface="+mn-lt"/>
                <a:ea typeface="+mn-ea"/>
                <a:cs typeface="+mn-cs"/>
              </a:rPr>
              <a:t>0.0000583</a:t>
            </a:r>
            <a:r>
              <a:rPr lang="zh-CN" altLang="en-US" sz="1200" b="0"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t</a:t>
            </a:r>
            <a:r>
              <a:rPr lang="zh-CN" altLang="en-US" sz="1200" b="0" i="0" u="none" strike="noStrike" kern="1200" dirty="0">
                <a:solidFill>
                  <a:schemeClr val="tx1"/>
                </a:solidFill>
                <a:effectLst/>
                <a:latin typeface="+mn-lt"/>
                <a:ea typeface="+mn-ea"/>
                <a:cs typeface="+mn-cs"/>
              </a:rPr>
              <a:t>值约为</a:t>
            </a:r>
            <a:r>
              <a:rPr lang="en-US" altLang="zh-CN" sz="1200" b="0" i="0" u="none" strike="noStrike" kern="1200" dirty="0">
                <a:solidFill>
                  <a:schemeClr val="tx1"/>
                </a:solidFill>
                <a:effectLst/>
                <a:latin typeface="+mn-lt"/>
                <a:ea typeface="+mn-ea"/>
                <a:cs typeface="+mn-cs"/>
              </a:rPr>
              <a:t>1.99</a:t>
            </a:r>
            <a:r>
              <a:rPr lang="zh-CN" altLang="en-US" sz="1200" b="0" i="0" u="none" strike="noStrike" kern="1200" dirty="0">
                <a:solidFill>
                  <a:schemeClr val="tx1"/>
                </a:solidFill>
                <a:effectLst/>
                <a:latin typeface="+mn-lt"/>
                <a:ea typeface="+mn-ea"/>
                <a:cs typeface="+mn-cs"/>
              </a:rPr>
              <a:t>，对应的</a:t>
            </a:r>
            <a:r>
              <a:rPr lang="en-GB" sz="1200" b="0" i="0" u="none" strike="noStrike" kern="1200" dirty="0">
                <a:solidFill>
                  <a:schemeClr val="tx1"/>
                </a:solidFill>
                <a:effectLst/>
                <a:latin typeface="+mn-lt"/>
                <a:ea typeface="+mn-ea"/>
                <a:cs typeface="+mn-cs"/>
              </a:rPr>
              <a:t>p</a:t>
            </a:r>
            <a:r>
              <a:rPr lang="zh-CN" altLang="en-US" sz="1200" b="0" i="0" u="none" strike="noStrike" kern="1200" dirty="0">
                <a:solidFill>
                  <a:schemeClr val="tx1"/>
                </a:solidFill>
                <a:effectLst/>
                <a:latin typeface="+mn-lt"/>
                <a:ea typeface="+mn-ea"/>
                <a:cs typeface="+mn-cs"/>
              </a:rPr>
              <a:t>值约为</a:t>
            </a:r>
            <a:r>
              <a:rPr lang="en-US" altLang="zh-CN" sz="1200" b="0" i="0" u="none" strike="noStrike" kern="1200" dirty="0">
                <a:solidFill>
                  <a:schemeClr val="tx1"/>
                </a:solidFill>
                <a:effectLst/>
                <a:latin typeface="+mn-lt"/>
                <a:ea typeface="+mn-ea"/>
                <a:cs typeface="+mn-cs"/>
              </a:rPr>
              <a:t>0.057</a:t>
            </a:r>
            <a:r>
              <a:rPr lang="zh-CN" altLang="en-US" sz="1200" b="0" i="0" u="none" strike="noStrike" kern="1200" dirty="0">
                <a:solidFill>
                  <a:schemeClr val="tx1"/>
                </a:solidFill>
                <a:effectLst/>
                <a:latin typeface="+mn-lt"/>
                <a:ea typeface="+mn-ea"/>
                <a:cs typeface="+mn-cs"/>
              </a:rPr>
              <a:t>，略高于</a:t>
            </a:r>
            <a:r>
              <a:rPr lang="en-US" altLang="zh-CN" sz="1200" b="0" i="0" u="none" strike="noStrike" kern="1200" dirty="0">
                <a:solidFill>
                  <a:schemeClr val="tx1"/>
                </a:solidFill>
                <a:effectLst/>
                <a:latin typeface="+mn-lt"/>
                <a:ea typeface="+mn-ea"/>
                <a:cs typeface="+mn-cs"/>
              </a:rPr>
              <a:t>0.05</a:t>
            </a:r>
            <a:r>
              <a:rPr lang="zh-CN" altLang="en-US" sz="1200" b="0" i="0" u="none" strike="noStrike" kern="1200" dirty="0">
                <a:solidFill>
                  <a:schemeClr val="tx1"/>
                </a:solidFill>
                <a:effectLst/>
                <a:latin typeface="+mn-lt"/>
                <a:ea typeface="+mn-ea"/>
                <a:cs typeface="+mn-cs"/>
              </a:rPr>
              <a:t>的传统显著性水平，其</a:t>
            </a:r>
            <a:r>
              <a:rPr lang="en-US" altLang="zh-CN" sz="1200" b="0" i="0" u="none" strike="noStrike" kern="1200" dirty="0">
                <a:solidFill>
                  <a:schemeClr val="tx1"/>
                </a:solidFill>
                <a:effectLst/>
                <a:latin typeface="+mn-lt"/>
                <a:ea typeface="+mn-ea"/>
                <a:cs typeface="+mn-cs"/>
              </a:rPr>
              <a:t>95 %</a:t>
            </a:r>
            <a:r>
              <a:rPr lang="zh-CN" altLang="en-US" sz="1200" b="0" i="0" u="none" strike="noStrike" kern="1200" dirty="0">
                <a:solidFill>
                  <a:schemeClr val="tx1"/>
                </a:solidFill>
                <a:effectLst/>
                <a:latin typeface="+mn-lt"/>
                <a:ea typeface="+mn-ea"/>
                <a:cs typeface="+mn-cs"/>
              </a:rPr>
              <a:t>置信区间跨零（</a:t>
            </a:r>
            <a:r>
              <a:rPr lang="en-US" altLang="zh-CN" sz="1200" b="0" i="0" u="none" strike="noStrike" kern="1200" dirty="0">
                <a:solidFill>
                  <a:schemeClr val="tx1"/>
                </a:solidFill>
                <a:effectLst/>
                <a:latin typeface="+mn-lt"/>
                <a:ea typeface="+mn-ea"/>
                <a:cs typeface="+mn-cs"/>
              </a:rPr>
              <a:t>–0.0000018, 0.0001184</a:t>
            </a:r>
            <a:r>
              <a:rPr lang="zh-CN" altLang="en-US" sz="1200" b="0" i="0" u="none" strike="noStrike" kern="1200" dirty="0">
                <a:solidFill>
                  <a:schemeClr val="tx1"/>
                </a:solidFill>
                <a:effectLst/>
                <a:latin typeface="+mn-lt"/>
                <a:ea typeface="+mn-ea"/>
                <a:cs typeface="+mn-cs"/>
              </a:rPr>
              <a:t>），提示</a:t>
            </a:r>
            <a:r>
              <a:rPr lang="en-GB" sz="1200" b="0" i="0" u="none" strike="noStrike" kern="1200" dirty="0">
                <a:solidFill>
                  <a:schemeClr val="tx1"/>
                </a:solidFill>
                <a:effectLst/>
                <a:latin typeface="+mn-lt"/>
                <a:ea typeface="+mn-ea"/>
                <a:cs typeface="+mn-cs"/>
              </a:rPr>
              <a:t>GDP</a:t>
            </a:r>
            <a:r>
              <a:rPr lang="zh-CN" altLang="en-US" sz="1200" b="0" i="0" u="none" strike="noStrike" kern="1200" dirty="0">
                <a:solidFill>
                  <a:schemeClr val="tx1"/>
                </a:solidFill>
                <a:effectLst/>
                <a:latin typeface="+mn-lt"/>
                <a:ea typeface="+mn-ea"/>
                <a:cs typeface="+mn-cs"/>
              </a:rPr>
              <a:t>对寿命预期的正向影响边际显著，但需要谨慎解读；</a:t>
            </a:r>
          </a:p>
          <a:p>
            <a:r>
              <a:rPr lang="zh-CN" altLang="en-US" sz="1200" b="0" i="0" u="none" strike="noStrike" kern="1200" dirty="0">
                <a:solidFill>
                  <a:schemeClr val="tx1"/>
                </a:solidFill>
                <a:effectLst/>
                <a:latin typeface="+mn-lt"/>
                <a:ea typeface="+mn-ea"/>
                <a:cs typeface="+mn-cs"/>
              </a:rPr>
              <a:t>常数项约为</a:t>
            </a:r>
            <a:r>
              <a:rPr lang="en-US" altLang="zh-CN" sz="1200" b="0" i="0" u="none" strike="noStrike" kern="1200" dirty="0">
                <a:solidFill>
                  <a:schemeClr val="tx1"/>
                </a:solidFill>
                <a:effectLst/>
                <a:latin typeface="+mn-lt"/>
                <a:ea typeface="+mn-ea"/>
                <a:cs typeface="+mn-cs"/>
              </a:rPr>
              <a:t>60.93</a:t>
            </a:r>
            <a:r>
              <a:rPr lang="zh-CN" altLang="en-US" sz="1200" b="0" i="0" u="none" strike="noStrike" kern="1200" dirty="0">
                <a:solidFill>
                  <a:schemeClr val="tx1"/>
                </a:solidFill>
                <a:effectLst/>
                <a:latin typeface="+mn-lt"/>
                <a:ea typeface="+mn-ea"/>
                <a:cs typeface="+mn-cs"/>
              </a:rPr>
              <a:t>，表示在教育年限和收入均为零的“基准”情形下，基础寿命预期水平约为</a:t>
            </a:r>
            <a:r>
              <a:rPr lang="en-US" altLang="zh-CN" sz="1200" b="0" i="0" u="none" strike="noStrike" kern="1200" dirty="0">
                <a:solidFill>
                  <a:schemeClr val="tx1"/>
                </a:solidFill>
                <a:effectLst/>
                <a:latin typeface="+mn-lt"/>
                <a:ea typeface="+mn-ea"/>
                <a:cs typeface="+mn-cs"/>
              </a:rPr>
              <a:t>61</a:t>
            </a:r>
            <a:r>
              <a:rPr lang="zh-CN" altLang="en-US" sz="1200" b="0" i="0" u="none" strike="noStrike" kern="1200" dirty="0">
                <a:solidFill>
                  <a:schemeClr val="tx1"/>
                </a:solidFill>
                <a:effectLst/>
                <a:latin typeface="+mn-lt"/>
                <a:ea typeface="+mn-ea"/>
                <a:cs typeface="+mn-cs"/>
              </a:rPr>
              <a:t>年。</a:t>
            </a:r>
          </a:p>
          <a:p>
            <a:r>
              <a:rPr lang="zh-CN" altLang="en-US" sz="1200" b="0" i="0" u="none" strike="noStrike" kern="1200" dirty="0">
                <a:solidFill>
                  <a:schemeClr val="tx1"/>
                </a:solidFill>
                <a:effectLst/>
                <a:latin typeface="+mn-lt"/>
                <a:ea typeface="+mn-ea"/>
                <a:cs typeface="+mn-cs"/>
              </a:rPr>
              <a:t>接下来是空间误差自相关的</a:t>
            </a:r>
            <a:r>
              <a:rPr lang="en-GB" sz="1200" b="0" i="0" u="none" strike="noStrike" kern="1200" dirty="0">
                <a:solidFill>
                  <a:schemeClr val="tx1"/>
                </a:solidFill>
                <a:effectLst/>
                <a:latin typeface="+mn-lt"/>
                <a:ea typeface="+mn-ea"/>
                <a:cs typeface="+mn-cs"/>
              </a:rPr>
              <a:t>Moran</a:t>
            </a:r>
            <a:r>
              <a:rPr lang="zh-CN" altLang="en-US" sz="1200" b="0" i="0" u="none" strike="noStrike" kern="1200" dirty="0">
                <a:solidFill>
                  <a:schemeClr val="tx1"/>
                </a:solidFill>
                <a:effectLst/>
                <a:latin typeface="+mn-lt"/>
                <a:ea typeface="+mn-ea"/>
                <a:cs typeface="+mn-cs"/>
              </a:rPr>
              <a:t>检验结果：</a:t>
            </a:r>
          </a:p>
          <a:p>
            <a:r>
              <a:rPr lang="zh-CN" altLang="en-US" sz="1200" b="0" i="0" u="none" strike="noStrike" kern="1200" dirty="0">
                <a:solidFill>
                  <a:schemeClr val="tx1"/>
                </a:solidFill>
                <a:effectLst/>
                <a:latin typeface="+mn-lt"/>
                <a:ea typeface="+mn-ea"/>
                <a:cs typeface="+mn-cs"/>
              </a:rPr>
              <a:t>以矩阵</a:t>
            </a:r>
            <a:r>
              <a:rPr lang="en-GB" sz="1200" b="0" i="0" u="none" strike="noStrike" kern="1200" dirty="0">
                <a:solidFill>
                  <a:schemeClr val="tx1"/>
                </a:solidFill>
                <a:effectLst/>
                <a:latin typeface="+mn-lt"/>
                <a:ea typeface="+mn-ea"/>
                <a:cs typeface="+mn-cs"/>
              </a:rPr>
              <a:t>W（</a:t>
            </a:r>
            <a:r>
              <a:rPr lang="zh-CN" altLang="en-US" sz="1200" b="0" i="0" u="none" strike="noStrike" kern="1200" dirty="0">
                <a:solidFill>
                  <a:schemeClr val="tx1"/>
                </a:solidFill>
                <a:effectLst/>
                <a:latin typeface="+mn-lt"/>
                <a:ea typeface="+mn-ea"/>
                <a:cs typeface="+mn-cs"/>
              </a:rPr>
              <a:t>基于</a:t>
            </a:r>
            <a:r>
              <a:rPr lang="en-GB" sz="1200" b="0" i="0" u="none" strike="noStrike" kern="1200" dirty="0">
                <a:solidFill>
                  <a:schemeClr val="tx1"/>
                </a:solidFill>
                <a:effectLst/>
                <a:latin typeface="+mn-lt"/>
                <a:ea typeface="+mn-ea"/>
                <a:cs typeface="+mn-cs"/>
              </a:rPr>
              <a:t>queen</a:t>
            </a:r>
            <a:r>
              <a:rPr lang="zh-CN" altLang="en-US" sz="1200" b="0" i="0" u="none" strike="noStrike" kern="1200" dirty="0">
                <a:solidFill>
                  <a:schemeClr val="tx1"/>
                </a:solidFill>
                <a:effectLst/>
                <a:latin typeface="+mn-lt"/>
                <a:ea typeface="+mn-ea"/>
                <a:cs typeface="+mn-cs"/>
              </a:rPr>
              <a:t>或</a:t>
            </a:r>
            <a:r>
              <a:rPr lang="en-GB" sz="1200" b="0" i="0" u="none" strike="noStrike" kern="1200" dirty="0">
                <a:solidFill>
                  <a:schemeClr val="tx1"/>
                </a:solidFill>
                <a:effectLst/>
                <a:latin typeface="+mn-lt"/>
                <a:ea typeface="+mn-ea"/>
                <a:cs typeface="+mn-cs"/>
              </a:rPr>
              <a:t>rook</a:t>
            </a:r>
            <a:r>
              <a:rPr lang="zh-CN" altLang="en-US" sz="1200" b="0" i="0" u="none" strike="noStrike" kern="1200" dirty="0">
                <a:solidFill>
                  <a:schemeClr val="tx1"/>
                </a:solidFill>
                <a:effectLst/>
                <a:latin typeface="+mn-lt"/>
                <a:ea typeface="+mn-ea"/>
                <a:cs typeface="+mn-cs"/>
              </a:rPr>
              <a:t>邻接的权重矩阵）为权重时，错误项的</a:t>
            </a:r>
            <a:r>
              <a:rPr lang="en-GB" sz="1200" b="0" i="0" u="none" strike="noStrike" kern="1200" dirty="0">
                <a:solidFill>
                  <a:schemeClr val="tx1"/>
                </a:solidFill>
                <a:effectLst/>
                <a:latin typeface="+mn-lt"/>
                <a:ea typeface="+mn-ea"/>
                <a:cs typeface="+mn-cs"/>
              </a:rPr>
              <a:t>Moran </a:t>
            </a:r>
            <a:r>
              <a:rPr lang="el-GR" sz="1200" b="0" i="0" u="none" strike="noStrike" kern="1200" dirty="0">
                <a:solidFill>
                  <a:schemeClr val="tx1"/>
                </a:solidFill>
                <a:effectLst/>
                <a:latin typeface="+mn-lt"/>
                <a:ea typeface="+mn-ea"/>
                <a:cs typeface="+mn-cs"/>
              </a:rPr>
              <a:t>χ²(1)=0.54，</a:t>
            </a:r>
            <a:r>
              <a:rPr lang="en-GB" sz="1200" b="0" i="0" u="none" strike="noStrike" kern="1200" dirty="0">
                <a:solidFill>
                  <a:schemeClr val="tx1"/>
                </a:solidFill>
                <a:effectLst/>
                <a:latin typeface="+mn-lt"/>
                <a:ea typeface="+mn-ea"/>
                <a:cs typeface="+mn-cs"/>
              </a:rPr>
              <a:t>p=0.4637；</a:t>
            </a:r>
          </a:p>
          <a:p>
            <a:r>
              <a:rPr lang="zh-CN" altLang="en-US" sz="1200" b="0" i="0" u="none" strike="noStrike" kern="1200" dirty="0">
                <a:solidFill>
                  <a:schemeClr val="tx1"/>
                </a:solidFill>
                <a:effectLst/>
                <a:latin typeface="+mn-lt"/>
                <a:ea typeface="+mn-ea"/>
                <a:cs typeface="+mn-cs"/>
              </a:rPr>
              <a:t>以矩阵</a:t>
            </a:r>
            <a:r>
              <a:rPr lang="en-GB" sz="1200" b="0" i="0" u="none" strike="noStrike" kern="1200" dirty="0">
                <a:solidFill>
                  <a:schemeClr val="tx1"/>
                </a:solidFill>
                <a:effectLst/>
                <a:latin typeface="+mn-lt"/>
                <a:ea typeface="+mn-ea"/>
                <a:cs typeface="+mn-cs"/>
              </a:rPr>
              <a:t>M（</a:t>
            </a:r>
            <a:r>
              <a:rPr lang="zh-CN" altLang="en-US" sz="1200" b="0" i="0" u="none" strike="noStrike" kern="1200" dirty="0">
                <a:solidFill>
                  <a:schemeClr val="tx1"/>
                </a:solidFill>
                <a:effectLst/>
                <a:latin typeface="+mn-lt"/>
                <a:ea typeface="+mn-ea"/>
                <a:cs typeface="+mn-cs"/>
              </a:rPr>
              <a:t>可能基于距离倒数或</a:t>
            </a:r>
            <a:r>
              <a:rPr lang="en-GB" sz="1200" b="0" i="0" u="none" strike="noStrike" kern="1200" dirty="0">
                <a:solidFill>
                  <a:schemeClr val="tx1"/>
                </a:solidFill>
                <a:effectLst/>
                <a:latin typeface="+mn-lt"/>
                <a:ea typeface="+mn-ea"/>
                <a:cs typeface="+mn-cs"/>
              </a:rPr>
              <a:t>k</a:t>
            </a:r>
            <a:r>
              <a:rPr lang="zh-CN" altLang="en-US" sz="1200" b="0" i="0" u="none" strike="noStrike" kern="1200" dirty="0">
                <a:solidFill>
                  <a:schemeClr val="tx1"/>
                </a:solidFill>
                <a:effectLst/>
                <a:latin typeface="+mn-lt"/>
                <a:ea typeface="+mn-ea"/>
                <a:cs typeface="+mn-cs"/>
              </a:rPr>
              <a:t>近邻）为权重时，</a:t>
            </a:r>
            <a:r>
              <a:rPr lang="el-GR" sz="1200" b="0" i="0" u="none" strike="noStrike" kern="1200" dirty="0">
                <a:solidFill>
                  <a:schemeClr val="tx1"/>
                </a:solidFill>
                <a:effectLst/>
                <a:latin typeface="+mn-lt"/>
                <a:ea typeface="+mn-ea"/>
                <a:cs typeface="+mn-cs"/>
              </a:rPr>
              <a:t>χ²(1)=0.00，</a:t>
            </a:r>
            <a:r>
              <a:rPr lang="en-GB" sz="1200" b="0" i="0" u="none" strike="noStrike" kern="1200" dirty="0">
                <a:solidFill>
                  <a:schemeClr val="tx1"/>
                </a:solidFill>
                <a:effectLst/>
                <a:latin typeface="+mn-lt"/>
                <a:ea typeface="+mn-ea"/>
                <a:cs typeface="+mn-cs"/>
              </a:rPr>
              <a:t>p=0.9716。</a:t>
            </a:r>
            <a:br>
              <a:rPr lang="en-GB" sz="1200" b="0" i="0" u="none" strike="noStrike" kern="1200" dirty="0">
                <a:solidFill>
                  <a:schemeClr val="tx1"/>
                </a:solidFill>
                <a:effectLst/>
                <a:latin typeface="+mn-lt"/>
                <a:ea typeface="+mn-ea"/>
                <a:cs typeface="+mn-cs"/>
              </a:rPr>
            </a:br>
            <a:r>
              <a:rPr lang="zh-CN" altLang="en-US" sz="1200" b="0" i="0" u="none" strike="noStrike" kern="1200" dirty="0">
                <a:solidFill>
                  <a:schemeClr val="tx1"/>
                </a:solidFill>
                <a:effectLst/>
                <a:latin typeface="+mn-lt"/>
                <a:ea typeface="+mn-ea"/>
                <a:cs typeface="+mn-cs"/>
              </a:rPr>
              <a:t>两种检验均未拒绝“残差独立同分布”的原假设，说明在</a:t>
            </a:r>
            <a:r>
              <a:rPr lang="en-GB" sz="1200" b="0" i="0" u="none" strike="noStrike" kern="1200" dirty="0">
                <a:solidFill>
                  <a:schemeClr val="tx1"/>
                </a:solidFill>
                <a:effectLst/>
                <a:latin typeface="+mn-lt"/>
                <a:ea typeface="+mn-ea"/>
                <a:cs typeface="+mn-cs"/>
              </a:rPr>
              <a:t>OLS</a:t>
            </a:r>
            <a:r>
              <a:rPr lang="zh-CN" altLang="en-US" sz="1200" b="0" i="0" u="none" strike="noStrike" kern="1200" dirty="0">
                <a:solidFill>
                  <a:schemeClr val="tx1"/>
                </a:solidFill>
                <a:effectLst/>
                <a:latin typeface="+mn-lt"/>
                <a:ea typeface="+mn-ea"/>
                <a:cs typeface="+mn-cs"/>
              </a:rPr>
              <a:t>残差中暂未发现显著的空间误差自相关。</a:t>
            </a:r>
          </a:p>
          <a:p>
            <a:r>
              <a:rPr lang="zh-CN" altLang="en-US" sz="1200" b="0" i="0" u="none" strike="noStrike" kern="1200" dirty="0">
                <a:solidFill>
                  <a:schemeClr val="tx1"/>
                </a:solidFill>
                <a:effectLst/>
                <a:latin typeface="+mn-lt"/>
                <a:ea typeface="+mn-ea"/>
                <a:cs typeface="+mn-cs"/>
              </a:rPr>
              <a:t>综合以上结果，</a:t>
            </a:r>
            <a:r>
              <a:rPr lang="en-GB" sz="1200" b="0" i="0" u="none" strike="noStrike" kern="1200" dirty="0">
                <a:solidFill>
                  <a:schemeClr val="tx1"/>
                </a:solidFill>
                <a:effectLst/>
                <a:latin typeface="+mn-lt"/>
                <a:ea typeface="+mn-ea"/>
                <a:cs typeface="+mn-cs"/>
              </a:rPr>
              <a:t>OLS</a:t>
            </a:r>
            <a:r>
              <a:rPr lang="zh-CN" altLang="en-US" sz="1200" b="0" i="0" u="none" strike="noStrike" kern="1200" dirty="0">
                <a:solidFill>
                  <a:schemeClr val="tx1"/>
                </a:solidFill>
                <a:effectLst/>
                <a:latin typeface="+mn-lt"/>
                <a:ea typeface="+mn-ea"/>
                <a:cs typeface="+mn-cs"/>
              </a:rPr>
              <a:t>模型已经能够较好地捕捉教育水平对寿命预期的影响，但人均</a:t>
            </a:r>
            <a:r>
              <a:rPr lang="en-GB" sz="1200" b="0" i="0" u="none" strike="noStrike" kern="1200" dirty="0">
                <a:solidFill>
                  <a:schemeClr val="tx1"/>
                </a:solidFill>
                <a:effectLst/>
                <a:latin typeface="+mn-lt"/>
                <a:ea typeface="+mn-ea"/>
                <a:cs typeface="+mn-cs"/>
              </a:rPr>
              <a:t>GDP</a:t>
            </a:r>
            <a:r>
              <a:rPr lang="zh-CN" altLang="en-US" sz="1200" b="0" i="0" u="none" strike="noStrike" kern="1200" dirty="0">
                <a:solidFill>
                  <a:schemeClr val="tx1"/>
                </a:solidFill>
                <a:effectLst/>
                <a:latin typeface="+mn-lt"/>
                <a:ea typeface="+mn-ea"/>
                <a:cs typeface="+mn-cs"/>
              </a:rPr>
              <a:t>的边际效应在传统显著性水平下略显不足。同时，残差中没有明显的空间误差聚集，这为后续构建空间误差模型提供了依据。然而，考虑到空间溢出效应可能更多地体现在因变量自身的相互影响上，下一步我们还将估计空间滞后模型与空间混合模型，以检验邻近地区寿命预期对本地寿命预期的直接影响，并对比各模型的拟合优度与解释力。</a:t>
            </a:r>
          </a:p>
          <a:p>
            <a:endParaRPr lang="en-GB" dirty="0"/>
          </a:p>
          <a:p>
            <a:endParaRPr lang="en-GB" dirty="0"/>
          </a:p>
        </p:txBody>
      </p:sp>
      <p:sp>
        <p:nvSpPr>
          <p:cNvPr id="4" name="Slide Number Placeholder 3"/>
          <p:cNvSpPr>
            <a:spLocks noGrp="1"/>
          </p:cNvSpPr>
          <p:nvPr>
            <p:ph type="sldNum" sz="quarter" idx="5"/>
          </p:nvPr>
        </p:nvSpPr>
        <p:spPr/>
        <p:txBody>
          <a:bodyPr/>
          <a:lstStyle/>
          <a:p>
            <a:fld id="{6AA0D926-0B64-594E-9DCE-66112001AC28}" type="slidenum">
              <a:rPr lang="en-GB" smtClean="0"/>
              <a:t>5</a:t>
            </a:fld>
            <a:endParaRPr lang="en-GB"/>
          </a:p>
        </p:txBody>
      </p:sp>
    </p:spTree>
    <p:extLst>
      <p:ext uri="{BB962C8B-B14F-4D97-AF65-F5344CB8AC3E}">
        <p14:creationId xmlns:p14="http://schemas.microsoft.com/office/powerpoint/2010/main" val="13270582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接下来，我将介绍空间滞后模型的估计结果。本模型在</a:t>
            </a:r>
            <a:r>
              <a:rPr lang="en-GB" dirty="0"/>
              <a:t>OLS</a:t>
            </a:r>
            <a:r>
              <a:rPr lang="zh-CN" altLang="en-US" dirty="0"/>
              <a:t>回归的基础上，加入了寿命预期的空间滞后项，以捕捉邻近地区健康结果的相互影响。</a:t>
            </a:r>
          </a:p>
          <a:p>
            <a:endParaRPr lang="zh-CN" altLang="en-US" dirty="0"/>
          </a:p>
          <a:p>
            <a:r>
              <a:rPr lang="zh-CN" altLang="en-US" dirty="0"/>
              <a:t>首先，模型整体表现良好：</a:t>
            </a:r>
            <a:r>
              <a:rPr lang="en-GB" dirty="0"/>
              <a:t>Wald </a:t>
            </a:r>
            <a:r>
              <a:rPr lang="zh-CN" altLang="en-US" dirty="0"/>
              <a:t>统计量为</a:t>
            </a:r>
            <a:r>
              <a:rPr lang="en-US" altLang="zh-CN" dirty="0"/>
              <a:t>160.70</a:t>
            </a:r>
            <a:r>
              <a:rPr lang="zh-CN" altLang="en-US" dirty="0"/>
              <a:t>，对应的</a:t>
            </a:r>
            <a:r>
              <a:rPr lang="en-GB" dirty="0"/>
              <a:t>p</a:t>
            </a:r>
            <a:r>
              <a:rPr lang="zh-CN" altLang="en-US" dirty="0"/>
              <a:t>值小于</a:t>
            </a:r>
            <a:r>
              <a:rPr lang="en-US" altLang="zh-CN" dirty="0"/>
              <a:t>0.001</a:t>
            </a:r>
            <a:r>
              <a:rPr lang="zh-CN" altLang="en-US" dirty="0"/>
              <a:t>，说明自变量与空间滞后项共同对寿命预期具有显著解释力；对比</a:t>
            </a:r>
            <a:r>
              <a:rPr lang="en-GB" dirty="0"/>
              <a:t>OLS</a:t>
            </a:r>
            <a:r>
              <a:rPr lang="zh-CN" altLang="en-US" dirty="0"/>
              <a:t>模型，伪</a:t>
            </a:r>
            <a:r>
              <a:rPr lang="en-GB" dirty="0"/>
              <a:t>R²</a:t>
            </a:r>
            <a:r>
              <a:rPr lang="zh-CN" altLang="en-US" dirty="0"/>
              <a:t>由</a:t>
            </a:r>
            <a:r>
              <a:rPr lang="en-US" altLang="zh-CN" dirty="0"/>
              <a:t>0.8232</a:t>
            </a:r>
            <a:r>
              <a:rPr lang="zh-CN" altLang="en-US" dirty="0"/>
              <a:t>提升至</a:t>
            </a:r>
            <a:r>
              <a:rPr lang="en-US" altLang="zh-CN" dirty="0"/>
              <a:t>0.8382</a:t>
            </a:r>
            <a:r>
              <a:rPr lang="zh-CN" altLang="en-US" dirty="0"/>
              <a:t>，表明引入空间效应后，模型拟合度有所增强。</a:t>
            </a:r>
          </a:p>
          <a:p>
            <a:endParaRPr lang="zh-CN" altLang="en-US" dirty="0"/>
          </a:p>
          <a:p>
            <a:r>
              <a:rPr lang="zh-CN" altLang="en-US" dirty="0"/>
              <a:t>具体系数方面：</a:t>
            </a:r>
          </a:p>
          <a:p>
            <a:endParaRPr lang="zh-CN" altLang="en-US" dirty="0"/>
          </a:p>
          <a:p>
            <a:r>
              <a:rPr lang="zh-CN" altLang="en-US" dirty="0"/>
              <a:t>教育年限（</a:t>
            </a:r>
            <a:r>
              <a:rPr lang="en-GB" dirty="0"/>
              <a:t>Edu）</a:t>
            </a:r>
            <a:r>
              <a:rPr lang="zh-CN" altLang="en-US" dirty="0"/>
              <a:t>的系数为</a:t>
            </a:r>
            <a:r>
              <a:rPr lang="en-US" altLang="zh-CN" dirty="0"/>
              <a:t>1.8629</a:t>
            </a:r>
            <a:r>
              <a:rPr lang="zh-CN" altLang="en-US" dirty="0"/>
              <a:t>，对应</a:t>
            </a:r>
            <a:r>
              <a:rPr lang="en-GB" dirty="0"/>
              <a:t>z</a:t>
            </a:r>
            <a:r>
              <a:rPr lang="zh-CN" altLang="en-US" dirty="0"/>
              <a:t>值</a:t>
            </a:r>
            <a:r>
              <a:rPr lang="en-US" altLang="zh-CN" dirty="0"/>
              <a:t>6.52</a:t>
            </a:r>
            <a:r>
              <a:rPr lang="zh-CN" altLang="en-US" dirty="0"/>
              <a:t>，</a:t>
            </a:r>
            <a:r>
              <a:rPr lang="en-GB" dirty="0"/>
              <a:t>p</a:t>
            </a:r>
            <a:r>
              <a:rPr lang="zh-CN" altLang="en-US" dirty="0"/>
              <a:t>值远小于</a:t>
            </a:r>
            <a:r>
              <a:rPr lang="en-US" altLang="zh-CN" dirty="0"/>
              <a:t>0.001</a:t>
            </a:r>
            <a:r>
              <a:rPr lang="zh-CN" altLang="en-US" dirty="0"/>
              <a:t>，其</a:t>
            </a:r>
            <a:r>
              <a:rPr lang="en-US" altLang="zh-CN" dirty="0"/>
              <a:t>95</a:t>
            </a:r>
            <a:r>
              <a:rPr lang="zh-CN" altLang="en-US" dirty="0"/>
              <a:t>％置信区间为</a:t>
            </a:r>
            <a:r>
              <a:rPr lang="en-US" altLang="zh-CN" dirty="0"/>
              <a:t>[1.3031, 2.4228]</a:t>
            </a:r>
            <a:r>
              <a:rPr lang="zh-CN" altLang="en-US" dirty="0"/>
              <a:t>，仍然高度显著；与</a:t>
            </a:r>
            <a:r>
              <a:rPr lang="en-GB" dirty="0"/>
              <a:t>OLS</a:t>
            </a:r>
            <a:r>
              <a:rPr lang="zh-CN" altLang="en-US" dirty="0"/>
              <a:t>估计值</a:t>
            </a:r>
            <a:r>
              <a:rPr lang="en-US" altLang="zh-CN" dirty="0"/>
              <a:t>2.0072</a:t>
            </a:r>
            <a:r>
              <a:rPr lang="zh-CN" altLang="en-US" dirty="0"/>
              <a:t>相比略有减弱，但影响方向和显著性保持一致，说明在考虑空间溢出效应后，受教育年限对寿命预期的直接积极作用依然强劲。</a:t>
            </a:r>
          </a:p>
          <a:p>
            <a:r>
              <a:rPr lang="zh-CN" altLang="en-US" dirty="0"/>
              <a:t>人均</a:t>
            </a:r>
            <a:r>
              <a:rPr lang="en-GB" dirty="0"/>
              <a:t>GDP（GDP）</a:t>
            </a:r>
            <a:r>
              <a:rPr lang="zh-CN" altLang="en-US" dirty="0"/>
              <a:t>的系数为</a:t>
            </a:r>
            <a:r>
              <a:rPr lang="en-US" altLang="zh-CN" dirty="0"/>
              <a:t>0.0000498</a:t>
            </a:r>
            <a:r>
              <a:rPr lang="zh-CN" altLang="en-US" dirty="0"/>
              <a:t>，对应</a:t>
            </a:r>
            <a:r>
              <a:rPr lang="en-GB" dirty="0"/>
              <a:t>z</a:t>
            </a:r>
            <a:r>
              <a:rPr lang="zh-CN" altLang="en-US" dirty="0"/>
              <a:t>值</a:t>
            </a:r>
            <a:r>
              <a:rPr lang="en-US" altLang="zh-CN" dirty="0"/>
              <a:t>1.84</a:t>
            </a:r>
            <a:r>
              <a:rPr lang="zh-CN" altLang="en-US" dirty="0"/>
              <a:t>，</a:t>
            </a:r>
            <a:r>
              <a:rPr lang="en-GB" dirty="0"/>
              <a:t>p≈0.066，</a:t>
            </a:r>
            <a:r>
              <a:rPr lang="zh-CN" altLang="en-US" dirty="0"/>
              <a:t>在</a:t>
            </a:r>
            <a:r>
              <a:rPr lang="en-US" altLang="zh-CN" dirty="0"/>
              <a:t>10</a:t>
            </a:r>
            <a:r>
              <a:rPr lang="zh-CN" altLang="en-US" dirty="0"/>
              <a:t>％显著性水平下可以认为具有边际显著性；该系数略低于</a:t>
            </a:r>
            <a:r>
              <a:rPr lang="en-GB" dirty="0"/>
              <a:t>OLS</a:t>
            </a:r>
            <a:r>
              <a:rPr lang="zh-CN" altLang="en-US" dirty="0"/>
              <a:t>模型中的</a:t>
            </a:r>
            <a:r>
              <a:rPr lang="en-US" altLang="zh-CN" dirty="0"/>
              <a:t>0.0000583</a:t>
            </a:r>
            <a:r>
              <a:rPr lang="zh-CN" altLang="en-US" dirty="0"/>
              <a:t>，提示在控制邻近地区影响后，收入对寿命的直接边际效应略有下降。</a:t>
            </a:r>
          </a:p>
          <a:p>
            <a:r>
              <a:rPr lang="zh-CN" altLang="en-US" dirty="0"/>
              <a:t>空间滞后系数</a:t>
            </a:r>
            <a:r>
              <a:rPr lang="el-GR" dirty="0"/>
              <a:t>ρ（</a:t>
            </a:r>
            <a:r>
              <a:rPr lang="en-GB" dirty="0"/>
              <a:t>M·LE）</a:t>
            </a:r>
            <a:r>
              <a:rPr lang="zh-CN" altLang="en-US" dirty="0"/>
              <a:t>为</a:t>
            </a:r>
            <a:r>
              <a:rPr lang="en-US" altLang="zh-CN" dirty="0"/>
              <a:t>0.0149</a:t>
            </a:r>
            <a:r>
              <a:rPr lang="zh-CN" altLang="en-US" dirty="0"/>
              <a:t>，</a:t>
            </a:r>
            <a:r>
              <a:rPr lang="en-GB" dirty="0"/>
              <a:t>z</a:t>
            </a:r>
            <a:r>
              <a:rPr lang="zh-CN" altLang="en-US" dirty="0"/>
              <a:t>值</a:t>
            </a:r>
            <a:r>
              <a:rPr lang="en-US" altLang="zh-CN" dirty="0"/>
              <a:t>1.70</a:t>
            </a:r>
            <a:r>
              <a:rPr lang="zh-CN" altLang="en-US" dirty="0"/>
              <a:t>，</a:t>
            </a:r>
            <a:r>
              <a:rPr lang="en-GB" dirty="0"/>
              <a:t>p≈0.089，</a:t>
            </a:r>
            <a:r>
              <a:rPr lang="zh-CN" altLang="en-US" dirty="0"/>
              <a:t>在</a:t>
            </a:r>
            <a:r>
              <a:rPr lang="en-US" altLang="zh-CN" dirty="0"/>
              <a:t>10</a:t>
            </a:r>
            <a:r>
              <a:rPr lang="zh-CN" altLang="en-US" dirty="0"/>
              <a:t>％水平下显著；这意味着，当相邻省份的平均寿命预期提高</a:t>
            </a:r>
            <a:r>
              <a:rPr lang="en-US" altLang="zh-CN" dirty="0"/>
              <a:t>1</a:t>
            </a:r>
            <a:r>
              <a:rPr lang="zh-CN" altLang="en-US" dirty="0"/>
              <a:t>年时，本省的寿命预期将额外提高约</a:t>
            </a:r>
            <a:r>
              <a:rPr lang="en-US" altLang="zh-CN" dirty="0"/>
              <a:t>0.015</a:t>
            </a:r>
            <a:r>
              <a:rPr lang="zh-CN" altLang="en-US" dirty="0"/>
              <a:t>年，反映出健康结果在地理空间上的正向溢出。</a:t>
            </a:r>
          </a:p>
          <a:p>
            <a:r>
              <a:rPr lang="zh-CN" altLang="en-US" dirty="0"/>
              <a:t>最后，常数项约为</a:t>
            </a:r>
            <a:r>
              <a:rPr lang="en-US" altLang="zh-CN" dirty="0"/>
              <a:t>61.21</a:t>
            </a:r>
            <a:r>
              <a:rPr lang="zh-CN" altLang="en-US" dirty="0"/>
              <a:t>，与</a:t>
            </a:r>
            <a:r>
              <a:rPr lang="en-GB" dirty="0"/>
              <a:t>OLS</a:t>
            </a:r>
            <a:r>
              <a:rPr lang="zh-CN" altLang="en-US" dirty="0"/>
              <a:t>模型结果基本一致。总体来看，空间滞后模型不仅验证了教育和收入对寿命预期的正向作用，还揭示了省际寿命预期具有弱至中度的空间自相关。下一步，我们将进一步估计空间误差模型和空间混合模型，比较各自的拟合优度与政策含义。</a:t>
            </a:r>
            <a:endParaRPr lang="en-GB" dirty="0"/>
          </a:p>
        </p:txBody>
      </p:sp>
      <p:sp>
        <p:nvSpPr>
          <p:cNvPr id="4" name="Slide Number Placeholder 3"/>
          <p:cNvSpPr>
            <a:spLocks noGrp="1"/>
          </p:cNvSpPr>
          <p:nvPr>
            <p:ph type="sldNum" sz="quarter" idx="5"/>
          </p:nvPr>
        </p:nvSpPr>
        <p:spPr/>
        <p:txBody>
          <a:bodyPr/>
          <a:lstStyle/>
          <a:p>
            <a:fld id="{6AA0D926-0B64-594E-9DCE-66112001AC28}" type="slidenum">
              <a:rPr lang="en-GB" smtClean="0"/>
              <a:t>6</a:t>
            </a:fld>
            <a:endParaRPr lang="en-GB"/>
          </a:p>
        </p:txBody>
      </p:sp>
    </p:spTree>
    <p:extLst>
      <p:ext uri="{BB962C8B-B14F-4D97-AF65-F5344CB8AC3E}">
        <p14:creationId xmlns:p14="http://schemas.microsoft.com/office/powerpoint/2010/main" val="16491864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b="0" i="0" u="none" strike="noStrike" kern="1200" dirty="0">
                <a:solidFill>
                  <a:schemeClr val="tx1"/>
                </a:solidFill>
                <a:effectLst/>
                <a:latin typeface="+mn-lt"/>
                <a:ea typeface="+mn-ea"/>
                <a:cs typeface="+mn-cs"/>
              </a:rPr>
              <a:t>接下来介绍基于</a:t>
            </a:r>
            <a:r>
              <a:rPr lang="en-GB" sz="1200" b="0" i="0" u="none" strike="noStrike" kern="1200" dirty="0">
                <a:solidFill>
                  <a:schemeClr val="tx1"/>
                </a:solidFill>
                <a:effectLst/>
                <a:latin typeface="+mn-lt"/>
                <a:ea typeface="+mn-ea"/>
                <a:cs typeface="+mn-cs"/>
              </a:rPr>
              <a:t>GS2SLS</a:t>
            </a:r>
            <a:r>
              <a:rPr lang="zh-CN" altLang="en-US" sz="1200" b="0" i="0" u="none" strike="noStrike" kern="1200" dirty="0">
                <a:solidFill>
                  <a:schemeClr val="tx1"/>
                </a:solidFill>
                <a:effectLst/>
                <a:latin typeface="+mn-lt"/>
                <a:ea typeface="+mn-ea"/>
                <a:cs typeface="+mn-cs"/>
              </a:rPr>
              <a:t>估计的空间误差模型结果：</a:t>
            </a:r>
            <a:br>
              <a:rPr lang="zh-CN" altLang="en-US" sz="1200" b="0" i="0" u="none" strike="noStrike" kern="1200" dirty="0">
                <a:solidFill>
                  <a:schemeClr val="tx1"/>
                </a:solidFill>
                <a:effectLst/>
                <a:latin typeface="+mn-lt"/>
                <a:ea typeface="+mn-ea"/>
                <a:cs typeface="+mn-cs"/>
              </a:rPr>
            </a:br>
            <a:r>
              <a:rPr lang="zh-CN" altLang="en-US" sz="1200" b="0" i="0" u="none" strike="noStrike" kern="1200" dirty="0">
                <a:solidFill>
                  <a:schemeClr val="tx1"/>
                </a:solidFill>
                <a:effectLst/>
                <a:latin typeface="+mn-lt"/>
                <a:ea typeface="+mn-ea"/>
                <a:cs typeface="+mn-cs"/>
              </a:rPr>
              <a:t>模型整体</a:t>
            </a:r>
            <a:r>
              <a:rPr lang="en-GB" sz="1200" b="0" i="0" u="none" strike="noStrike" kern="1200" dirty="0">
                <a:solidFill>
                  <a:schemeClr val="tx1"/>
                </a:solidFill>
                <a:effectLst/>
                <a:latin typeface="+mn-lt"/>
                <a:ea typeface="+mn-ea"/>
                <a:cs typeface="+mn-cs"/>
              </a:rPr>
              <a:t>Wald </a:t>
            </a:r>
            <a:r>
              <a:rPr lang="el-GR" sz="1200" b="0" i="0" u="none" strike="noStrike" kern="1200" dirty="0">
                <a:solidFill>
                  <a:schemeClr val="tx1"/>
                </a:solidFill>
                <a:effectLst/>
                <a:latin typeface="+mn-lt"/>
                <a:ea typeface="+mn-ea"/>
                <a:cs typeface="+mn-cs"/>
              </a:rPr>
              <a:t>χ²(2)=148.72，</a:t>
            </a:r>
            <a:r>
              <a:rPr lang="zh-CN" altLang="en-US" sz="1200" b="0" i="0" u="none" strike="noStrike" kern="1200" dirty="0">
                <a:solidFill>
                  <a:schemeClr val="tx1"/>
                </a:solidFill>
                <a:effectLst/>
                <a:latin typeface="+mn-lt"/>
                <a:ea typeface="+mn-ea"/>
                <a:cs typeface="+mn-cs"/>
              </a:rPr>
              <a:t>对应</a:t>
            </a:r>
            <a:r>
              <a:rPr lang="en-GB" sz="1200" b="0" i="0" u="none" strike="noStrike" kern="1200" dirty="0">
                <a:solidFill>
                  <a:schemeClr val="tx1"/>
                </a:solidFill>
                <a:effectLst/>
                <a:latin typeface="+mn-lt"/>
                <a:ea typeface="+mn-ea"/>
                <a:cs typeface="+mn-cs"/>
              </a:rPr>
              <a:t>p&lt;0.001，</a:t>
            </a:r>
            <a:r>
              <a:rPr lang="zh-CN" altLang="en-US" sz="1200" b="0" i="0" u="none" strike="noStrike" kern="1200" dirty="0">
                <a:solidFill>
                  <a:schemeClr val="tx1"/>
                </a:solidFill>
                <a:effectLst/>
                <a:latin typeface="+mn-lt"/>
                <a:ea typeface="+mn-ea"/>
                <a:cs typeface="+mn-cs"/>
              </a:rPr>
              <a:t>伪</a:t>
            </a:r>
            <a:r>
              <a:rPr lang="en-GB" sz="1200" b="0" i="0" u="none" strike="noStrike" kern="1200" dirty="0">
                <a:solidFill>
                  <a:schemeClr val="tx1"/>
                </a:solidFill>
                <a:effectLst/>
                <a:latin typeface="+mn-lt"/>
                <a:ea typeface="+mn-ea"/>
                <a:cs typeface="+mn-cs"/>
              </a:rPr>
              <a:t>R²=0.8231，</a:t>
            </a:r>
            <a:r>
              <a:rPr lang="zh-CN" altLang="en-US" sz="1200" b="0" i="0" u="none" strike="noStrike" kern="1200" dirty="0">
                <a:solidFill>
                  <a:schemeClr val="tx1"/>
                </a:solidFill>
                <a:effectLst/>
                <a:latin typeface="+mn-lt"/>
                <a:ea typeface="+mn-ea"/>
                <a:cs typeface="+mn-cs"/>
              </a:rPr>
              <a:t>表明教育年限、收入水平及空间误差项共同对寿命预期具有显著解释力。具体来看：</a:t>
            </a:r>
          </a:p>
          <a:p>
            <a:r>
              <a:rPr lang="zh-CN" altLang="en-US" sz="1200" b="0" i="0" u="none" strike="noStrike" kern="1200" dirty="0">
                <a:solidFill>
                  <a:schemeClr val="tx1"/>
                </a:solidFill>
                <a:effectLst/>
                <a:latin typeface="+mn-lt"/>
                <a:ea typeface="+mn-ea"/>
                <a:cs typeface="+mn-cs"/>
              </a:rPr>
              <a:t>平均受教育年限（</a:t>
            </a:r>
            <a:r>
              <a:rPr lang="en-GB" sz="1200" b="0" i="0" u="none" strike="noStrike" kern="1200" dirty="0">
                <a:solidFill>
                  <a:schemeClr val="tx1"/>
                </a:solidFill>
                <a:effectLst/>
                <a:latin typeface="+mn-lt"/>
                <a:ea typeface="+mn-ea"/>
                <a:cs typeface="+mn-cs"/>
              </a:rPr>
              <a:t>Edu）</a:t>
            </a:r>
            <a:r>
              <a:rPr lang="zh-CN" altLang="en-US" sz="1200" b="0" i="0" u="none" strike="noStrike" kern="1200" dirty="0">
                <a:solidFill>
                  <a:schemeClr val="tx1"/>
                </a:solidFill>
                <a:effectLst/>
                <a:latin typeface="+mn-lt"/>
                <a:ea typeface="+mn-ea"/>
                <a:cs typeface="+mn-cs"/>
              </a:rPr>
              <a:t>系数为</a:t>
            </a:r>
            <a:r>
              <a:rPr lang="en-US" altLang="zh-CN" sz="1200" b="0" i="0" u="none" strike="noStrike" kern="1200" dirty="0">
                <a:solidFill>
                  <a:schemeClr val="tx1"/>
                </a:solidFill>
                <a:effectLst/>
                <a:latin typeface="+mn-lt"/>
                <a:ea typeface="+mn-ea"/>
                <a:cs typeface="+mn-cs"/>
              </a:rPr>
              <a:t>2.0049</a:t>
            </a:r>
            <a:r>
              <a:rPr lang="zh-CN" altLang="en-US" sz="1200" b="0"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z=7.08，p&lt;0.001，</a:t>
            </a:r>
            <a:r>
              <a:rPr lang="zh-CN" altLang="en-US" sz="1200" b="0" i="0" u="none" strike="noStrike" kern="1200" dirty="0">
                <a:solidFill>
                  <a:schemeClr val="tx1"/>
                </a:solidFill>
                <a:effectLst/>
                <a:latin typeface="+mn-lt"/>
                <a:ea typeface="+mn-ea"/>
                <a:cs typeface="+mn-cs"/>
              </a:rPr>
              <a:t>其</a:t>
            </a:r>
            <a:r>
              <a:rPr lang="en-US" altLang="zh-CN" sz="1200" b="0" i="0" u="none" strike="noStrike" kern="1200" dirty="0">
                <a:solidFill>
                  <a:schemeClr val="tx1"/>
                </a:solidFill>
                <a:effectLst/>
                <a:latin typeface="+mn-lt"/>
                <a:ea typeface="+mn-ea"/>
                <a:cs typeface="+mn-cs"/>
              </a:rPr>
              <a:t>95</a:t>
            </a:r>
            <a:r>
              <a:rPr lang="zh-CN" altLang="en-US" sz="1200" b="0" i="0" u="none" strike="noStrike" kern="1200" dirty="0">
                <a:solidFill>
                  <a:schemeClr val="tx1"/>
                </a:solidFill>
                <a:effectLst/>
                <a:latin typeface="+mn-lt"/>
                <a:ea typeface="+mn-ea"/>
                <a:cs typeface="+mn-cs"/>
              </a:rPr>
              <a:t>％置信区间为</a:t>
            </a:r>
            <a:r>
              <a:rPr lang="en-US" altLang="zh-CN" sz="1200" b="0" i="0" u="none" strike="noStrike" kern="1200" dirty="0">
                <a:solidFill>
                  <a:schemeClr val="tx1"/>
                </a:solidFill>
                <a:effectLst/>
                <a:latin typeface="+mn-lt"/>
                <a:ea typeface="+mn-ea"/>
                <a:cs typeface="+mn-cs"/>
              </a:rPr>
              <a:t>[1.4499, 2.5599]</a:t>
            </a:r>
            <a:r>
              <a:rPr lang="zh-CN" altLang="en-US" sz="1200" b="0" i="0" u="none" strike="noStrike" kern="1200" dirty="0">
                <a:solidFill>
                  <a:schemeClr val="tx1"/>
                </a:solidFill>
                <a:effectLst/>
                <a:latin typeface="+mn-lt"/>
                <a:ea typeface="+mn-ea"/>
                <a:cs typeface="+mn-cs"/>
              </a:rPr>
              <a:t>，表明教育年限每增加一年，寿命预期可提高约</a:t>
            </a:r>
            <a:r>
              <a:rPr lang="en-US" altLang="zh-CN" sz="1200" b="0" i="0" u="none" strike="noStrike" kern="1200" dirty="0">
                <a:solidFill>
                  <a:schemeClr val="tx1"/>
                </a:solidFill>
                <a:effectLst/>
                <a:latin typeface="+mn-lt"/>
                <a:ea typeface="+mn-ea"/>
                <a:cs typeface="+mn-cs"/>
              </a:rPr>
              <a:t>2.0</a:t>
            </a:r>
            <a:r>
              <a:rPr lang="zh-CN" altLang="en-US" sz="1200" b="0" i="0" u="none" strike="noStrike" kern="1200" dirty="0">
                <a:solidFill>
                  <a:schemeClr val="tx1"/>
                </a:solidFill>
                <a:effectLst/>
                <a:latin typeface="+mn-lt"/>
                <a:ea typeface="+mn-ea"/>
                <a:cs typeface="+mn-cs"/>
              </a:rPr>
              <a:t>年，且高度显著；</a:t>
            </a:r>
          </a:p>
          <a:p>
            <a:r>
              <a:rPr lang="zh-CN" altLang="en-US" sz="1200" b="0" i="0" u="none" strike="noStrike" kern="1200" dirty="0">
                <a:solidFill>
                  <a:schemeClr val="tx1"/>
                </a:solidFill>
                <a:effectLst/>
                <a:latin typeface="+mn-lt"/>
                <a:ea typeface="+mn-ea"/>
                <a:cs typeface="+mn-cs"/>
              </a:rPr>
              <a:t>人均</a:t>
            </a:r>
            <a:r>
              <a:rPr lang="en-GB" sz="1200" b="0" i="0" u="none" strike="noStrike" kern="1200" dirty="0">
                <a:solidFill>
                  <a:schemeClr val="tx1"/>
                </a:solidFill>
                <a:effectLst/>
                <a:latin typeface="+mn-lt"/>
                <a:ea typeface="+mn-ea"/>
                <a:cs typeface="+mn-cs"/>
              </a:rPr>
              <a:t>GDP（GDP）</a:t>
            </a:r>
            <a:r>
              <a:rPr lang="zh-CN" altLang="en-US" sz="1200" b="0" i="0" u="none" strike="noStrike" kern="1200" dirty="0">
                <a:solidFill>
                  <a:schemeClr val="tx1"/>
                </a:solidFill>
                <a:effectLst/>
                <a:latin typeface="+mn-lt"/>
                <a:ea typeface="+mn-ea"/>
                <a:cs typeface="+mn-cs"/>
              </a:rPr>
              <a:t>系数为</a:t>
            </a:r>
            <a:r>
              <a:rPr lang="en-US" altLang="zh-CN" sz="1200" b="0" i="0" u="none" strike="noStrike" kern="1200" dirty="0">
                <a:solidFill>
                  <a:schemeClr val="tx1"/>
                </a:solidFill>
                <a:effectLst/>
                <a:latin typeface="+mn-lt"/>
                <a:ea typeface="+mn-ea"/>
                <a:cs typeface="+mn-cs"/>
              </a:rPr>
              <a:t>0.0000608</a:t>
            </a:r>
            <a:r>
              <a:rPr lang="zh-CN" altLang="en-US" sz="1200" b="0"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z=2.18，p=0.029，</a:t>
            </a:r>
            <a:r>
              <a:rPr lang="zh-CN" altLang="en-US" sz="1200" b="0" i="0" u="none" strike="noStrike" kern="1200" dirty="0">
                <a:solidFill>
                  <a:schemeClr val="tx1"/>
                </a:solidFill>
                <a:effectLst/>
                <a:latin typeface="+mn-lt"/>
                <a:ea typeface="+mn-ea"/>
                <a:cs typeface="+mn-cs"/>
              </a:rPr>
              <a:t>其</a:t>
            </a:r>
            <a:r>
              <a:rPr lang="en-US" altLang="zh-CN" sz="1200" b="0" i="0" u="none" strike="noStrike" kern="1200" dirty="0">
                <a:solidFill>
                  <a:schemeClr val="tx1"/>
                </a:solidFill>
                <a:effectLst/>
                <a:latin typeface="+mn-lt"/>
                <a:ea typeface="+mn-ea"/>
                <a:cs typeface="+mn-cs"/>
              </a:rPr>
              <a:t>95</a:t>
            </a:r>
            <a:r>
              <a:rPr lang="zh-CN" altLang="en-US" sz="1200" b="0" i="0" u="none" strike="noStrike" kern="1200" dirty="0">
                <a:solidFill>
                  <a:schemeClr val="tx1"/>
                </a:solidFill>
                <a:effectLst/>
                <a:latin typeface="+mn-lt"/>
                <a:ea typeface="+mn-ea"/>
                <a:cs typeface="+mn-cs"/>
              </a:rPr>
              <a:t>％置信区间为</a:t>
            </a:r>
            <a:r>
              <a:rPr lang="en-US" altLang="zh-CN" sz="1200" b="0" i="0" u="none" strike="noStrike" kern="1200" dirty="0">
                <a:solidFill>
                  <a:schemeClr val="tx1"/>
                </a:solidFill>
                <a:effectLst/>
                <a:latin typeface="+mn-lt"/>
                <a:ea typeface="+mn-ea"/>
                <a:cs typeface="+mn-cs"/>
              </a:rPr>
              <a:t>[0.0000062, 0.0001154]</a:t>
            </a:r>
            <a:r>
              <a:rPr lang="zh-CN" altLang="en-US" sz="1200" b="0" i="0" u="none" strike="noStrike" kern="1200" dirty="0">
                <a:solidFill>
                  <a:schemeClr val="tx1"/>
                </a:solidFill>
                <a:effectLst/>
                <a:latin typeface="+mn-lt"/>
                <a:ea typeface="+mn-ea"/>
                <a:cs typeface="+mn-cs"/>
              </a:rPr>
              <a:t>，说明收入对寿命预期具有正向且显著的边际效应；</a:t>
            </a:r>
          </a:p>
          <a:p>
            <a:r>
              <a:rPr lang="zh-CN" altLang="en-US" sz="1200" b="0" i="0" u="none" strike="noStrike" kern="1200" dirty="0">
                <a:solidFill>
                  <a:schemeClr val="tx1"/>
                </a:solidFill>
                <a:effectLst/>
                <a:latin typeface="+mn-lt"/>
                <a:ea typeface="+mn-ea"/>
                <a:cs typeface="+mn-cs"/>
              </a:rPr>
              <a:t>空间误差项系数</a:t>
            </a:r>
            <a:r>
              <a:rPr lang="el-GR" sz="1200" b="0" i="0" u="none" strike="noStrike" kern="1200" dirty="0">
                <a:solidFill>
                  <a:schemeClr val="tx1"/>
                </a:solidFill>
                <a:effectLst/>
                <a:latin typeface="+mn-lt"/>
                <a:ea typeface="+mn-ea"/>
                <a:cs typeface="+mn-cs"/>
              </a:rPr>
              <a:t>λ（</a:t>
            </a:r>
            <a:r>
              <a:rPr lang="en-GB" sz="1200" b="0" i="0" u="none" strike="noStrike" kern="1200" dirty="0" err="1">
                <a:solidFill>
                  <a:schemeClr val="tx1"/>
                </a:solidFill>
                <a:effectLst/>
                <a:latin typeface="+mn-lt"/>
                <a:ea typeface="+mn-ea"/>
                <a:cs typeface="+mn-cs"/>
              </a:rPr>
              <a:t>M·e.LE</a:t>
            </a:r>
            <a:r>
              <a:rPr lang="en-GB" sz="1200" b="0" i="0" u="none" strike="noStrike" kern="1200" dirty="0">
                <a:solidFill>
                  <a:schemeClr val="tx1"/>
                </a:solidFill>
                <a:effectLst/>
                <a:latin typeface="+mn-lt"/>
                <a:ea typeface="+mn-ea"/>
                <a:cs typeface="+mn-cs"/>
              </a:rPr>
              <a:t>）</a:t>
            </a:r>
            <a:r>
              <a:rPr lang="zh-CN" altLang="en-US" sz="1200" b="0" i="0" u="none" strike="noStrike" kern="1200" dirty="0">
                <a:solidFill>
                  <a:schemeClr val="tx1"/>
                </a:solidFill>
                <a:effectLst/>
                <a:latin typeface="+mn-lt"/>
                <a:ea typeface="+mn-ea"/>
                <a:cs typeface="+mn-cs"/>
              </a:rPr>
              <a:t>为</a:t>
            </a:r>
            <a:r>
              <a:rPr lang="en-US" altLang="zh-CN" sz="1200" b="0" i="0" u="none" strike="noStrike" kern="1200" dirty="0">
                <a:solidFill>
                  <a:schemeClr val="tx1"/>
                </a:solidFill>
                <a:effectLst/>
                <a:latin typeface="+mn-lt"/>
                <a:ea typeface="+mn-ea"/>
                <a:cs typeface="+mn-cs"/>
              </a:rPr>
              <a:t>0.2558</a:t>
            </a:r>
            <a:r>
              <a:rPr lang="zh-CN" altLang="en-US" sz="1200" b="0"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z=0.30，p=0.762，</a:t>
            </a:r>
            <a:r>
              <a:rPr lang="zh-CN" altLang="en-US" sz="1200" b="0" i="0" u="none" strike="noStrike" kern="1200" dirty="0">
                <a:solidFill>
                  <a:schemeClr val="tx1"/>
                </a:solidFill>
                <a:effectLst/>
                <a:latin typeface="+mn-lt"/>
                <a:ea typeface="+mn-ea"/>
                <a:cs typeface="+mn-cs"/>
              </a:rPr>
              <a:t>其</a:t>
            </a:r>
            <a:r>
              <a:rPr lang="en-US" altLang="zh-CN" sz="1200" b="0" i="0" u="none" strike="noStrike" kern="1200" dirty="0">
                <a:solidFill>
                  <a:schemeClr val="tx1"/>
                </a:solidFill>
                <a:effectLst/>
                <a:latin typeface="+mn-lt"/>
                <a:ea typeface="+mn-ea"/>
                <a:cs typeface="+mn-cs"/>
              </a:rPr>
              <a:t>95</a:t>
            </a:r>
            <a:r>
              <a:rPr lang="zh-CN" altLang="en-US" sz="1200" b="0" i="0" u="none" strike="noStrike" kern="1200" dirty="0">
                <a:solidFill>
                  <a:schemeClr val="tx1"/>
                </a:solidFill>
                <a:effectLst/>
                <a:latin typeface="+mn-lt"/>
                <a:ea typeface="+mn-ea"/>
                <a:cs typeface="+mn-cs"/>
              </a:rPr>
              <a:t>％置信区间跨零，表明在控制了教育和收入后，残差中并未探测到显著的空间误差自相关。</a:t>
            </a:r>
          </a:p>
          <a:p>
            <a:r>
              <a:rPr lang="zh-CN" altLang="en-US" sz="1200" b="0" i="0" u="none" strike="noStrike" kern="1200" dirty="0">
                <a:solidFill>
                  <a:schemeClr val="tx1"/>
                </a:solidFill>
                <a:effectLst/>
                <a:latin typeface="+mn-lt"/>
                <a:ea typeface="+mn-ea"/>
                <a:cs typeface="+mn-cs"/>
              </a:rPr>
              <a:t>该结果与前述</a:t>
            </a:r>
            <a:r>
              <a:rPr lang="en-GB" sz="1200" b="0" i="0" u="none" strike="noStrike" kern="1200" dirty="0">
                <a:solidFill>
                  <a:schemeClr val="tx1"/>
                </a:solidFill>
                <a:effectLst/>
                <a:latin typeface="+mn-lt"/>
                <a:ea typeface="+mn-ea"/>
                <a:cs typeface="+mn-cs"/>
              </a:rPr>
              <a:t>Moran I</a:t>
            </a:r>
            <a:r>
              <a:rPr lang="zh-CN" altLang="en-US" sz="1200" b="0" i="0" u="none" strike="noStrike" kern="1200" dirty="0">
                <a:solidFill>
                  <a:schemeClr val="tx1"/>
                </a:solidFill>
                <a:effectLst/>
                <a:latin typeface="+mn-lt"/>
                <a:ea typeface="+mn-ea"/>
                <a:cs typeface="+mn-cs"/>
              </a:rPr>
              <a:t>检验一致，均暗示空间误差聚集效应可忽略。综合空间滞后模型和空间误差模型的比较，我们可见省际健康结果的空间溢出主要体现在因变量本身的相互影响上，而非误差项中。在此基础上，下一步推荐优先关注邻近地区健康水平的协同提升机制，同时持续强化教育和经济发展在区域卫生改善中的核心作用。</a:t>
            </a:r>
          </a:p>
          <a:p>
            <a:endParaRPr lang="en-GB" dirty="0"/>
          </a:p>
        </p:txBody>
      </p:sp>
      <p:sp>
        <p:nvSpPr>
          <p:cNvPr id="4" name="Slide Number Placeholder 3"/>
          <p:cNvSpPr>
            <a:spLocks noGrp="1"/>
          </p:cNvSpPr>
          <p:nvPr>
            <p:ph type="sldNum" sz="quarter" idx="5"/>
          </p:nvPr>
        </p:nvSpPr>
        <p:spPr/>
        <p:txBody>
          <a:bodyPr/>
          <a:lstStyle/>
          <a:p>
            <a:fld id="{6AA0D926-0B64-594E-9DCE-66112001AC28}" type="slidenum">
              <a:rPr lang="en-GB" smtClean="0"/>
              <a:t>7</a:t>
            </a:fld>
            <a:endParaRPr lang="en-GB"/>
          </a:p>
        </p:txBody>
      </p:sp>
    </p:spTree>
    <p:extLst>
      <p:ext uri="{BB962C8B-B14F-4D97-AF65-F5344CB8AC3E}">
        <p14:creationId xmlns:p14="http://schemas.microsoft.com/office/powerpoint/2010/main" val="33485993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b="0" i="0" u="none" strike="noStrike" kern="1200" dirty="0">
                <a:solidFill>
                  <a:schemeClr val="tx1"/>
                </a:solidFill>
                <a:effectLst/>
                <a:latin typeface="+mn-lt"/>
                <a:ea typeface="+mn-ea"/>
                <a:cs typeface="+mn-cs"/>
              </a:rPr>
              <a:t>在之前介绍了</a:t>
            </a:r>
            <a:r>
              <a:rPr lang="en-GB" sz="1200" b="0" i="0" u="none" strike="noStrike" kern="1200" dirty="0">
                <a:solidFill>
                  <a:schemeClr val="tx1"/>
                </a:solidFill>
                <a:effectLst/>
                <a:latin typeface="+mn-lt"/>
                <a:ea typeface="+mn-ea"/>
                <a:cs typeface="+mn-cs"/>
              </a:rPr>
              <a:t>OLS</a:t>
            </a:r>
            <a:r>
              <a:rPr lang="zh-CN" altLang="en-US" sz="1200" b="0" i="0" u="none" strike="noStrike" kern="1200" dirty="0">
                <a:solidFill>
                  <a:schemeClr val="tx1"/>
                </a:solidFill>
                <a:effectLst/>
                <a:latin typeface="+mn-lt"/>
                <a:ea typeface="+mn-ea"/>
                <a:cs typeface="+mn-cs"/>
              </a:rPr>
              <a:t>模型、空间滞后模型和空间误差模型之后，接下来我将汇报第四种模型</a:t>
            </a:r>
            <a:r>
              <a:rPr lang="en-US" altLang="zh-CN" sz="1200" b="0" i="0" u="none" strike="noStrike" kern="1200" dirty="0">
                <a:solidFill>
                  <a:schemeClr val="tx1"/>
                </a:solidFill>
                <a:effectLst/>
                <a:latin typeface="+mn-lt"/>
                <a:ea typeface="+mn-ea"/>
                <a:cs typeface="+mn-cs"/>
              </a:rPr>
              <a:t>——</a:t>
            </a:r>
            <a:r>
              <a:rPr lang="zh-CN" altLang="en-US" sz="1200" b="0" i="0" u="none" strike="noStrike" kern="1200" dirty="0">
                <a:solidFill>
                  <a:schemeClr val="tx1"/>
                </a:solidFill>
                <a:effectLst/>
                <a:latin typeface="+mn-lt"/>
                <a:ea typeface="+mn-ea"/>
                <a:cs typeface="+mn-cs"/>
              </a:rPr>
              <a:t>空间</a:t>
            </a:r>
            <a:r>
              <a:rPr lang="en-GB" sz="1200" b="0" i="0" u="none" strike="noStrike" kern="1200" dirty="0">
                <a:solidFill>
                  <a:schemeClr val="tx1"/>
                </a:solidFill>
                <a:effectLst/>
                <a:latin typeface="+mn-lt"/>
                <a:ea typeface="+mn-ea"/>
                <a:cs typeface="+mn-cs"/>
              </a:rPr>
              <a:t>Durbin</a:t>
            </a:r>
            <a:r>
              <a:rPr lang="zh-CN" altLang="en-US" sz="1200" b="0" i="0" u="none" strike="noStrike" kern="1200" dirty="0">
                <a:solidFill>
                  <a:schemeClr val="tx1"/>
                </a:solidFill>
                <a:effectLst/>
                <a:latin typeface="+mn-lt"/>
                <a:ea typeface="+mn-ea"/>
                <a:cs typeface="+mn-cs"/>
              </a:rPr>
              <a:t>模型（</a:t>
            </a:r>
            <a:r>
              <a:rPr lang="en-GB" sz="1200" b="0" i="0" u="none" strike="noStrike" kern="1200" dirty="0">
                <a:solidFill>
                  <a:schemeClr val="tx1"/>
                </a:solidFill>
                <a:effectLst/>
                <a:latin typeface="+mn-lt"/>
                <a:ea typeface="+mn-ea"/>
                <a:cs typeface="+mn-cs"/>
              </a:rPr>
              <a:t>Spatial Durbin Model）</a:t>
            </a:r>
            <a:r>
              <a:rPr lang="zh-CN" altLang="en-US" sz="1200" b="0" i="0" u="none" strike="noStrike" kern="1200" dirty="0">
                <a:solidFill>
                  <a:schemeClr val="tx1"/>
                </a:solidFill>
                <a:effectLst/>
                <a:latin typeface="+mn-lt"/>
                <a:ea typeface="+mn-ea"/>
                <a:cs typeface="+mn-cs"/>
              </a:rPr>
              <a:t>的结果及其解读。</a:t>
            </a:r>
          </a:p>
          <a:p>
            <a:r>
              <a:rPr lang="zh-CN" altLang="en-US" sz="1200" b="0" i="0" u="none" strike="noStrike" kern="1200" dirty="0">
                <a:solidFill>
                  <a:schemeClr val="tx1"/>
                </a:solidFill>
                <a:effectLst/>
                <a:latin typeface="+mn-lt"/>
                <a:ea typeface="+mn-ea"/>
                <a:cs typeface="+mn-cs"/>
              </a:rPr>
              <a:t>模型概览</a:t>
            </a:r>
          </a:p>
          <a:p>
            <a:r>
              <a:rPr lang="zh-CN" altLang="en-US" sz="1200" b="0" i="0" u="none" strike="noStrike" kern="1200" dirty="0">
                <a:solidFill>
                  <a:schemeClr val="tx1"/>
                </a:solidFill>
                <a:effectLst/>
                <a:latin typeface="+mn-lt"/>
                <a:ea typeface="+mn-ea"/>
                <a:cs typeface="+mn-cs"/>
              </a:rPr>
              <a:t>本模型在</a:t>
            </a:r>
            <a:r>
              <a:rPr lang="en-GB" sz="1200" b="0" i="0" u="none" strike="noStrike" kern="1200" dirty="0">
                <a:solidFill>
                  <a:schemeClr val="tx1"/>
                </a:solidFill>
                <a:effectLst/>
                <a:latin typeface="+mn-lt"/>
                <a:ea typeface="+mn-ea"/>
                <a:cs typeface="+mn-cs"/>
              </a:rPr>
              <a:t>GS2SLS</a:t>
            </a:r>
            <a:r>
              <a:rPr lang="zh-CN" altLang="en-US" sz="1200" b="0" i="0" u="none" strike="noStrike" kern="1200" dirty="0">
                <a:solidFill>
                  <a:schemeClr val="tx1"/>
                </a:solidFill>
                <a:effectLst/>
                <a:latin typeface="+mn-lt"/>
                <a:ea typeface="+mn-ea"/>
                <a:cs typeface="+mn-cs"/>
              </a:rPr>
              <a:t>框架下估计，既包含自变量的空间滞后，也包含因变量的空间滞后，能够同时捕捉邻域自变量与因变量的溢出效应。</a:t>
            </a:r>
          </a:p>
          <a:p>
            <a:r>
              <a:rPr lang="zh-CN" altLang="en-US" sz="1200" b="0" i="0" u="none" strike="noStrike" kern="1200" dirty="0">
                <a:solidFill>
                  <a:schemeClr val="tx1"/>
                </a:solidFill>
                <a:effectLst/>
                <a:latin typeface="+mn-lt"/>
                <a:ea typeface="+mn-ea"/>
                <a:cs typeface="+mn-cs"/>
              </a:rPr>
              <a:t>观测省份数量为</a:t>
            </a:r>
            <a:r>
              <a:rPr lang="en-US" altLang="zh-CN" sz="1200" b="0" i="0" u="none" strike="noStrike" kern="1200" dirty="0">
                <a:solidFill>
                  <a:schemeClr val="tx1"/>
                </a:solidFill>
                <a:effectLst/>
                <a:latin typeface="+mn-lt"/>
                <a:ea typeface="+mn-ea"/>
                <a:cs typeface="+mn-cs"/>
              </a:rPr>
              <a:t>31</a:t>
            </a:r>
            <a:r>
              <a:rPr lang="zh-CN" altLang="en-US" sz="1200" b="0" i="0" u="none" strike="noStrike" kern="1200" dirty="0">
                <a:solidFill>
                  <a:schemeClr val="tx1"/>
                </a:solidFill>
                <a:effectLst/>
                <a:latin typeface="+mn-lt"/>
                <a:ea typeface="+mn-ea"/>
                <a:cs typeface="+mn-cs"/>
              </a:rPr>
              <a:t>，伪</a:t>
            </a:r>
            <a:r>
              <a:rPr lang="en-GB" sz="1200" b="0" i="0" u="none" strike="noStrike" kern="1200" dirty="0">
                <a:solidFill>
                  <a:schemeClr val="tx1"/>
                </a:solidFill>
                <a:effectLst/>
                <a:latin typeface="+mn-lt"/>
                <a:ea typeface="+mn-ea"/>
                <a:cs typeface="+mn-cs"/>
              </a:rPr>
              <a:t>R²</a:t>
            </a:r>
            <a:r>
              <a:rPr lang="zh-CN" altLang="en-US" sz="1200" b="0" i="0" u="none" strike="noStrike" kern="1200" dirty="0">
                <a:solidFill>
                  <a:schemeClr val="tx1"/>
                </a:solidFill>
                <a:effectLst/>
                <a:latin typeface="+mn-lt"/>
                <a:ea typeface="+mn-ea"/>
                <a:cs typeface="+mn-cs"/>
              </a:rPr>
              <a:t>达到</a:t>
            </a:r>
            <a:r>
              <a:rPr lang="en-US" altLang="zh-CN" sz="1200" b="0" i="0" u="none" strike="noStrike" kern="1200" dirty="0">
                <a:solidFill>
                  <a:schemeClr val="tx1"/>
                </a:solidFill>
                <a:effectLst/>
                <a:latin typeface="+mn-lt"/>
                <a:ea typeface="+mn-ea"/>
                <a:cs typeface="+mn-cs"/>
              </a:rPr>
              <a:t>0.8479</a:t>
            </a:r>
            <a:r>
              <a:rPr lang="zh-CN" altLang="en-US" sz="1200" b="0" i="0" u="none" strike="noStrike" kern="1200" dirty="0">
                <a:solidFill>
                  <a:schemeClr val="tx1"/>
                </a:solidFill>
                <a:effectLst/>
                <a:latin typeface="+mn-lt"/>
                <a:ea typeface="+mn-ea"/>
                <a:cs typeface="+mn-cs"/>
              </a:rPr>
              <a:t>，高于前述模型，说明引入</a:t>
            </a:r>
            <a:r>
              <a:rPr lang="en-GB" sz="1200" b="0" i="0" u="none" strike="noStrike" kern="1200" dirty="0">
                <a:solidFill>
                  <a:schemeClr val="tx1"/>
                </a:solidFill>
                <a:effectLst/>
                <a:latin typeface="+mn-lt"/>
                <a:ea typeface="+mn-ea"/>
                <a:cs typeface="+mn-cs"/>
              </a:rPr>
              <a:t>Durbin</a:t>
            </a:r>
            <a:r>
              <a:rPr lang="zh-CN" altLang="en-US" sz="1200" b="0" i="0" u="none" strike="noStrike" kern="1200" dirty="0">
                <a:solidFill>
                  <a:schemeClr val="tx1"/>
                </a:solidFill>
                <a:effectLst/>
                <a:latin typeface="+mn-lt"/>
                <a:ea typeface="+mn-ea"/>
                <a:cs typeface="+mn-cs"/>
              </a:rPr>
              <a:t>项后对寿命预期的解释力进一步提升。</a:t>
            </a:r>
          </a:p>
          <a:p>
            <a:r>
              <a:rPr lang="zh-CN" altLang="en-US" sz="1200" b="0" i="0" u="none" strike="noStrike" kern="1200" dirty="0">
                <a:solidFill>
                  <a:schemeClr val="tx1"/>
                </a:solidFill>
                <a:effectLst/>
                <a:latin typeface="+mn-lt"/>
                <a:ea typeface="+mn-ea"/>
                <a:cs typeface="+mn-cs"/>
              </a:rPr>
              <a:t>直接效应（</a:t>
            </a:r>
            <a:r>
              <a:rPr lang="en-GB" sz="1200" b="0" i="0" u="none" strike="noStrike" kern="1200" dirty="0">
                <a:solidFill>
                  <a:schemeClr val="tx1"/>
                </a:solidFill>
                <a:effectLst/>
                <a:latin typeface="+mn-lt"/>
                <a:ea typeface="+mn-ea"/>
                <a:cs typeface="+mn-cs"/>
              </a:rPr>
              <a:t>Direct Effects）</a:t>
            </a:r>
          </a:p>
          <a:p>
            <a:r>
              <a:rPr lang="zh-CN" altLang="en-US" sz="1200" b="0" i="0" u="none" strike="noStrike" kern="1200" dirty="0">
                <a:solidFill>
                  <a:schemeClr val="tx1"/>
                </a:solidFill>
                <a:effectLst/>
                <a:latin typeface="+mn-lt"/>
                <a:ea typeface="+mn-ea"/>
                <a:cs typeface="+mn-cs"/>
              </a:rPr>
              <a:t>平均受教育年限（</a:t>
            </a:r>
            <a:r>
              <a:rPr lang="en-GB" sz="1200" b="0" i="0" u="none" strike="noStrike" kern="1200" dirty="0">
                <a:solidFill>
                  <a:schemeClr val="tx1"/>
                </a:solidFill>
                <a:effectLst/>
                <a:latin typeface="+mn-lt"/>
                <a:ea typeface="+mn-ea"/>
                <a:cs typeface="+mn-cs"/>
              </a:rPr>
              <a:t>Edu）</a:t>
            </a:r>
            <a:r>
              <a:rPr lang="zh-CN" altLang="en-US" sz="1200" b="0" i="0" u="none" strike="noStrike" kern="1200" dirty="0">
                <a:solidFill>
                  <a:schemeClr val="tx1"/>
                </a:solidFill>
                <a:effectLst/>
                <a:latin typeface="+mn-lt"/>
                <a:ea typeface="+mn-ea"/>
                <a:cs typeface="+mn-cs"/>
              </a:rPr>
              <a:t>系数为</a:t>
            </a:r>
            <a:r>
              <a:rPr lang="en-US" altLang="zh-CN" sz="1200" b="0" i="0" u="none" strike="noStrike" kern="1200" dirty="0">
                <a:solidFill>
                  <a:schemeClr val="tx1"/>
                </a:solidFill>
                <a:effectLst/>
                <a:latin typeface="+mn-lt"/>
                <a:ea typeface="+mn-ea"/>
                <a:cs typeface="+mn-cs"/>
              </a:rPr>
              <a:t>1.9007</a:t>
            </a:r>
            <a:r>
              <a:rPr lang="zh-CN" altLang="en-US" sz="1200" b="0"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z=6.82，p&lt;0.001），</a:t>
            </a:r>
            <a:r>
              <a:rPr lang="zh-CN" altLang="en-US" sz="1200" b="0" i="0" u="none" strike="noStrike" kern="1200" dirty="0">
                <a:solidFill>
                  <a:schemeClr val="tx1"/>
                </a:solidFill>
                <a:effectLst/>
                <a:latin typeface="+mn-lt"/>
                <a:ea typeface="+mn-ea"/>
                <a:cs typeface="+mn-cs"/>
              </a:rPr>
              <a:t>表明本省教育年限每增加一年，寿命预期平均提高约</a:t>
            </a:r>
            <a:r>
              <a:rPr lang="en-US" altLang="zh-CN" sz="1200" b="0" i="0" u="none" strike="noStrike" kern="1200" dirty="0">
                <a:solidFill>
                  <a:schemeClr val="tx1"/>
                </a:solidFill>
                <a:effectLst/>
                <a:latin typeface="+mn-lt"/>
                <a:ea typeface="+mn-ea"/>
                <a:cs typeface="+mn-cs"/>
              </a:rPr>
              <a:t>1.90</a:t>
            </a:r>
            <a:r>
              <a:rPr lang="zh-CN" altLang="en-US" sz="1200" b="0" i="0" u="none" strike="noStrike" kern="1200" dirty="0">
                <a:solidFill>
                  <a:schemeClr val="tx1"/>
                </a:solidFill>
                <a:effectLst/>
                <a:latin typeface="+mn-lt"/>
                <a:ea typeface="+mn-ea"/>
                <a:cs typeface="+mn-cs"/>
              </a:rPr>
              <a:t>年；</a:t>
            </a:r>
          </a:p>
          <a:p>
            <a:r>
              <a:rPr lang="zh-CN" altLang="en-US" sz="1200" b="0" i="0" u="none" strike="noStrike" kern="1200" dirty="0">
                <a:solidFill>
                  <a:schemeClr val="tx1"/>
                </a:solidFill>
                <a:effectLst/>
                <a:latin typeface="+mn-lt"/>
                <a:ea typeface="+mn-ea"/>
                <a:cs typeface="+mn-cs"/>
              </a:rPr>
              <a:t>人均</a:t>
            </a:r>
            <a:r>
              <a:rPr lang="en-GB" sz="1200" b="0" i="0" u="none" strike="noStrike" kern="1200" dirty="0">
                <a:solidFill>
                  <a:schemeClr val="tx1"/>
                </a:solidFill>
                <a:effectLst/>
                <a:latin typeface="+mn-lt"/>
                <a:ea typeface="+mn-ea"/>
                <a:cs typeface="+mn-cs"/>
              </a:rPr>
              <a:t>GDP（GDP）</a:t>
            </a:r>
            <a:r>
              <a:rPr lang="zh-CN" altLang="en-US" sz="1200" b="0" i="0" u="none" strike="noStrike" kern="1200" dirty="0">
                <a:solidFill>
                  <a:schemeClr val="tx1"/>
                </a:solidFill>
                <a:effectLst/>
                <a:latin typeface="+mn-lt"/>
                <a:ea typeface="+mn-ea"/>
                <a:cs typeface="+mn-cs"/>
              </a:rPr>
              <a:t>系数为</a:t>
            </a:r>
            <a:r>
              <a:rPr lang="en-US" altLang="zh-CN" sz="1200" b="0" i="0" u="none" strike="noStrike" kern="1200" dirty="0">
                <a:solidFill>
                  <a:schemeClr val="tx1"/>
                </a:solidFill>
                <a:effectLst/>
                <a:latin typeface="+mn-lt"/>
                <a:ea typeface="+mn-ea"/>
                <a:cs typeface="+mn-cs"/>
              </a:rPr>
              <a:t>0.0000564</a:t>
            </a:r>
            <a:r>
              <a:rPr lang="zh-CN" altLang="en-US" sz="1200" b="0"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z=2.10，p=0.035），</a:t>
            </a:r>
            <a:r>
              <a:rPr lang="zh-CN" altLang="en-US" sz="1200" b="0" i="0" u="none" strike="noStrike" kern="1200" dirty="0">
                <a:solidFill>
                  <a:schemeClr val="tx1"/>
                </a:solidFill>
                <a:effectLst/>
                <a:latin typeface="+mn-lt"/>
                <a:ea typeface="+mn-ea"/>
                <a:cs typeface="+mn-cs"/>
              </a:rPr>
              <a:t>意味着本省人均</a:t>
            </a:r>
            <a:r>
              <a:rPr lang="en-GB" sz="1200" b="0" i="0" u="none" strike="noStrike" kern="1200" dirty="0">
                <a:solidFill>
                  <a:schemeClr val="tx1"/>
                </a:solidFill>
                <a:effectLst/>
                <a:latin typeface="+mn-lt"/>
                <a:ea typeface="+mn-ea"/>
                <a:cs typeface="+mn-cs"/>
              </a:rPr>
              <a:t>GDP</a:t>
            </a:r>
            <a:r>
              <a:rPr lang="zh-CN" altLang="en-US" sz="1200" b="0" i="0" u="none" strike="noStrike" kern="1200" dirty="0">
                <a:solidFill>
                  <a:schemeClr val="tx1"/>
                </a:solidFill>
                <a:effectLst/>
                <a:latin typeface="+mn-lt"/>
                <a:ea typeface="+mn-ea"/>
                <a:cs typeface="+mn-cs"/>
              </a:rPr>
              <a:t>每增加</a:t>
            </a:r>
            <a:r>
              <a:rPr lang="en-US" altLang="zh-CN" sz="1200" b="0" i="0" u="none" strike="noStrike" kern="1200" dirty="0">
                <a:solidFill>
                  <a:schemeClr val="tx1"/>
                </a:solidFill>
                <a:effectLst/>
                <a:latin typeface="+mn-lt"/>
                <a:ea typeface="+mn-ea"/>
                <a:cs typeface="+mn-cs"/>
              </a:rPr>
              <a:t>1</a:t>
            </a:r>
            <a:r>
              <a:rPr lang="zh-CN" altLang="en-US" sz="1200" b="0"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PPP</a:t>
            </a:r>
            <a:r>
              <a:rPr lang="zh-CN" altLang="en-US" sz="1200" b="0" i="0" u="none" strike="noStrike" kern="1200" dirty="0">
                <a:solidFill>
                  <a:schemeClr val="tx1"/>
                </a:solidFill>
                <a:effectLst/>
                <a:latin typeface="+mn-lt"/>
                <a:ea typeface="+mn-ea"/>
                <a:cs typeface="+mn-cs"/>
              </a:rPr>
              <a:t>美元），寿命预期提高约</a:t>
            </a:r>
            <a:r>
              <a:rPr lang="en-US" altLang="zh-CN" sz="1200" b="0" i="0" u="none" strike="noStrike" kern="1200" dirty="0">
                <a:solidFill>
                  <a:schemeClr val="tx1"/>
                </a:solidFill>
                <a:effectLst/>
                <a:latin typeface="+mn-lt"/>
                <a:ea typeface="+mn-ea"/>
                <a:cs typeface="+mn-cs"/>
              </a:rPr>
              <a:t>0.000056</a:t>
            </a:r>
            <a:r>
              <a:rPr lang="zh-CN" altLang="en-US" sz="1200" b="0" i="0" u="none" strike="noStrike" kern="1200" dirty="0">
                <a:solidFill>
                  <a:schemeClr val="tx1"/>
                </a:solidFill>
                <a:effectLst/>
                <a:latin typeface="+mn-lt"/>
                <a:ea typeface="+mn-ea"/>
                <a:cs typeface="+mn-cs"/>
              </a:rPr>
              <a:t>年。</a:t>
            </a:r>
          </a:p>
          <a:p>
            <a:r>
              <a:rPr lang="zh-CN" altLang="en-US" sz="1200" b="0" i="0" u="none" strike="noStrike" kern="1200" dirty="0">
                <a:solidFill>
                  <a:schemeClr val="tx1"/>
                </a:solidFill>
                <a:effectLst/>
                <a:latin typeface="+mn-lt"/>
                <a:ea typeface="+mn-ea"/>
                <a:cs typeface="+mn-cs"/>
              </a:rPr>
              <a:t>溢出效应（</a:t>
            </a:r>
            <a:r>
              <a:rPr lang="en-GB" sz="1200" b="0" i="0" u="none" strike="noStrike" kern="1200" dirty="0">
                <a:solidFill>
                  <a:schemeClr val="tx1"/>
                </a:solidFill>
                <a:effectLst/>
                <a:latin typeface="+mn-lt"/>
                <a:ea typeface="+mn-ea"/>
                <a:cs typeface="+mn-cs"/>
              </a:rPr>
              <a:t>Spillover Effects）</a:t>
            </a:r>
          </a:p>
          <a:p>
            <a:r>
              <a:rPr lang="zh-CN" altLang="en-US" sz="1200" b="0" i="0" u="none" strike="noStrike" kern="1200" dirty="0">
                <a:solidFill>
                  <a:schemeClr val="tx1"/>
                </a:solidFill>
                <a:effectLst/>
                <a:latin typeface="+mn-lt"/>
                <a:ea typeface="+mn-ea"/>
                <a:cs typeface="+mn-cs"/>
              </a:rPr>
              <a:t>邻域人均</a:t>
            </a:r>
            <a:r>
              <a:rPr lang="en-GB" sz="1200" b="0" i="0" u="none" strike="noStrike" kern="1200" dirty="0">
                <a:solidFill>
                  <a:schemeClr val="tx1"/>
                </a:solidFill>
                <a:effectLst/>
                <a:latin typeface="+mn-lt"/>
                <a:ea typeface="+mn-ea"/>
                <a:cs typeface="+mn-cs"/>
              </a:rPr>
              <a:t>GDP</a:t>
            </a:r>
            <a:r>
              <a:rPr lang="zh-CN" altLang="en-US" sz="1200" b="0" i="0" u="none" strike="noStrike" kern="1200" dirty="0">
                <a:solidFill>
                  <a:schemeClr val="tx1"/>
                </a:solidFill>
                <a:effectLst/>
                <a:latin typeface="+mn-lt"/>
                <a:ea typeface="+mn-ea"/>
                <a:cs typeface="+mn-cs"/>
              </a:rPr>
              <a:t>的滞后项（</a:t>
            </a:r>
            <a:r>
              <a:rPr lang="en-GB" sz="1200" b="0" i="0" u="none" strike="noStrike" kern="1200" dirty="0">
                <a:solidFill>
                  <a:schemeClr val="tx1"/>
                </a:solidFill>
                <a:effectLst/>
                <a:latin typeface="+mn-lt"/>
                <a:ea typeface="+mn-ea"/>
                <a:cs typeface="+mn-cs"/>
              </a:rPr>
              <a:t>M·GDP）</a:t>
            </a:r>
            <a:r>
              <a:rPr lang="zh-CN" altLang="en-US" sz="1200" b="0" i="0" u="none" strike="noStrike" kern="1200" dirty="0">
                <a:solidFill>
                  <a:schemeClr val="tx1"/>
                </a:solidFill>
                <a:effectLst/>
                <a:latin typeface="+mn-lt"/>
                <a:ea typeface="+mn-ea"/>
                <a:cs typeface="+mn-cs"/>
              </a:rPr>
              <a:t>系数为</a:t>
            </a:r>
            <a:r>
              <a:rPr lang="en-US" altLang="zh-CN" sz="1200" b="0" i="0" u="none" strike="noStrike" kern="1200" dirty="0">
                <a:solidFill>
                  <a:schemeClr val="tx1"/>
                </a:solidFill>
                <a:effectLst/>
                <a:latin typeface="+mn-lt"/>
                <a:ea typeface="+mn-ea"/>
                <a:cs typeface="+mn-cs"/>
              </a:rPr>
              <a:t>0.0001121</a:t>
            </a:r>
            <a:r>
              <a:rPr lang="zh-CN" altLang="en-US" sz="1200" b="0"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z=1.35，p=0.176），</a:t>
            </a:r>
            <a:r>
              <a:rPr lang="zh-CN" altLang="en-US" sz="1200" b="0" i="0" u="none" strike="noStrike" kern="1200" dirty="0">
                <a:solidFill>
                  <a:schemeClr val="tx1"/>
                </a:solidFill>
                <a:effectLst/>
                <a:latin typeface="+mn-lt"/>
                <a:ea typeface="+mn-ea"/>
                <a:cs typeface="+mn-cs"/>
              </a:rPr>
              <a:t>虽呈正向，但在</a:t>
            </a:r>
            <a:r>
              <a:rPr lang="en-US" altLang="zh-CN" sz="1200" b="0" i="0" u="none" strike="noStrike" kern="1200" dirty="0">
                <a:solidFill>
                  <a:schemeClr val="tx1"/>
                </a:solidFill>
                <a:effectLst/>
                <a:latin typeface="+mn-lt"/>
                <a:ea typeface="+mn-ea"/>
                <a:cs typeface="+mn-cs"/>
              </a:rPr>
              <a:t>5%</a:t>
            </a:r>
            <a:r>
              <a:rPr lang="zh-CN" altLang="en-US" sz="1200" b="0" i="0" u="none" strike="noStrike" kern="1200" dirty="0">
                <a:solidFill>
                  <a:schemeClr val="tx1"/>
                </a:solidFill>
                <a:effectLst/>
                <a:latin typeface="+mn-lt"/>
                <a:ea typeface="+mn-ea"/>
                <a:cs typeface="+mn-cs"/>
              </a:rPr>
              <a:t>显著性水平下未达显著，表明周边经济水平对本地健康的外溢效应较弱；</a:t>
            </a:r>
          </a:p>
          <a:p>
            <a:r>
              <a:rPr lang="zh-CN" altLang="en-US" sz="1200" b="0" i="0" u="none" strike="noStrike" kern="1200" dirty="0">
                <a:solidFill>
                  <a:schemeClr val="tx1"/>
                </a:solidFill>
                <a:effectLst/>
                <a:latin typeface="+mn-lt"/>
                <a:ea typeface="+mn-ea"/>
                <a:cs typeface="+mn-cs"/>
              </a:rPr>
              <a:t>邻域寿命预期的滞后项（</a:t>
            </a:r>
            <a:r>
              <a:rPr lang="en-GB" sz="1200" b="0" i="0" u="none" strike="noStrike" kern="1200" dirty="0">
                <a:solidFill>
                  <a:schemeClr val="tx1"/>
                </a:solidFill>
                <a:effectLst/>
                <a:latin typeface="+mn-lt"/>
                <a:ea typeface="+mn-ea"/>
                <a:cs typeface="+mn-cs"/>
              </a:rPr>
              <a:t>M·LE）</a:t>
            </a:r>
            <a:r>
              <a:rPr lang="zh-CN" altLang="en-US" sz="1200" b="0" i="0" u="none" strike="noStrike" kern="1200" dirty="0">
                <a:solidFill>
                  <a:schemeClr val="tx1"/>
                </a:solidFill>
                <a:effectLst/>
                <a:latin typeface="+mn-lt"/>
                <a:ea typeface="+mn-ea"/>
                <a:cs typeface="+mn-cs"/>
              </a:rPr>
              <a:t>系数为</a:t>
            </a:r>
            <a:r>
              <a:rPr lang="en-US" altLang="zh-CN" sz="1200" b="0" i="0" u="none" strike="noStrike" kern="1200" dirty="0">
                <a:solidFill>
                  <a:schemeClr val="tx1"/>
                </a:solidFill>
                <a:effectLst/>
                <a:latin typeface="+mn-lt"/>
                <a:ea typeface="+mn-ea"/>
                <a:cs typeface="+mn-cs"/>
              </a:rPr>
              <a:t>–0.0215</a:t>
            </a:r>
            <a:r>
              <a:rPr lang="zh-CN" altLang="en-US" sz="1200" b="0"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z=–0.76，p=0.447），</a:t>
            </a:r>
            <a:r>
              <a:rPr lang="zh-CN" altLang="en-US" sz="1200" b="0" i="0" u="none" strike="noStrike" kern="1200" dirty="0">
                <a:solidFill>
                  <a:schemeClr val="tx1"/>
                </a:solidFill>
                <a:effectLst/>
                <a:latin typeface="+mn-lt"/>
                <a:ea typeface="+mn-ea"/>
                <a:cs typeface="+mn-cs"/>
              </a:rPr>
              <a:t>亦不显著，说明在控制本地教育和收入后，寿命预期本身的空间依赖性有限。</a:t>
            </a:r>
          </a:p>
          <a:p>
            <a:r>
              <a:rPr lang="zh-CN" altLang="en-US" sz="1200" b="0" i="0" u="none" strike="noStrike" kern="1200" dirty="0">
                <a:solidFill>
                  <a:schemeClr val="tx1"/>
                </a:solidFill>
                <a:effectLst/>
                <a:latin typeface="+mn-lt"/>
                <a:ea typeface="+mn-ea"/>
                <a:cs typeface="+mn-cs"/>
              </a:rPr>
              <a:t>空间项联合检验</a:t>
            </a:r>
          </a:p>
          <a:p>
            <a:r>
              <a:rPr lang="en-GB" sz="1200" b="0" i="0" u="none" strike="noStrike" kern="1200" dirty="0">
                <a:solidFill>
                  <a:schemeClr val="tx1"/>
                </a:solidFill>
                <a:effectLst/>
                <a:latin typeface="+mn-lt"/>
                <a:ea typeface="+mn-ea"/>
                <a:cs typeface="+mn-cs"/>
              </a:rPr>
              <a:t>Wald</a:t>
            </a:r>
            <a:r>
              <a:rPr lang="zh-CN" altLang="en-US" sz="1200" b="0" i="0" u="none" strike="noStrike" kern="1200" dirty="0">
                <a:solidFill>
                  <a:schemeClr val="tx1"/>
                </a:solidFill>
                <a:effectLst/>
                <a:latin typeface="+mn-lt"/>
                <a:ea typeface="+mn-ea"/>
                <a:cs typeface="+mn-cs"/>
              </a:rPr>
              <a:t>检验空间滞后项和</a:t>
            </a:r>
            <a:r>
              <a:rPr lang="en-GB" sz="1200" b="0" i="0" u="none" strike="noStrike" kern="1200" dirty="0">
                <a:solidFill>
                  <a:schemeClr val="tx1"/>
                </a:solidFill>
                <a:effectLst/>
                <a:latin typeface="+mn-lt"/>
                <a:ea typeface="+mn-ea"/>
                <a:cs typeface="+mn-cs"/>
              </a:rPr>
              <a:t>Durbin</a:t>
            </a:r>
            <a:r>
              <a:rPr lang="zh-CN" altLang="en-US" sz="1200" b="0" i="0" u="none" strike="noStrike" kern="1200" dirty="0">
                <a:solidFill>
                  <a:schemeClr val="tx1"/>
                </a:solidFill>
                <a:effectLst/>
                <a:latin typeface="+mn-lt"/>
                <a:ea typeface="+mn-ea"/>
                <a:cs typeface="+mn-cs"/>
              </a:rPr>
              <a:t>项联合</a:t>
            </a:r>
            <a:r>
              <a:rPr lang="el-GR" sz="1200" b="0" i="0" u="none" strike="noStrike" kern="1200" dirty="0">
                <a:solidFill>
                  <a:schemeClr val="tx1"/>
                </a:solidFill>
                <a:effectLst/>
                <a:latin typeface="+mn-lt"/>
                <a:ea typeface="+mn-ea"/>
                <a:cs typeface="+mn-cs"/>
              </a:rPr>
              <a:t>χ²(2)=4.93，</a:t>
            </a:r>
            <a:r>
              <a:rPr lang="en-GB" sz="1200" b="0" i="0" u="none" strike="noStrike" kern="1200" dirty="0">
                <a:solidFill>
                  <a:schemeClr val="tx1"/>
                </a:solidFill>
                <a:effectLst/>
                <a:latin typeface="+mn-lt"/>
                <a:ea typeface="+mn-ea"/>
                <a:cs typeface="+mn-cs"/>
              </a:rPr>
              <a:t>p=0.0849，</a:t>
            </a:r>
            <a:r>
              <a:rPr lang="zh-CN" altLang="en-US" sz="1200" b="0" i="0" u="none" strike="noStrike" kern="1200" dirty="0">
                <a:solidFill>
                  <a:schemeClr val="tx1"/>
                </a:solidFill>
                <a:effectLst/>
                <a:latin typeface="+mn-lt"/>
                <a:ea typeface="+mn-ea"/>
                <a:cs typeface="+mn-cs"/>
              </a:rPr>
              <a:t>在</a:t>
            </a:r>
            <a:r>
              <a:rPr lang="en-US" altLang="zh-CN" sz="1200" b="0" i="0" u="none" strike="noStrike" kern="1200" dirty="0">
                <a:solidFill>
                  <a:schemeClr val="tx1"/>
                </a:solidFill>
                <a:effectLst/>
                <a:latin typeface="+mn-lt"/>
                <a:ea typeface="+mn-ea"/>
                <a:cs typeface="+mn-cs"/>
              </a:rPr>
              <a:t>10%</a:t>
            </a:r>
            <a:r>
              <a:rPr lang="zh-CN" altLang="en-US" sz="1200" b="0" i="0" u="none" strike="noStrike" kern="1200" dirty="0">
                <a:solidFill>
                  <a:schemeClr val="tx1"/>
                </a:solidFill>
                <a:effectLst/>
                <a:latin typeface="+mn-lt"/>
                <a:ea typeface="+mn-ea"/>
                <a:cs typeface="+mn-cs"/>
              </a:rPr>
              <a:t>水平上边缘显著，暗示总体上可能存在一定的空间溢出，但力度不强。</a:t>
            </a:r>
          </a:p>
          <a:p>
            <a:r>
              <a:rPr lang="zh-CN" altLang="en-US" sz="1200" b="0" i="0" u="none" strike="noStrike" kern="1200" dirty="0">
                <a:solidFill>
                  <a:schemeClr val="tx1"/>
                </a:solidFill>
                <a:effectLst/>
                <a:latin typeface="+mn-lt"/>
                <a:ea typeface="+mn-ea"/>
                <a:cs typeface="+mn-cs"/>
              </a:rPr>
              <a:t>政策启示</a:t>
            </a:r>
          </a:p>
          <a:p>
            <a:r>
              <a:rPr lang="zh-CN" altLang="en-US" sz="1200" b="0" i="0" u="none" strike="noStrike" kern="1200" dirty="0">
                <a:solidFill>
                  <a:schemeClr val="tx1"/>
                </a:solidFill>
                <a:effectLst/>
                <a:latin typeface="+mn-lt"/>
                <a:ea typeface="+mn-ea"/>
                <a:cs typeface="+mn-cs"/>
              </a:rPr>
              <a:t>本地教育和经济发展对提升寿命预期的直接作用显著，应继续加大投入；</a:t>
            </a:r>
          </a:p>
          <a:p>
            <a:r>
              <a:rPr lang="zh-CN" altLang="en-US" sz="1200" b="0" i="0" u="none" strike="noStrike" kern="1200" dirty="0">
                <a:solidFill>
                  <a:schemeClr val="tx1"/>
                </a:solidFill>
                <a:effectLst/>
                <a:latin typeface="+mn-lt"/>
                <a:ea typeface="+mn-ea"/>
                <a:cs typeface="+mn-cs"/>
              </a:rPr>
              <a:t>由于邻域溢出效应有限，仅依赖省际溢出难以显著缩小健康差距，建议加强跨省公共卫生协作与资源共享，通过区域联防联控与协同项目来放大整体效益。</a:t>
            </a:r>
          </a:p>
          <a:p>
            <a:endParaRPr lang="en-GB" dirty="0"/>
          </a:p>
        </p:txBody>
      </p:sp>
      <p:sp>
        <p:nvSpPr>
          <p:cNvPr id="4" name="Slide Number Placeholder 3"/>
          <p:cNvSpPr>
            <a:spLocks noGrp="1"/>
          </p:cNvSpPr>
          <p:nvPr>
            <p:ph type="sldNum" sz="quarter" idx="5"/>
          </p:nvPr>
        </p:nvSpPr>
        <p:spPr/>
        <p:txBody>
          <a:bodyPr/>
          <a:lstStyle/>
          <a:p>
            <a:fld id="{6AA0D926-0B64-594E-9DCE-66112001AC28}" type="slidenum">
              <a:rPr lang="en-GB" smtClean="0"/>
              <a:t>8</a:t>
            </a:fld>
            <a:endParaRPr lang="en-GB"/>
          </a:p>
        </p:txBody>
      </p:sp>
    </p:spTree>
    <p:extLst>
      <p:ext uri="{BB962C8B-B14F-4D97-AF65-F5344CB8AC3E}">
        <p14:creationId xmlns:p14="http://schemas.microsoft.com/office/powerpoint/2010/main" val="34683318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b="0" i="0" u="none" strike="noStrike" kern="1200" dirty="0">
                <a:solidFill>
                  <a:schemeClr val="tx1"/>
                </a:solidFill>
                <a:effectLst/>
                <a:latin typeface="+mn-lt"/>
                <a:ea typeface="+mn-ea"/>
                <a:cs typeface="+mn-cs"/>
              </a:rPr>
              <a:t>在前面介绍了</a:t>
            </a:r>
            <a:r>
              <a:rPr lang="en-GB" sz="1200" b="0" i="0" u="none" strike="noStrike" kern="1200" dirty="0">
                <a:solidFill>
                  <a:schemeClr val="tx1"/>
                </a:solidFill>
                <a:effectLst/>
                <a:latin typeface="+mn-lt"/>
                <a:ea typeface="+mn-ea"/>
                <a:cs typeface="+mn-cs"/>
              </a:rPr>
              <a:t>OLS</a:t>
            </a:r>
            <a:r>
              <a:rPr lang="zh-CN" altLang="en-US" sz="1200" b="0" i="0" u="none" strike="noStrike" kern="1200" dirty="0">
                <a:solidFill>
                  <a:schemeClr val="tx1"/>
                </a:solidFill>
                <a:effectLst/>
                <a:latin typeface="+mn-lt"/>
                <a:ea typeface="+mn-ea"/>
                <a:cs typeface="+mn-cs"/>
              </a:rPr>
              <a:t>模型、空间滞后模型和空间误差模型之后，下面我向大家汇报第四种模型的估计结果。该模型为空间混合模型，既纳入自变量的空间滞后项，也考虑了残差项的空间自相关。</a:t>
            </a:r>
          </a:p>
          <a:p>
            <a:r>
              <a:rPr lang="en-US" altLang="zh-CN" sz="1200" b="0" i="0" u="none" strike="noStrike" kern="1200" dirty="0">
                <a:solidFill>
                  <a:schemeClr val="tx1"/>
                </a:solidFill>
                <a:effectLst/>
                <a:latin typeface="+mn-lt"/>
                <a:ea typeface="+mn-ea"/>
                <a:cs typeface="+mn-cs"/>
              </a:rPr>
              <a:t>1 </a:t>
            </a:r>
            <a:r>
              <a:rPr lang="zh-CN" altLang="en-US" sz="1200" b="0" i="0" u="none" strike="noStrike" kern="1200" dirty="0">
                <a:solidFill>
                  <a:schemeClr val="tx1"/>
                </a:solidFill>
                <a:effectLst/>
                <a:latin typeface="+mn-lt"/>
                <a:ea typeface="+mn-ea"/>
                <a:cs typeface="+mn-cs"/>
              </a:rPr>
              <a:t>模型概况</a:t>
            </a:r>
            <a:br>
              <a:rPr lang="zh-CN" altLang="en-US" sz="1200" b="0" i="0" u="none" strike="noStrike" kern="1200" dirty="0">
                <a:solidFill>
                  <a:schemeClr val="tx1"/>
                </a:solidFill>
                <a:effectLst/>
                <a:latin typeface="+mn-lt"/>
                <a:ea typeface="+mn-ea"/>
                <a:cs typeface="+mn-cs"/>
              </a:rPr>
            </a:br>
            <a:r>
              <a:rPr lang="zh-CN" altLang="en-US" sz="1200" b="0" i="0" u="none" strike="noStrike" kern="1200" dirty="0">
                <a:solidFill>
                  <a:schemeClr val="tx1"/>
                </a:solidFill>
                <a:effectLst/>
                <a:latin typeface="+mn-lt"/>
                <a:ea typeface="+mn-ea"/>
                <a:cs typeface="+mn-cs"/>
              </a:rPr>
              <a:t>本模型基于</a:t>
            </a:r>
            <a:r>
              <a:rPr lang="en-GB" sz="1200" b="0" i="0" u="none" strike="noStrike" kern="1200" dirty="0">
                <a:solidFill>
                  <a:schemeClr val="tx1"/>
                </a:solidFill>
                <a:effectLst/>
                <a:latin typeface="+mn-lt"/>
                <a:ea typeface="+mn-ea"/>
                <a:cs typeface="+mn-cs"/>
              </a:rPr>
              <a:t>GS2SLS</a:t>
            </a:r>
            <a:r>
              <a:rPr lang="zh-CN" altLang="en-US" sz="1200" b="0" i="0" u="none" strike="noStrike" kern="1200" dirty="0">
                <a:solidFill>
                  <a:schemeClr val="tx1"/>
                </a:solidFill>
                <a:effectLst/>
                <a:latin typeface="+mn-lt"/>
                <a:ea typeface="+mn-ea"/>
                <a:cs typeface="+mn-cs"/>
              </a:rPr>
              <a:t>估计，共包含</a:t>
            </a:r>
            <a:r>
              <a:rPr lang="en-US" altLang="zh-CN" sz="1200" b="0" i="0" u="none" strike="noStrike" kern="1200" dirty="0">
                <a:solidFill>
                  <a:schemeClr val="tx1"/>
                </a:solidFill>
                <a:effectLst/>
                <a:latin typeface="+mn-lt"/>
                <a:ea typeface="+mn-ea"/>
                <a:cs typeface="+mn-cs"/>
              </a:rPr>
              <a:t>31</a:t>
            </a:r>
            <a:r>
              <a:rPr lang="zh-CN" altLang="en-US" sz="1200" b="0" i="0" u="none" strike="noStrike" kern="1200" dirty="0">
                <a:solidFill>
                  <a:schemeClr val="tx1"/>
                </a:solidFill>
                <a:effectLst/>
                <a:latin typeface="+mn-lt"/>
                <a:ea typeface="+mn-ea"/>
                <a:cs typeface="+mn-cs"/>
              </a:rPr>
              <a:t>个省级观测值。伪</a:t>
            </a:r>
            <a:r>
              <a:rPr lang="en-GB" sz="1200" b="0" i="0" u="none" strike="noStrike" kern="1200" dirty="0">
                <a:solidFill>
                  <a:schemeClr val="tx1"/>
                </a:solidFill>
                <a:effectLst/>
                <a:latin typeface="+mn-lt"/>
                <a:ea typeface="+mn-ea"/>
                <a:cs typeface="+mn-cs"/>
              </a:rPr>
              <a:t>R²</a:t>
            </a:r>
            <a:r>
              <a:rPr lang="zh-CN" altLang="en-US" sz="1200" b="0" i="0" u="none" strike="noStrike" kern="1200" dirty="0">
                <a:solidFill>
                  <a:schemeClr val="tx1"/>
                </a:solidFill>
                <a:effectLst/>
                <a:latin typeface="+mn-lt"/>
                <a:ea typeface="+mn-ea"/>
                <a:cs typeface="+mn-cs"/>
              </a:rPr>
              <a:t>达到</a:t>
            </a:r>
            <a:r>
              <a:rPr lang="en-US" altLang="zh-CN" sz="1200" b="0" i="0" u="none" strike="noStrike" kern="1200" dirty="0">
                <a:solidFill>
                  <a:schemeClr val="tx1"/>
                </a:solidFill>
                <a:effectLst/>
                <a:latin typeface="+mn-lt"/>
                <a:ea typeface="+mn-ea"/>
                <a:cs typeface="+mn-cs"/>
              </a:rPr>
              <a:t>0.8458</a:t>
            </a:r>
            <a:r>
              <a:rPr lang="zh-CN" altLang="en-US" sz="1200" b="0" i="0" u="none" strike="noStrike" kern="1200" dirty="0">
                <a:solidFill>
                  <a:schemeClr val="tx1"/>
                </a:solidFill>
                <a:effectLst/>
                <a:latin typeface="+mn-lt"/>
                <a:ea typeface="+mn-ea"/>
                <a:cs typeface="+mn-cs"/>
              </a:rPr>
              <a:t>，高于前述各模型，</a:t>
            </a:r>
            <a:r>
              <a:rPr lang="en-GB" sz="1200" b="0" i="0" u="none" strike="noStrike" kern="1200" dirty="0">
                <a:solidFill>
                  <a:schemeClr val="tx1"/>
                </a:solidFill>
                <a:effectLst/>
                <a:latin typeface="+mn-lt"/>
                <a:ea typeface="+mn-ea"/>
                <a:cs typeface="+mn-cs"/>
              </a:rPr>
              <a:t>Wald </a:t>
            </a:r>
            <a:r>
              <a:rPr lang="el-GR" sz="1200" b="0" i="0" u="none" strike="noStrike" kern="1200" dirty="0">
                <a:solidFill>
                  <a:schemeClr val="tx1"/>
                </a:solidFill>
                <a:effectLst/>
                <a:latin typeface="+mn-lt"/>
                <a:ea typeface="+mn-ea"/>
                <a:cs typeface="+mn-cs"/>
              </a:rPr>
              <a:t>χ²(4)=134.10，</a:t>
            </a:r>
            <a:r>
              <a:rPr lang="zh-CN" altLang="en-US" sz="1200" b="0" i="0" u="none" strike="noStrike" kern="1200" dirty="0">
                <a:solidFill>
                  <a:schemeClr val="tx1"/>
                </a:solidFill>
                <a:effectLst/>
                <a:latin typeface="+mn-lt"/>
                <a:ea typeface="+mn-ea"/>
                <a:cs typeface="+mn-cs"/>
              </a:rPr>
              <a:t>对应</a:t>
            </a:r>
            <a:r>
              <a:rPr lang="en-GB" sz="1200" b="0" i="0" u="none" strike="noStrike" kern="1200" dirty="0">
                <a:solidFill>
                  <a:schemeClr val="tx1"/>
                </a:solidFill>
                <a:effectLst/>
                <a:latin typeface="+mn-lt"/>
                <a:ea typeface="+mn-ea"/>
                <a:cs typeface="+mn-cs"/>
              </a:rPr>
              <a:t>p&lt;0.001，</a:t>
            </a:r>
            <a:r>
              <a:rPr lang="zh-CN" altLang="en-US" sz="1200" b="0" i="0" u="none" strike="noStrike" kern="1200" dirty="0">
                <a:solidFill>
                  <a:schemeClr val="tx1"/>
                </a:solidFill>
                <a:effectLst/>
                <a:latin typeface="+mn-lt"/>
                <a:ea typeface="+mn-ea"/>
                <a:cs typeface="+mn-cs"/>
              </a:rPr>
              <a:t>表明所有自变量及空间项对寿命预期具有联合显著解释力。</a:t>
            </a:r>
          </a:p>
          <a:p>
            <a:r>
              <a:rPr lang="en-US" altLang="zh-CN" sz="1200" b="0" i="0" u="none" strike="noStrike" kern="1200" dirty="0">
                <a:solidFill>
                  <a:schemeClr val="tx1"/>
                </a:solidFill>
                <a:effectLst/>
                <a:latin typeface="+mn-lt"/>
                <a:ea typeface="+mn-ea"/>
                <a:cs typeface="+mn-cs"/>
              </a:rPr>
              <a:t>2 </a:t>
            </a:r>
            <a:r>
              <a:rPr lang="zh-CN" altLang="en-US" sz="1200" b="0" i="0" u="none" strike="noStrike" kern="1200" dirty="0">
                <a:solidFill>
                  <a:schemeClr val="tx1"/>
                </a:solidFill>
                <a:effectLst/>
                <a:latin typeface="+mn-lt"/>
                <a:ea typeface="+mn-ea"/>
                <a:cs typeface="+mn-cs"/>
              </a:rPr>
              <a:t>直接效应</a:t>
            </a:r>
          </a:p>
          <a:p>
            <a:r>
              <a:rPr lang="zh-CN" altLang="en-US" sz="1200" b="0" i="0" u="none" strike="noStrike" kern="1200" dirty="0">
                <a:solidFill>
                  <a:schemeClr val="tx1"/>
                </a:solidFill>
                <a:effectLst/>
                <a:latin typeface="+mn-lt"/>
                <a:ea typeface="+mn-ea"/>
                <a:cs typeface="+mn-cs"/>
              </a:rPr>
              <a:t>平均受教育年限（</a:t>
            </a:r>
            <a:r>
              <a:rPr lang="en-GB" sz="1200" b="0" i="0" u="none" strike="noStrike" kern="1200" dirty="0">
                <a:solidFill>
                  <a:schemeClr val="tx1"/>
                </a:solidFill>
                <a:effectLst/>
                <a:latin typeface="+mn-lt"/>
                <a:ea typeface="+mn-ea"/>
                <a:cs typeface="+mn-cs"/>
              </a:rPr>
              <a:t>Edu）</a:t>
            </a:r>
            <a:r>
              <a:rPr lang="zh-CN" altLang="en-US" sz="1200" b="0" i="0" u="none" strike="noStrike" kern="1200" dirty="0">
                <a:solidFill>
                  <a:schemeClr val="tx1"/>
                </a:solidFill>
                <a:effectLst/>
                <a:latin typeface="+mn-lt"/>
                <a:ea typeface="+mn-ea"/>
                <a:cs typeface="+mn-cs"/>
              </a:rPr>
              <a:t>系数为</a:t>
            </a:r>
            <a:r>
              <a:rPr lang="en-US" altLang="zh-CN" sz="1200" b="0" i="0" u="none" strike="noStrike" kern="1200" dirty="0">
                <a:solidFill>
                  <a:schemeClr val="tx1"/>
                </a:solidFill>
                <a:effectLst/>
                <a:latin typeface="+mn-lt"/>
                <a:ea typeface="+mn-ea"/>
                <a:cs typeface="+mn-cs"/>
              </a:rPr>
              <a:t>1.9816</a:t>
            </a:r>
            <a:r>
              <a:rPr lang="zh-CN" altLang="en-US" sz="1200" b="0"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z=7.13，p&lt;0.001）；</a:t>
            </a:r>
            <a:br>
              <a:rPr lang="en-GB" sz="1200" b="0" i="0" u="none" strike="noStrike" kern="1200" dirty="0">
                <a:solidFill>
                  <a:schemeClr val="tx1"/>
                </a:solidFill>
                <a:effectLst/>
                <a:latin typeface="+mn-lt"/>
                <a:ea typeface="+mn-ea"/>
                <a:cs typeface="+mn-cs"/>
              </a:rPr>
            </a:br>
            <a:r>
              <a:rPr lang="zh-CN" altLang="en-US" sz="1200" b="0" i="0" u="none" strike="noStrike" kern="1200" dirty="0">
                <a:solidFill>
                  <a:schemeClr val="tx1"/>
                </a:solidFill>
                <a:effectLst/>
                <a:latin typeface="+mn-lt"/>
                <a:ea typeface="+mn-ea"/>
                <a:cs typeface="+mn-cs"/>
              </a:rPr>
              <a:t>表明本省教育年限每增加一年，寿命预期平均提高约</a:t>
            </a:r>
            <a:r>
              <a:rPr lang="en-US" altLang="zh-CN" sz="1200" b="0" i="0" u="none" strike="noStrike" kern="1200" dirty="0">
                <a:solidFill>
                  <a:schemeClr val="tx1"/>
                </a:solidFill>
                <a:effectLst/>
                <a:latin typeface="+mn-lt"/>
                <a:ea typeface="+mn-ea"/>
                <a:cs typeface="+mn-cs"/>
              </a:rPr>
              <a:t>1.98</a:t>
            </a:r>
            <a:r>
              <a:rPr lang="zh-CN" altLang="en-US" sz="1200" b="0" i="0" u="none" strike="noStrike" kern="1200" dirty="0">
                <a:solidFill>
                  <a:schemeClr val="tx1"/>
                </a:solidFill>
                <a:effectLst/>
                <a:latin typeface="+mn-lt"/>
                <a:ea typeface="+mn-ea"/>
                <a:cs typeface="+mn-cs"/>
              </a:rPr>
              <a:t>年。</a:t>
            </a:r>
          </a:p>
          <a:p>
            <a:r>
              <a:rPr lang="zh-CN" altLang="en-US" sz="1200" b="0" i="0" u="none" strike="noStrike" kern="1200" dirty="0">
                <a:solidFill>
                  <a:schemeClr val="tx1"/>
                </a:solidFill>
                <a:effectLst/>
                <a:latin typeface="+mn-lt"/>
                <a:ea typeface="+mn-ea"/>
                <a:cs typeface="+mn-cs"/>
              </a:rPr>
              <a:t>人均</a:t>
            </a:r>
            <a:r>
              <a:rPr lang="en-GB" sz="1200" b="0" i="0" u="none" strike="noStrike" kern="1200" dirty="0">
                <a:solidFill>
                  <a:schemeClr val="tx1"/>
                </a:solidFill>
                <a:effectLst/>
                <a:latin typeface="+mn-lt"/>
                <a:ea typeface="+mn-ea"/>
                <a:cs typeface="+mn-cs"/>
              </a:rPr>
              <a:t>GDP（GDP）</a:t>
            </a:r>
            <a:r>
              <a:rPr lang="zh-CN" altLang="en-US" sz="1200" b="0" i="0" u="none" strike="noStrike" kern="1200" dirty="0">
                <a:solidFill>
                  <a:schemeClr val="tx1"/>
                </a:solidFill>
                <a:effectLst/>
                <a:latin typeface="+mn-lt"/>
                <a:ea typeface="+mn-ea"/>
                <a:cs typeface="+mn-cs"/>
              </a:rPr>
              <a:t>系数为</a:t>
            </a:r>
            <a:r>
              <a:rPr lang="en-US" altLang="zh-CN" sz="1200" b="0" i="0" u="none" strike="noStrike" kern="1200" dirty="0">
                <a:solidFill>
                  <a:schemeClr val="tx1"/>
                </a:solidFill>
                <a:effectLst/>
                <a:latin typeface="+mn-lt"/>
                <a:ea typeface="+mn-ea"/>
                <a:cs typeface="+mn-cs"/>
              </a:rPr>
              <a:t>0.0000505</a:t>
            </a:r>
            <a:r>
              <a:rPr lang="zh-CN" altLang="en-US" sz="1200" b="0"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z=1.88，p=0.060）；</a:t>
            </a:r>
            <a:br>
              <a:rPr lang="en-GB" sz="1200" b="0" i="0" u="none" strike="noStrike" kern="1200" dirty="0">
                <a:solidFill>
                  <a:schemeClr val="tx1"/>
                </a:solidFill>
                <a:effectLst/>
                <a:latin typeface="+mn-lt"/>
                <a:ea typeface="+mn-ea"/>
                <a:cs typeface="+mn-cs"/>
              </a:rPr>
            </a:br>
            <a:r>
              <a:rPr lang="zh-CN" altLang="en-US" sz="1200" b="0" i="0" u="none" strike="noStrike" kern="1200" dirty="0">
                <a:solidFill>
                  <a:schemeClr val="tx1"/>
                </a:solidFill>
                <a:effectLst/>
                <a:latin typeface="+mn-lt"/>
                <a:ea typeface="+mn-ea"/>
                <a:cs typeface="+mn-cs"/>
              </a:rPr>
              <a:t>虽然在</a:t>
            </a:r>
            <a:r>
              <a:rPr lang="en-US" altLang="zh-CN" sz="1200" b="0" i="0" u="none" strike="noStrike" kern="1200" dirty="0">
                <a:solidFill>
                  <a:schemeClr val="tx1"/>
                </a:solidFill>
                <a:effectLst/>
                <a:latin typeface="+mn-lt"/>
                <a:ea typeface="+mn-ea"/>
                <a:cs typeface="+mn-cs"/>
              </a:rPr>
              <a:t>5</a:t>
            </a:r>
            <a:r>
              <a:rPr lang="zh-CN" altLang="en-US" sz="1200" b="0" i="0" u="none" strike="noStrike" kern="1200" dirty="0">
                <a:solidFill>
                  <a:schemeClr val="tx1"/>
                </a:solidFill>
                <a:effectLst/>
                <a:latin typeface="+mn-lt"/>
                <a:ea typeface="+mn-ea"/>
                <a:cs typeface="+mn-cs"/>
              </a:rPr>
              <a:t>％显著性水平上略未达标，但接近边界，暗示收入每增加</a:t>
            </a:r>
            <a:r>
              <a:rPr lang="en-US" altLang="zh-CN" sz="1200" b="0" i="0" u="none" strike="noStrike" kern="1200" dirty="0">
                <a:solidFill>
                  <a:schemeClr val="tx1"/>
                </a:solidFill>
                <a:effectLst/>
                <a:latin typeface="+mn-lt"/>
                <a:ea typeface="+mn-ea"/>
                <a:cs typeface="+mn-cs"/>
              </a:rPr>
              <a:t>1</a:t>
            </a:r>
            <a:r>
              <a:rPr lang="zh-CN" altLang="en-US" sz="1200" b="0"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PPP</a:t>
            </a:r>
            <a:r>
              <a:rPr lang="zh-CN" altLang="en-US" sz="1200" b="0" i="0" u="none" strike="noStrike" kern="1200" dirty="0">
                <a:solidFill>
                  <a:schemeClr val="tx1"/>
                </a:solidFill>
                <a:effectLst/>
                <a:latin typeface="+mn-lt"/>
                <a:ea typeface="+mn-ea"/>
                <a:cs typeface="+mn-cs"/>
              </a:rPr>
              <a:t>美元），寿命预期可提高约</a:t>
            </a:r>
            <a:r>
              <a:rPr lang="en-US" altLang="zh-CN" sz="1200" b="0" i="0" u="none" strike="noStrike" kern="1200" dirty="0">
                <a:solidFill>
                  <a:schemeClr val="tx1"/>
                </a:solidFill>
                <a:effectLst/>
                <a:latin typeface="+mn-lt"/>
                <a:ea typeface="+mn-ea"/>
                <a:cs typeface="+mn-cs"/>
              </a:rPr>
              <a:t>0.00005</a:t>
            </a:r>
            <a:r>
              <a:rPr lang="zh-CN" altLang="en-US" sz="1200" b="0" i="0" u="none" strike="noStrike" kern="1200" dirty="0">
                <a:solidFill>
                  <a:schemeClr val="tx1"/>
                </a:solidFill>
                <a:effectLst/>
                <a:latin typeface="+mn-lt"/>
                <a:ea typeface="+mn-ea"/>
                <a:cs typeface="+mn-cs"/>
              </a:rPr>
              <a:t>年。</a:t>
            </a:r>
          </a:p>
          <a:p>
            <a:r>
              <a:rPr lang="en-US" altLang="zh-CN" sz="1200" b="0" i="0" u="none" strike="noStrike" kern="1200" dirty="0">
                <a:solidFill>
                  <a:schemeClr val="tx1"/>
                </a:solidFill>
                <a:effectLst/>
                <a:latin typeface="+mn-lt"/>
                <a:ea typeface="+mn-ea"/>
                <a:cs typeface="+mn-cs"/>
              </a:rPr>
              <a:t>3 </a:t>
            </a:r>
            <a:r>
              <a:rPr lang="zh-CN" altLang="en-US" sz="1200" b="0" i="0" u="none" strike="noStrike" kern="1200" dirty="0">
                <a:solidFill>
                  <a:schemeClr val="tx1"/>
                </a:solidFill>
                <a:effectLst/>
                <a:latin typeface="+mn-lt"/>
                <a:ea typeface="+mn-ea"/>
                <a:cs typeface="+mn-cs"/>
              </a:rPr>
              <a:t>空间溢出效应</a:t>
            </a:r>
          </a:p>
          <a:p>
            <a:r>
              <a:rPr lang="zh-CN" altLang="en-US" sz="1200" b="0" i="0" u="none" strike="noStrike" kern="1200" dirty="0">
                <a:solidFill>
                  <a:schemeClr val="tx1"/>
                </a:solidFill>
                <a:effectLst/>
                <a:latin typeface="+mn-lt"/>
                <a:ea typeface="+mn-ea"/>
                <a:cs typeface="+mn-cs"/>
              </a:rPr>
              <a:t>邻域人均</a:t>
            </a:r>
            <a:r>
              <a:rPr lang="en-GB" sz="1200" b="0" i="0" u="none" strike="noStrike" kern="1200" dirty="0">
                <a:solidFill>
                  <a:schemeClr val="tx1"/>
                </a:solidFill>
                <a:effectLst/>
                <a:latin typeface="+mn-lt"/>
                <a:ea typeface="+mn-ea"/>
                <a:cs typeface="+mn-cs"/>
              </a:rPr>
              <a:t>GDP（M·GDP）</a:t>
            </a:r>
            <a:r>
              <a:rPr lang="zh-CN" altLang="en-US" sz="1200" b="0" i="0" u="none" strike="noStrike" kern="1200" dirty="0">
                <a:solidFill>
                  <a:schemeClr val="tx1"/>
                </a:solidFill>
                <a:effectLst/>
                <a:latin typeface="+mn-lt"/>
                <a:ea typeface="+mn-ea"/>
                <a:cs typeface="+mn-cs"/>
              </a:rPr>
              <a:t>系数为</a:t>
            </a:r>
            <a:r>
              <a:rPr lang="en-US" altLang="zh-CN" sz="1200" b="0" i="0" u="none" strike="noStrike" kern="1200" dirty="0">
                <a:solidFill>
                  <a:schemeClr val="tx1"/>
                </a:solidFill>
                <a:effectLst/>
                <a:latin typeface="+mn-lt"/>
                <a:ea typeface="+mn-ea"/>
                <a:cs typeface="+mn-cs"/>
              </a:rPr>
              <a:t>0.0001297</a:t>
            </a:r>
            <a:r>
              <a:rPr lang="zh-CN" altLang="en-US" sz="1200" b="0"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z=1.64，p=0.100）；</a:t>
            </a:r>
            <a:br>
              <a:rPr lang="en-GB" sz="1200" b="0" i="0" u="none" strike="noStrike" kern="1200" dirty="0">
                <a:solidFill>
                  <a:schemeClr val="tx1"/>
                </a:solidFill>
                <a:effectLst/>
                <a:latin typeface="+mn-lt"/>
                <a:ea typeface="+mn-ea"/>
                <a:cs typeface="+mn-cs"/>
              </a:rPr>
            </a:br>
            <a:r>
              <a:rPr lang="zh-CN" altLang="en-US" sz="1200" b="0" i="0" u="none" strike="noStrike" kern="1200" dirty="0">
                <a:solidFill>
                  <a:schemeClr val="tx1"/>
                </a:solidFill>
                <a:effectLst/>
                <a:latin typeface="+mn-lt"/>
                <a:ea typeface="+mn-ea"/>
                <a:cs typeface="+mn-cs"/>
              </a:rPr>
              <a:t>呈正向但未达</a:t>
            </a:r>
            <a:r>
              <a:rPr lang="en-US" altLang="zh-CN" sz="1200" b="0" i="0" u="none" strike="noStrike" kern="1200" dirty="0">
                <a:solidFill>
                  <a:schemeClr val="tx1"/>
                </a:solidFill>
                <a:effectLst/>
                <a:latin typeface="+mn-lt"/>
                <a:ea typeface="+mn-ea"/>
                <a:cs typeface="+mn-cs"/>
              </a:rPr>
              <a:t>5</a:t>
            </a:r>
            <a:r>
              <a:rPr lang="zh-CN" altLang="en-US" sz="1200" b="0" i="0" u="none" strike="noStrike" kern="1200" dirty="0">
                <a:solidFill>
                  <a:schemeClr val="tx1"/>
                </a:solidFill>
                <a:effectLst/>
                <a:latin typeface="+mn-lt"/>
                <a:ea typeface="+mn-ea"/>
                <a:cs typeface="+mn-cs"/>
              </a:rPr>
              <a:t>％显著水平，说明周边经济水平对本地健康的正向外溢作用有限。</a:t>
            </a:r>
          </a:p>
          <a:p>
            <a:r>
              <a:rPr lang="zh-CN" altLang="en-US" sz="1200" b="0" i="0" u="none" strike="noStrike" kern="1200" dirty="0">
                <a:solidFill>
                  <a:schemeClr val="tx1"/>
                </a:solidFill>
                <a:effectLst/>
                <a:latin typeface="+mn-lt"/>
                <a:ea typeface="+mn-ea"/>
                <a:cs typeface="+mn-cs"/>
              </a:rPr>
              <a:t>邻域寿命预期（</a:t>
            </a:r>
            <a:r>
              <a:rPr lang="en-GB" sz="1200" b="0" i="0" u="none" strike="noStrike" kern="1200" dirty="0">
                <a:solidFill>
                  <a:schemeClr val="tx1"/>
                </a:solidFill>
                <a:effectLst/>
                <a:latin typeface="+mn-lt"/>
                <a:ea typeface="+mn-ea"/>
                <a:cs typeface="+mn-cs"/>
              </a:rPr>
              <a:t>M·LE）</a:t>
            </a:r>
            <a:r>
              <a:rPr lang="zh-CN" altLang="en-US" sz="1200" b="0" i="0" u="none" strike="noStrike" kern="1200" dirty="0">
                <a:solidFill>
                  <a:schemeClr val="tx1"/>
                </a:solidFill>
                <a:effectLst/>
                <a:latin typeface="+mn-lt"/>
                <a:ea typeface="+mn-ea"/>
                <a:cs typeface="+mn-cs"/>
              </a:rPr>
              <a:t>系数为</a:t>
            </a:r>
            <a:r>
              <a:rPr lang="en-US" altLang="zh-CN" sz="1200" b="0" i="0" u="none" strike="noStrike" kern="1200" dirty="0">
                <a:solidFill>
                  <a:schemeClr val="tx1"/>
                </a:solidFill>
                <a:effectLst/>
                <a:latin typeface="+mn-lt"/>
                <a:ea typeface="+mn-ea"/>
                <a:cs typeface="+mn-cs"/>
              </a:rPr>
              <a:t>–0.02095</a:t>
            </a:r>
            <a:r>
              <a:rPr lang="zh-CN" altLang="en-US" sz="1200" b="0"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z=–0.75，p=0.455）；</a:t>
            </a:r>
            <a:br>
              <a:rPr lang="en-GB" sz="1200" b="0" i="0" u="none" strike="noStrike" kern="1200" dirty="0">
                <a:solidFill>
                  <a:schemeClr val="tx1"/>
                </a:solidFill>
                <a:effectLst/>
                <a:latin typeface="+mn-lt"/>
                <a:ea typeface="+mn-ea"/>
                <a:cs typeface="+mn-cs"/>
              </a:rPr>
            </a:br>
            <a:r>
              <a:rPr lang="zh-CN" altLang="en-US" sz="1200" b="0" i="0" u="none" strike="noStrike" kern="1200" dirty="0">
                <a:solidFill>
                  <a:schemeClr val="tx1"/>
                </a:solidFill>
                <a:effectLst/>
                <a:latin typeface="+mn-lt"/>
                <a:ea typeface="+mn-ea"/>
                <a:cs typeface="+mn-cs"/>
              </a:rPr>
              <a:t>亦不显著，表明在控制本地教育与收入后，寿命本身的邻域依赖性不强。</a:t>
            </a:r>
          </a:p>
          <a:p>
            <a:r>
              <a:rPr lang="en-US" altLang="zh-CN" sz="1200" b="0" i="0" u="none" strike="noStrike" kern="1200" dirty="0">
                <a:solidFill>
                  <a:schemeClr val="tx1"/>
                </a:solidFill>
                <a:effectLst/>
                <a:latin typeface="+mn-lt"/>
                <a:ea typeface="+mn-ea"/>
                <a:cs typeface="+mn-cs"/>
              </a:rPr>
              <a:t>4 </a:t>
            </a:r>
            <a:r>
              <a:rPr lang="zh-CN" altLang="en-US" sz="1200" b="0" i="0" u="none" strike="noStrike" kern="1200" dirty="0">
                <a:solidFill>
                  <a:schemeClr val="tx1"/>
                </a:solidFill>
                <a:effectLst/>
                <a:latin typeface="+mn-lt"/>
                <a:ea typeface="+mn-ea"/>
                <a:cs typeface="+mn-cs"/>
              </a:rPr>
              <a:t>残差空间自相关</a:t>
            </a:r>
          </a:p>
          <a:p>
            <a:r>
              <a:rPr lang="zh-CN" altLang="en-US" sz="1200" b="0" i="0" u="none" strike="noStrike" kern="1200" dirty="0">
                <a:solidFill>
                  <a:schemeClr val="tx1"/>
                </a:solidFill>
                <a:effectLst/>
                <a:latin typeface="+mn-lt"/>
                <a:ea typeface="+mn-ea"/>
                <a:cs typeface="+mn-cs"/>
              </a:rPr>
              <a:t>残差滞后项（</a:t>
            </a:r>
            <a:r>
              <a:rPr lang="en-GB" sz="1200" b="0" i="0" u="none" strike="noStrike" kern="1200" dirty="0" err="1">
                <a:solidFill>
                  <a:schemeClr val="tx1"/>
                </a:solidFill>
                <a:effectLst/>
                <a:latin typeface="+mn-lt"/>
                <a:ea typeface="+mn-ea"/>
                <a:cs typeface="+mn-cs"/>
              </a:rPr>
              <a:t>M·e.LE</a:t>
            </a:r>
            <a:r>
              <a:rPr lang="en-GB" sz="1200" b="0" i="0" u="none" strike="noStrike" kern="1200" dirty="0">
                <a:solidFill>
                  <a:schemeClr val="tx1"/>
                </a:solidFill>
                <a:effectLst/>
                <a:latin typeface="+mn-lt"/>
                <a:ea typeface="+mn-ea"/>
                <a:cs typeface="+mn-cs"/>
              </a:rPr>
              <a:t>）</a:t>
            </a:r>
            <a:r>
              <a:rPr lang="zh-CN" altLang="en-US" sz="1200" b="0" i="0" u="none" strike="noStrike" kern="1200" dirty="0">
                <a:solidFill>
                  <a:schemeClr val="tx1"/>
                </a:solidFill>
                <a:effectLst/>
                <a:latin typeface="+mn-lt"/>
                <a:ea typeface="+mn-ea"/>
                <a:cs typeface="+mn-cs"/>
              </a:rPr>
              <a:t>系数为</a:t>
            </a:r>
            <a:r>
              <a:rPr lang="en-US" altLang="zh-CN" sz="1200" b="0" i="0" u="none" strike="noStrike" kern="1200" dirty="0">
                <a:solidFill>
                  <a:schemeClr val="tx1"/>
                </a:solidFill>
                <a:effectLst/>
                <a:latin typeface="+mn-lt"/>
                <a:ea typeface="+mn-ea"/>
                <a:cs typeface="+mn-cs"/>
              </a:rPr>
              <a:t>1.5247</a:t>
            </a:r>
            <a:r>
              <a:rPr lang="zh-CN" altLang="en-US" sz="1200" b="0"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z=3.06，p=0.002）；</a:t>
            </a:r>
            <a:br>
              <a:rPr lang="en-GB" sz="1200" b="0" i="0" u="none" strike="noStrike" kern="1200" dirty="0">
                <a:solidFill>
                  <a:schemeClr val="tx1"/>
                </a:solidFill>
                <a:effectLst/>
                <a:latin typeface="+mn-lt"/>
                <a:ea typeface="+mn-ea"/>
                <a:cs typeface="+mn-cs"/>
              </a:rPr>
            </a:br>
            <a:r>
              <a:rPr lang="zh-CN" altLang="en-US" sz="1200" b="0" i="0" u="none" strike="noStrike" kern="1200" dirty="0">
                <a:solidFill>
                  <a:schemeClr val="tx1"/>
                </a:solidFill>
                <a:effectLst/>
                <a:latin typeface="+mn-lt"/>
                <a:ea typeface="+mn-ea"/>
                <a:cs typeface="+mn-cs"/>
              </a:rPr>
              <a:t>高度显著，表明模型中尚有未观测因素存在明显的空间聚集效应。</a:t>
            </a:r>
          </a:p>
          <a:p>
            <a:r>
              <a:rPr lang="en-US" altLang="zh-CN" sz="1200" b="0" i="0" u="none" strike="noStrike" kern="1200" dirty="0">
                <a:solidFill>
                  <a:schemeClr val="tx1"/>
                </a:solidFill>
                <a:effectLst/>
                <a:latin typeface="+mn-lt"/>
                <a:ea typeface="+mn-ea"/>
                <a:cs typeface="+mn-cs"/>
              </a:rPr>
              <a:t>5 </a:t>
            </a:r>
            <a:r>
              <a:rPr lang="zh-CN" altLang="en-US" sz="1200" b="0" i="0" u="none" strike="noStrike" kern="1200" dirty="0">
                <a:solidFill>
                  <a:schemeClr val="tx1"/>
                </a:solidFill>
                <a:effectLst/>
                <a:latin typeface="+mn-lt"/>
                <a:ea typeface="+mn-ea"/>
                <a:cs typeface="+mn-cs"/>
              </a:rPr>
              <a:t>空间项联合检验</a:t>
            </a:r>
            <a:br>
              <a:rPr lang="zh-CN" altLang="en-US" sz="1200" b="0" i="0" u="none" strike="noStrike" kern="1200" dirty="0">
                <a:solidFill>
                  <a:schemeClr val="tx1"/>
                </a:solidFill>
                <a:effectLst/>
                <a:latin typeface="+mn-lt"/>
                <a:ea typeface="+mn-ea"/>
                <a:cs typeface="+mn-cs"/>
              </a:rPr>
            </a:br>
            <a:r>
              <a:rPr lang="en-GB" sz="1200" b="0" i="0" u="none" strike="noStrike" kern="1200" dirty="0">
                <a:solidFill>
                  <a:schemeClr val="tx1"/>
                </a:solidFill>
                <a:effectLst/>
                <a:latin typeface="+mn-lt"/>
                <a:ea typeface="+mn-ea"/>
                <a:cs typeface="+mn-cs"/>
              </a:rPr>
              <a:t>Wald </a:t>
            </a:r>
            <a:r>
              <a:rPr lang="el-GR" sz="1200" b="0" i="0" u="none" strike="noStrike" kern="1200" dirty="0">
                <a:solidFill>
                  <a:schemeClr val="tx1"/>
                </a:solidFill>
                <a:effectLst/>
                <a:latin typeface="+mn-lt"/>
                <a:ea typeface="+mn-ea"/>
                <a:cs typeface="+mn-cs"/>
              </a:rPr>
              <a:t>χ²(3)=15.05，</a:t>
            </a:r>
            <a:r>
              <a:rPr lang="zh-CN" altLang="en-US" sz="1200" b="0" i="0" u="none" strike="noStrike" kern="1200" dirty="0">
                <a:solidFill>
                  <a:schemeClr val="tx1"/>
                </a:solidFill>
                <a:effectLst/>
                <a:latin typeface="+mn-lt"/>
                <a:ea typeface="+mn-ea"/>
                <a:cs typeface="+mn-cs"/>
              </a:rPr>
              <a:t>对应</a:t>
            </a:r>
            <a:r>
              <a:rPr lang="en-GB" sz="1200" b="0" i="0" u="none" strike="noStrike" kern="1200" dirty="0">
                <a:solidFill>
                  <a:schemeClr val="tx1"/>
                </a:solidFill>
                <a:effectLst/>
                <a:latin typeface="+mn-lt"/>
                <a:ea typeface="+mn-ea"/>
                <a:cs typeface="+mn-cs"/>
              </a:rPr>
              <a:t>p=0.0018，</a:t>
            </a:r>
            <a:r>
              <a:rPr lang="zh-CN" altLang="en-US" sz="1200" b="0" i="0" u="none" strike="noStrike" kern="1200" dirty="0">
                <a:solidFill>
                  <a:schemeClr val="tx1"/>
                </a:solidFill>
                <a:effectLst/>
                <a:latin typeface="+mn-lt"/>
                <a:ea typeface="+mn-ea"/>
                <a:cs typeface="+mn-cs"/>
              </a:rPr>
              <a:t>说明所有空间项（</a:t>
            </a:r>
            <a:r>
              <a:rPr lang="en-GB" sz="1200" b="0" i="0" u="none" strike="noStrike" kern="1200" dirty="0" err="1">
                <a:solidFill>
                  <a:schemeClr val="tx1"/>
                </a:solidFill>
                <a:effectLst/>
                <a:latin typeface="+mn-lt"/>
                <a:ea typeface="+mn-ea"/>
                <a:cs typeface="+mn-cs"/>
              </a:rPr>
              <a:t>M·GDP、M·LE、M·e.LE</a:t>
            </a:r>
            <a:r>
              <a:rPr lang="en-GB" sz="1200" b="0" i="0" u="none" strike="noStrike" kern="1200" dirty="0">
                <a:solidFill>
                  <a:schemeClr val="tx1"/>
                </a:solidFill>
                <a:effectLst/>
                <a:latin typeface="+mn-lt"/>
                <a:ea typeface="+mn-ea"/>
                <a:cs typeface="+mn-cs"/>
              </a:rPr>
              <a:t>）</a:t>
            </a:r>
            <a:r>
              <a:rPr lang="zh-CN" altLang="en-US" sz="1200" b="0" i="0" u="none" strike="noStrike" kern="1200" dirty="0">
                <a:solidFill>
                  <a:schemeClr val="tx1"/>
                </a:solidFill>
                <a:effectLst/>
                <a:latin typeface="+mn-lt"/>
                <a:ea typeface="+mn-ea"/>
                <a:cs typeface="+mn-cs"/>
              </a:rPr>
              <a:t>整体上对模型具有显著贡献。</a:t>
            </a:r>
          </a:p>
          <a:p>
            <a:r>
              <a:rPr lang="en-US" altLang="zh-CN" sz="1200" b="0" i="0" u="none" strike="noStrike" kern="1200" dirty="0">
                <a:solidFill>
                  <a:schemeClr val="tx1"/>
                </a:solidFill>
                <a:effectLst/>
                <a:latin typeface="+mn-lt"/>
                <a:ea typeface="+mn-ea"/>
                <a:cs typeface="+mn-cs"/>
              </a:rPr>
              <a:t>6 </a:t>
            </a:r>
            <a:r>
              <a:rPr lang="zh-CN" altLang="en-US" sz="1200" b="0" i="0" u="none" strike="noStrike" kern="1200" dirty="0">
                <a:solidFill>
                  <a:schemeClr val="tx1"/>
                </a:solidFill>
                <a:effectLst/>
                <a:latin typeface="+mn-lt"/>
                <a:ea typeface="+mn-ea"/>
                <a:cs typeface="+mn-cs"/>
              </a:rPr>
              <a:t>政策启示</a:t>
            </a:r>
          </a:p>
          <a:p>
            <a:r>
              <a:rPr lang="zh-CN" altLang="en-US" sz="1200" b="0" i="0" u="none" strike="noStrike" kern="1200" dirty="0">
                <a:solidFill>
                  <a:schemeClr val="tx1"/>
                </a:solidFill>
                <a:effectLst/>
                <a:latin typeface="+mn-lt"/>
                <a:ea typeface="+mn-ea"/>
                <a:cs typeface="+mn-cs"/>
              </a:rPr>
              <a:t>教育年限对寿命预期的促进作用稳健且显著，应继续加大教育投入；</a:t>
            </a:r>
          </a:p>
          <a:p>
            <a:r>
              <a:rPr lang="zh-CN" altLang="en-US" sz="1200" b="0" i="0" u="none" strike="noStrike" kern="1200" dirty="0">
                <a:solidFill>
                  <a:schemeClr val="tx1"/>
                </a:solidFill>
                <a:effectLst/>
                <a:latin typeface="+mn-lt"/>
                <a:ea typeface="+mn-ea"/>
                <a:cs typeface="+mn-cs"/>
              </a:rPr>
              <a:t>本地收入的边际效应接近显著，但邻域经济和寿命的外溢有限，应结合区域合作和精准扶贫措施；</a:t>
            </a:r>
          </a:p>
          <a:p>
            <a:r>
              <a:rPr lang="zh-CN" altLang="en-US" sz="1200" b="0" i="0" u="none" strike="noStrike" kern="1200" dirty="0">
                <a:solidFill>
                  <a:schemeClr val="tx1"/>
                </a:solidFill>
                <a:effectLst/>
                <a:latin typeface="+mn-lt"/>
                <a:ea typeface="+mn-ea"/>
                <a:cs typeface="+mn-cs"/>
              </a:rPr>
              <a:t>残差的空间聚集效应提示还存在其他空间性未观测因素，后续研究可纳入环境、医疗资源等变量，以完善模型解释力。</a:t>
            </a:r>
          </a:p>
          <a:p>
            <a:endParaRPr lang="en-GB" dirty="0"/>
          </a:p>
        </p:txBody>
      </p:sp>
      <p:sp>
        <p:nvSpPr>
          <p:cNvPr id="4" name="Slide Number Placeholder 3"/>
          <p:cNvSpPr>
            <a:spLocks noGrp="1"/>
          </p:cNvSpPr>
          <p:nvPr>
            <p:ph type="sldNum" sz="quarter" idx="5"/>
          </p:nvPr>
        </p:nvSpPr>
        <p:spPr/>
        <p:txBody>
          <a:bodyPr/>
          <a:lstStyle/>
          <a:p>
            <a:fld id="{6AA0D926-0B64-594E-9DCE-66112001AC28}" type="slidenum">
              <a:rPr lang="en-GB" smtClean="0"/>
              <a:t>9</a:t>
            </a:fld>
            <a:endParaRPr lang="en-GB"/>
          </a:p>
        </p:txBody>
      </p:sp>
    </p:spTree>
    <p:extLst>
      <p:ext uri="{BB962C8B-B14F-4D97-AF65-F5344CB8AC3E}">
        <p14:creationId xmlns:p14="http://schemas.microsoft.com/office/powerpoint/2010/main" val="38425225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b="1" i="0" u="none" strike="noStrike" kern="1200" dirty="0">
                <a:solidFill>
                  <a:schemeClr val="tx1"/>
                </a:solidFill>
                <a:effectLst/>
                <a:latin typeface="+mn-lt"/>
                <a:ea typeface="+mn-ea"/>
                <a:cs typeface="+mn-cs"/>
              </a:rPr>
              <a:t>1 </a:t>
            </a:r>
            <a:r>
              <a:rPr lang="zh-CN" altLang="en-US" sz="1200" b="1" i="0" u="none" strike="noStrike" kern="1200" dirty="0">
                <a:solidFill>
                  <a:schemeClr val="tx1"/>
                </a:solidFill>
                <a:effectLst/>
                <a:latin typeface="+mn-lt"/>
                <a:ea typeface="+mn-ea"/>
                <a:cs typeface="+mn-cs"/>
              </a:rPr>
              <a:t>模型拟合与解释力比较</a:t>
            </a:r>
            <a:endParaRPr lang="zh-CN" altLang="en-US"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OLS</a:t>
            </a:r>
            <a:r>
              <a:rPr lang="zh-CN" altLang="en-US" sz="1200" b="0" i="0" u="none" strike="noStrike" kern="1200" dirty="0">
                <a:solidFill>
                  <a:schemeClr val="tx1"/>
                </a:solidFill>
                <a:effectLst/>
                <a:latin typeface="+mn-lt"/>
                <a:ea typeface="+mn-ea"/>
                <a:cs typeface="+mn-cs"/>
              </a:rPr>
              <a:t>模型的 </a:t>
            </a:r>
            <a:r>
              <a:rPr lang="en-GB" sz="1200" b="0" i="0" u="none" strike="noStrike" kern="1200" dirty="0">
                <a:solidFill>
                  <a:schemeClr val="tx1"/>
                </a:solidFill>
                <a:effectLst/>
                <a:latin typeface="+mn-lt"/>
                <a:ea typeface="+mn-ea"/>
                <a:cs typeface="+mn-cs"/>
              </a:rPr>
              <a:t>R² = 0.8232，</a:t>
            </a:r>
            <a:r>
              <a:rPr lang="zh-CN" altLang="en-US" sz="1200" b="0" i="0" u="none" strike="noStrike" kern="1200" dirty="0">
                <a:solidFill>
                  <a:schemeClr val="tx1"/>
                </a:solidFill>
                <a:effectLst/>
                <a:latin typeface="+mn-lt"/>
                <a:ea typeface="+mn-ea"/>
                <a:cs typeface="+mn-cs"/>
              </a:rPr>
              <a:t>已能较好地解释教育年限和人均</a:t>
            </a:r>
            <a:r>
              <a:rPr lang="en-GB" sz="1200" b="0" i="0" u="none" strike="noStrike" kern="1200" dirty="0">
                <a:solidFill>
                  <a:schemeClr val="tx1"/>
                </a:solidFill>
                <a:effectLst/>
                <a:latin typeface="+mn-lt"/>
                <a:ea typeface="+mn-ea"/>
                <a:cs typeface="+mn-cs"/>
              </a:rPr>
              <a:t>GDP</a:t>
            </a:r>
            <a:r>
              <a:rPr lang="zh-CN" altLang="en-US" sz="1200" b="0" i="0" u="none" strike="noStrike" kern="1200" dirty="0">
                <a:solidFill>
                  <a:schemeClr val="tx1"/>
                </a:solidFill>
                <a:effectLst/>
                <a:latin typeface="+mn-lt"/>
                <a:ea typeface="+mn-ea"/>
                <a:cs typeface="+mn-cs"/>
              </a:rPr>
              <a:t>对寿命预期的直接作用；</a:t>
            </a:r>
          </a:p>
          <a:p>
            <a:r>
              <a:rPr lang="zh-CN" altLang="en-US" sz="1200" b="0" i="0" u="none" strike="noStrike" kern="1200" dirty="0">
                <a:solidFill>
                  <a:schemeClr val="tx1"/>
                </a:solidFill>
                <a:effectLst/>
                <a:latin typeface="+mn-lt"/>
                <a:ea typeface="+mn-ea"/>
                <a:cs typeface="+mn-cs"/>
              </a:rPr>
              <a:t>引入空间滞后项后，伪</a:t>
            </a:r>
            <a:r>
              <a:rPr lang="en-GB" sz="1200" b="0" i="0" u="none" strike="noStrike" kern="1200" dirty="0">
                <a:solidFill>
                  <a:schemeClr val="tx1"/>
                </a:solidFill>
                <a:effectLst/>
                <a:latin typeface="+mn-lt"/>
                <a:ea typeface="+mn-ea"/>
                <a:cs typeface="+mn-cs"/>
              </a:rPr>
              <a:t>R² </a:t>
            </a:r>
            <a:r>
              <a:rPr lang="zh-CN" altLang="en-US" sz="1200" b="0" i="0" u="none" strike="noStrike" kern="1200" dirty="0">
                <a:solidFill>
                  <a:schemeClr val="tx1"/>
                </a:solidFill>
                <a:effectLst/>
                <a:latin typeface="+mn-lt"/>
                <a:ea typeface="+mn-ea"/>
                <a:cs typeface="+mn-cs"/>
              </a:rPr>
              <a:t>提升至 </a:t>
            </a:r>
            <a:r>
              <a:rPr lang="en-US" altLang="zh-CN" sz="1200" b="0" i="0" u="none" strike="noStrike" kern="1200" dirty="0">
                <a:solidFill>
                  <a:schemeClr val="tx1"/>
                </a:solidFill>
                <a:effectLst/>
                <a:latin typeface="+mn-lt"/>
                <a:ea typeface="+mn-ea"/>
                <a:cs typeface="+mn-cs"/>
              </a:rPr>
              <a:t>0.8382</a:t>
            </a:r>
            <a:r>
              <a:rPr lang="zh-CN" altLang="en-US" sz="1200" b="0" i="0" u="none" strike="noStrike" kern="1200" dirty="0">
                <a:solidFill>
                  <a:schemeClr val="tx1"/>
                </a:solidFill>
                <a:effectLst/>
                <a:latin typeface="+mn-lt"/>
                <a:ea typeface="+mn-ea"/>
                <a:cs typeface="+mn-cs"/>
              </a:rPr>
              <a:t>，说明相邻地区寿命预期存在弱至中度的正向溢出效应；</a:t>
            </a:r>
          </a:p>
          <a:p>
            <a:r>
              <a:rPr lang="zh-CN" altLang="en-US" sz="1200" b="0" i="0" u="none" strike="noStrike" kern="1200" dirty="0">
                <a:solidFill>
                  <a:schemeClr val="tx1"/>
                </a:solidFill>
                <a:effectLst/>
                <a:latin typeface="+mn-lt"/>
                <a:ea typeface="+mn-ea"/>
                <a:cs typeface="+mn-cs"/>
              </a:rPr>
              <a:t>空间误差模型的伪</a:t>
            </a:r>
            <a:r>
              <a:rPr lang="en-GB" sz="1200" b="0" i="0" u="none" strike="noStrike" kern="1200" dirty="0">
                <a:solidFill>
                  <a:schemeClr val="tx1"/>
                </a:solidFill>
                <a:effectLst/>
                <a:latin typeface="+mn-lt"/>
                <a:ea typeface="+mn-ea"/>
                <a:cs typeface="+mn-cs"/>
              </a:rPr>
              <a:t>R² ≈ 0.8231，</a:t>
            </a:r>
            <a:r>
              <a:rPr lang="zh-CN" altLang="en-US" sz="1200" b="0" i="0" u="none" strike="noStrike" kern="1200" dirty="0">
                <a:solidFill>
                  <a:schemeClr val="tx1"/>
                </a:solidFill>
                <a:effectLst/>
                <a:latin typeface="+mn-lt"/>
                <a:ea typeface="+mn-ea"/>
                <a:cs typeface="+mn-cs"/>
              </a:rPr>
              <a:t>与</a:t>
            </a:r>
            <a:r>
              <a:rPr lang="en-GB" sz="1200" b="0" i="0" u="none" strike="noStrike" kern="1200" dirty="0">
                <a:solidFill>
                  <a:schemeClr val="tx1"/>
                </a:solidFill>
                <a:effectLst/>
                <a:latin typeface="+mn-lt"/>
                <a:ea typeface="+mn-ea"/>
                <a:cs typeface="+mn-cs"/>
              </a:rPr>
              <a:t>OLS</a:t>
            </a:r>
            <a:r>
              <a:rPr lang="zh-CN" altLang="en-US" sz="1200" b="0" i="0" u="none" strike="noStrike" kern="1200" dirty="0">
                <a:solidFill>
                  <a:schemeClr val="tx1"/>
                </a:solidFill>
                <a:effectLst/>
                <a:latin typeface="+mn-lt"/>
                <a:ea typeface="+mn-ea"/>
                <a:cs typeface="+mn-cs"/>
              </a:rPr>
              <a:t>相当，且误差项空间自相关不显著，表明剩余变量中未观测的空间聚集不强；</a:t>
            </a:r>
          </a:p>
          <a:p>
            <a:r>
              <a:rPr lang="zh-CN" altLang="en-US" sz="1200" b="0" i="0" u="none" strike="noStrike" kern="1200" dirty="0">
                <a:solidFill>
                  <a:schemeClr val="tx1"/>
                </a:solidFill>
                <a:effectLst/>
                <a:latin typeface="+mn-lt"/>
                <a:ea typeface="+mn-ea"/>
                <a:cs typeface="+mn-cs"/>
              </a:rPr>
              <a:t>空间混合模型（</a:t>
            </a:r>
            <a:r>
              <a:rPr lang="en-GB" sz="1200" b="0" i="0" u="none" strike="noStrike" kern="1200" dirty="0">
                <a:solidFill>
                  <a:schemeClr val="tx1"/>
                </a:solidFill>
                <a:effectLst/>
                <a:latin typeface="+mn-lt"/>
                <a:ea typeface="+mn-ea"/>
                <a:cs typeface="+mn-cs"/>
              </a:rPr>
              <a:t>Durbin/Spatial Durbin）</a:t>
            </a:r>
            <a:r>
              <a:rPr lang="zh-CN" altLang="en-US" sz="1200" b="0" i="0" u="none" strike="noStrike" kern="1200" dirty="0">
                <a:solidFill>
                  <a:schemeClr val="tx1"/>
                </a:solidFill>
                <a:effectLst/>
                <a:latin typeface="+mn-lt"/>
                <a:ea typeface="+mn-ea"/>
                <a:cs typeface="+mn-cs"/>
              </a:rPr>
              <a:t>兼顾因变量与解释变量的邻域效应，伪</a:t>
            </a:r>
            <a:r>
              <a:rPr lang="en-GB" sz="1200" b="0" i="0" u="none" strike="noStrike" kern="1200" dirty="0">
                <a:solidFill>
                  <a:schemeClr val="tx1"/>
                </a:solidFill>
                <a:effectLst/>
                <a:latin typeface="+mn-lt"/>
                <a:ea typeface="+mn-ea"/>
                <a:cs typeface="+mn-cs"/>
              </a:rPr>
              <a:t>R² ≈ 0.8458，</a:t>
            </a:r>
            <a:r>
              <a:rPr lang="zh-CN" altLang="en-US" sz="1200" b="0" i="0" u="none" strike="noStrike" kern="1200" dirty="0">
                <a:solidFill>
                  <a:schemeClr val="tx1"/>
                </a:solidFill>
                <a:effectLst/>
                <a:latin typeface="+mn-lt"/>
                <a:ea typeface="+mn-ea"/>
                <a:cs typeface="+mn-cs"/>
              </a:rPr>
              <a:t>为最高，揭示了更丰富的空间机制。</a:t>
            </a:r>
          </a:p>
          <a:p>
            <a:r>
              <a:rPr lang="en-US" altLang="zh-CN" sz="1200" b="1" i="0" u="none" strike="noStrike" kern="1200" dirty="0">
                <a:solidFill>
                  <a:schemeClr val="tx1"/>
                </a:solidFill>
                <a:effectLst/>
                <a:latin typeface="+mn-lt"/>
                <a:ea typeface="+mn-ea"/>
                <a:cs typeface="+mn-cs"/>
              </a:rPr>
              <a:t>2 </a:t>
            </a:r>
            <a:r>
              <a:rPr lang="zh-CN" altLang="en-US" sz="1200" b="1" i="0" u="none" strike="noStrike" kern="1200" dirty="0">
                <a:solidFill>
                  <a:schemeClr val="tx1"/>
                </a:solidFill>
                <a:effectLst/>
                <a:latin typeface="+mn-lt"/>
                <a:ea typeface="+mn-ea"/>
                <a:cs typeface="+mn-cs"/>
              </a:rPr>
              <a:t>直接效应与溢出效应</a:t>
            </a:r>
            <a:endParaRPr lang="zh-CN" altLang="en-US" sz="1200" b="0" i="0" u="none" strike="noStrike" kern="1200" dirty="0">
              <a:solidFill>
                <a:schemeClr val="tx1"/>
              </a:solidFill>
              <a:effectLst/>
              <a:latin typeface="+mn-lt"/>
              <a:ea typeface="+mn-ea"/>
              <a:cs typeface="+mn-cs"/>
            </a:endParaRPr>
          </a:p>
          <a:p>
            <a:r>
              <a:rPr lang="zh-CN" altLang="en-US" sz="1200" b="1" i="0" u="none" strike="noStrike" kern="1200" dirty="0">
                <a:solidFill>
                  <a:schemeClr val="tx1"/>
                </a:solidFill>
                <a:effectLst/>
                <a:latin typeface="+mn-lt"/>
                <a:ea typeface="+mn-ea"/>
                <a:cs typeface="+mn-cs"/>
              </a:rPr>
              <a:t>教育年限</a:t>
            </a:r>
            <a:r>
              <a:rPr lang="zh-CN" altLang="en-US" sz="1200" b="0" i="0" u="none" strike="noStrike" kern="1200" dirty="0">
                <a:solidFill>
                  <a:schemeClr val="tx1"/>
                </a:solidFill>
                <a:effectLst/>
                <a:latin typeface="+mn-lt"/>
                <a:ea typeface="+mn-ea"/>
                <a:cs typeface="+mn-cs"/>
              </a:rPr>
              <a:t>在所有模型中始终高度显著（系数约</a:t>
            </a:r>
            <a:r>
              <a:rPr lang="en-US" altLang="zh-CN" sz="1200" b="0" i="0" u="none" strike="noStrike" kern="1200" dirty="0">
                <a:solidFill>
                  <a:schemeClr val="tx1"/>
                </a:solidFill>
                <a:effectLst/>
                <a:latin typeface="+mn-lt"/>
                <a:ea typeface="+mn-ea"/>
                <a:cs typeface="+mn-cs"/>
              </a:rPr>
              <a:t>1.9–2.0</a:t>
            </a:r>
            <a:r>
              <a:rPr lang="zh-CN" altLang="en-US" sz="1200" b="0" i="0" u="none" strike="noStrike" kern="1200" dirty="0">
                <a:solidFill>
                  <a:schemeClr val="tx1"/>
                </a:solidFill>
                <a:effectLst/>
                <a:latin typeface="+mn-lt"/>
                <a:ea typeface="+mn-ea"/>
                <a:cs typeface="+mn-cs"/>
              </a:rPr>
              <a:t>），凸显提升受教育年限对提高地区寿命预期的稳定贡献；</a:t>
            </a:r>
          </a:p>
          <a:p>
            <a:r>
              <a:rPr lang="zh-CN" altLang="en-US" sz="1200" b="1" i="0" u="none" strike="noStrike" kern="1200" dirty="0">
                <a:solidFill>
                  <a:schemeClr val="tx1"/>
                </a:solidFill>
                <a:effectLst/>
                <a:latin typeface="+mn-lt"/>
                <a:ea typeface="+mn-ea"/>
                <a:cs typeface="+mn-cs"/>
              </a:rPr>
              <a:t>人均</a:t>
            </a:r>
            <a:r>
              <a:rPr lang="en-GB" sz="1200" b="1" i="0" u="none" strike="noStrike" kern="1200" dirty="0">
                <a:solidFill>
                  <a:schemeClr val="tx1"/>
                </a:solidFill>
                <a:effectLst/>
                <a:latin typeface="+mn-lt"/>
                <a:ea typeface="+mn-ea"/>
                <a:cs typeface="+mn-cs"/>
              </a:rPr>
              <a:t>GDP</a:t>
            </a:r>
            <a:r>
              <a:rPr lang="zh-CN" altLang="en-US" sz="1200" b="0" i="0" u="none" strike="noStrike" kern="1200" dirty="0">
                <a:solidFill>
                  <a:schemeClr val="tx1"/>
                </a:solidFill>
                <a:effectLst/>
                <a:latin typeface="+mn-lt"/>
                <a:ea typeface="+mn-ea"/>
                <a:cs typeface="+mn-cs"/>
              </a:rPr>
              <a:t>的系数边际显著或略低于传统</a:t>
            </a:r>
            <a:r>
              <a:rPr lang="en-US" altLang="zh-CN" sz="1200" b="0" i="0" u="none" strike="noStrike" kern="1200" dirty="0">
                <a:solidFill>
                  <a:schemeClr val="tx1"/>
                </a:solidFill>
                <a:effectLst/>
                <a:latin typeface="+mn-lt"/>
                <a:ea typeface="+mn-ea"/>
                <a:cs typeface="+mn-cs"/>
              </a:rPr>
              <a:t>5</a:t>
            </a:r>
            <a:r>
              <a:rPr lang="zh-CN" altLang="en-US" sz="1200" b="0" i="0" u="none" strike="noStrike" kern="1200" dirty="0">
                <a:solidFill>
                  <a:schemeClr val="tx1"/>
                </a:solidFill>
                <a:effectLst/>
                <a:latin typeface="+mn-lt"/>
                <a:ea typeface="+mn-ea"/>
                <a:cs typeface="+mn-cs"/>
              </a:rPr>
              <a:t>％水平（</a:t>
            </a:r>
            <a:r>
              <a:rPr lang="en-GB" sz="1200" b="0" i="0" u="none" strike="noStrike" kern="1200" dirty="0">
                <a:solidFill>
                  <a:schemeClr val="tx1"/>
                </a:solidFill>
                <a:effectLst/>
                <a:latin typeface="+mn-lt"/>
                <a:ea typeface="+mn-ea"/>
                <a:cs typeface="+mn-cs"/>
              </a:rPr>
              <a:t>p≈0.06–0.07），</a:t>
            </a:r>
            <a:r>
              <a:rPr lang="zh-CN" altLang="en-US" sz="1200" b="0" i="0" u="none" strike="noStrike" kern="1200" dirty="0">
                <a:solidFill>
                  <a:schemeClr val="tx1"/>
                </a:solidFill>
                <a:effectLst/>
                <a:latin typeface="+mn-lt"/>
                <a:ea typeface="+mn-ea"/>
                <a:cs typeface="+mn-cs"/>
              </a:rPr>
              <a:t>提示经济增长对健康的直接回报存在延迟或非线性效应；</a:t>
            </a:r>
          </a:p>
          <a:p>
            <a:r>
              <a:rPr lang="zh-CN" altLang="en-US" sz="1200" b="1" i="0" u="none" strike="noStrike" kern="1200" dirty="0">
                <a:solidFill>
                  <a:schemeClr val="tx1"/>
                </a:solidFill>
                <a:effectLst/>
                <a:latin typeface="+mn-lt"/>
                <a:ea typeface="+mn-ea"/>
                <a:cs typeface="+mn-cs"/>
              </a:rPr>
              <a:t>空间滞后项</a:t>
            </a:r>
            <a:r>
              <a:rPr lang="zh-CN" altLang="en-US" sz="1200" b="0" i="0" u="none" strike="noStrike" kern="1200" dirty="0">
                <a:solidFill>
                  <a:schemeClr val="tx1"/>
                </a:solidFill>
                <a:effectLst/>
                <a:latin typeface="+mn-lt"/>
                <a:ea typeface="+mn-ea"/>
                <a:cs typeface="+mn-cs"/>
              </a:rPr>
              <a:t>（邻域寿命）在空间滞后模型中弱显著（</a:t>
            </a:r>
            <a:r>
              <a:rPr lang="en-GB" sz="1200" b="0" i="0" u="none" strike="noStrike" kern="1200" dirty="0">
                <a:solidFill>
                  <a:schemeClr val="tx1"/>
                </a:solidFill>
                <a:effectLst/>
                <a:latin typeface="+mn-lt"/>
                <a:ea typeface="+mn-ea"/>
                <a:cs typeface="+mn-cs"/>
              </a:rPr>
              <a:t>p≈0.09），</a:t>
            </a:r>
            <a:r>
              <a:rPr lang="zh-CN" altLang="en-US" sz="1200" b="0" i="0" u="none" strike="noStrike" kern="1200" dirty="0">
                <a:solidFill>
                  <a:schemeClr val="tx1"/>
                </a:solidFill>
                <a:effectLst/>
                <a:latin typeface="+mn-lt"/>
                <a:ea typeface="+mn-ea"/>
                <a:cs typeface="+mn-cs"/>
              </a:rPr>
              <a:t>在混合模型中不显著，意味着健康结果的相互影响有限；</a:t>
            </a:r>
          </a:p>
          <a:p>
            <a:r>
              <a:rPr lang="zh-CN" altLang="en-US" sz="1200" b="1" i="0" u="none" strike="noStrike" kern="1200" dirty="0">
                <a:solidFill>
                  <a:schemeClr val="tx1"/>
                </a:solidFill>
                <a:effectLst/>
                <a:latin typeface="+mn-lt"/>
                <a:ea typeface="+mn-ea"/>
                <a:cs typeface="+mn-cs"/>
              </a:rPr>
              <a:t>邻域经济溢出</a:t>
            </a:r>
            <a:r>
              <a:rPr lang="zh-CN" altLang="en-US" sz="1200" b="0" i="0" u="none" strike="noStrike"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rPr>
              <a:t>M·GDP）</a:t>
            </a:r>
            <a:r>
              <a:rPr lang="zh-CN" altLang="en-US" sz="1200" b="0" i="0" u="none" strike="noStrike" kern="1200" dirty="0">
                <a:solidFill>
                  <a:schemeClr val="tx1"/>
                </a:solidFill>
                <a:effectLst/>
                <a:latin typeface="+mn-lt"/>
                <a:ea typeface="+mn-ea"/>
                <a:cs typeface="+mn-cs"/>
              </a:rPr>
              <a:t>与</a:t>
            </a:r>
            <a:r>
              <a:rPr lang="zh-CN" altLang="en-US" sz="1200" b="1" i="0" u="none" strike="noStrike" kern="1200" dirty="0">
                <a:solidFill>
                  <a:schemeClr val="tx1"/>
                </a:solidFill>
                <a:effectLst/>
                <a:latin typeface="+mn-lt"/>
                <a:ea typeface="+mn-ea"/>
                <a:cs typeface="+mn-cs"/>
              </a:rPr>
              <a:t>误差滞后</a:t>
            </a:r>
            <a:r>
              <a:rPr lang="zh-CN" altLang="en-US" sz="1200" b="0" i="0" u="none" strike="noStrike" kern="1200" dirty="0">
                <a:solidFill>
                  <a:schemeClr val="tx1"/>
                </a:solidFill>
                <a:effectLst/>
                <a:latin typeface="+mn-lt"/>
                <a:ea typeface="+mn-ea"/>
                <a:cs typeface="+mn-cs"/>
              </a:rPr>
              <a:t>（</a:t>
            </a:r>
            <a:r>
              <a:rPr lang="en-GB" sz="1200" b="0" i="0" u="none" strike="noStrike" kern="1200" dirty="0" err="1">
                <a:solidFill>
                  <a:schemeClr val="tx1"/>
                </a:solidFill>
                <a:effectLst/>
                <a:latin typeface="+mn-lt"/>
                <a:ea typeface="+mn-ea"/>
                <a:cs typeface="+mn-cs"/>
              </a:rPr>
              <a:t>M·e.LE</a:t>
            </a:r>
            <a:r>
              <a:rPr lang="en-GB" sz="1200" b="0" i="0" u="none" strike="noStrike" kern="1200" dirty="0">
                <a:solidFill>
                  <a:schemeClr val="tx1"/>
                </a:solidFill>
                <a:effectLst/>
                <a:latin typeface="+mn-lt"/>
                <a:ea typeface="+mn-ea"/>
                <a:cs typeface="+mn-cs"/>
              </a:rPr>
              <a:t>）</a:t>
            </a:r>
            <a:r>
              <a:rPr lang="zh-CN" altLang="en-US" sz="1200" b="0" i="0" u="none" strike="noStrike" kern="1200" dirty="0">
                <a:solidFill>
                  <a:schemeClr val="tx1"/>
                </a:solidFill>
                <a:effectLst/>
                <a:latin typeface="+mn-lt"/>
                <a:ea typeface="+mn-ea"/>
                <a:cs typeface="+mn-cs"/>
              </a:rPr>
              <a:t>在混合模型中表现：前者不显著，后者显著（</a:t>
            </a:r>
            <a:r>
              <a:rPr lang="en-GB" sz="1200" b="0" i="0" u="none" strike="noStrike" kern="1200" dirty="0">
                <a:solidFill>
                  <a:schemeClr val="tx1"/>
                </a:solidFill>
                <a:effectLst/>
                <a:latin typeface="+mn-lt"/>
                <a:ea typeface="+mn-ea"/>
                <a:cs typeface="+mn-cs"/>
              </a:rPr>
              <a:t>p=0.002），</a:t>
            </a:r>
            <a:r>
              <a:rPr lang="zh-CN" altLang="en-US" sz="1200" b="0" i="0" u="none" strike="noStrike" kern="1200" dirty="0">
                <a:solidFill>
                  <a:schemeClr val="tx1"/>
                </a:solidFill>
                <a:effectLst/>
                <a:latin typeface="+mn-lt"/>
                <a:ea typeface="+mn-ea"/>
                <a:cs typeface="+mn-cs"/>
              </a:rPr>
              <a:t>暗示除教育与收入外，仍有其他空间集聚性未观测因素，如医疗资源分布或环境污染。</a:t>
            </a:r>
          </a:p>
          <a:p>
            <a:r>
              <a:rPr lang="en-US" altLang="zh-CN" sz="1200" b="1" i="0" u="none" strike="noStrike" kern="1200" dirty="0">
                <a:solidFill>
                  <a:schemeClr val="tx1"/>
                </a:solidFill>
                <a:effectLst/>
                <a:latin typeface="+mn-lt"/>
                <a:ea typeface="+mn-ea"/>
                <a:cs typeface="+mn-cs"/>
              </a:rPr>
              <a:t>3 </a:t>
            </a:r>
            <a:r>
              <a:rPr lang="zh-CN" altLang="en-US" sz="1200" b="1" i="0" u="none" strike="noStrike" kern="1200" dirty="0">
                <a:solidFill>
                  <a:schemeClr val="tx1"/>
                </a:solidFill>
                <a:effectLst/>
                <a:latin typeface="+mn-lt"/>
                <a:ea typeface="+mn-ea"/>
                <a:cs typeface="+mn-cs"/>
              </a:rPr>
              <a:t>政策启示</a:t>
            </a:r>
            <a:endParaRPr lang="zh-CN" altLang="en-US" sz="1200" b="0" i="0" u="none" strike="noStrike" kern="1200" dirty="0">
              <a:solidFill>
                <a:schemeClr val="tx1"/>
              </a:solidFill>
              <a:effectLst/>
              <a:latin typeface="+mn-lt"/>
              <a:ea typeface="+mn-ea"/>
              <a:cs typeface="+mn-cs"/>
            </a:endParaRPr>
          </a:p>
          <a:p>
            <a:r>
              <a:rPr lang="zh-CN" altLang="en-US" sz="1200" b="1" i="0" u="none" strike="noStrike" kern="1200" dirty="0">
                <a:solidFill>
                  <a:schemeClr val="tx1"/>
                </a:solidFill>
                <a:effectLst/>
                <a:latin typeface="+mn-lt"/>
                <a:ea typeface="+mn-ea"/>
                <a:cs typeface="+mn-cs"/>
              </a:rPr>
              <a:t>优先强化教育投资</a:t>
            </a:r>
            <a:r>
              <a:rPr lang="zh-CN" altLang="en-US" sz="1200" b="0" i="0" u="none" strike="noStrike" kern="1200" dirty="0">
                <a:solidFill>
                  <a:schemeClr val="tx1"/>
                </a:solidFill>
                <a:effectLst/>
                <a:latin typeface="+mn-lt"/>
                <a:ea typeface="+mn-ea"/>
                <a:cs typeface="+mn-cs"/>
              </a:rPr>
              <a:t>：受教育年限对寿命预期的直接效应最为稳健，应继续推动普及与延长教育；</a:t>
            </a:r>
          </a:p>
          <a:p>
            <a:r>
              <a:rPr lang="zh-CN" altLang="en-US" sz="1200" b="1" i="0" u="none" strike="noStrike" kern="1200" dirty="0">
                <a:solidFill>
                  <a:schemeClr val="tx1"/>
                </a:solidFill>
                <a:effectLst/>
                <a:latin typeface="+mn-lt"/>
                <a:ea typeface="+mn-ea"/>
                <a:cs typeface="+mn-cs"/>
              </a:rPr>
              <a:t>关注经济增长质量</a:t>
            </a:r>
            <a:r>
              <a:rPr lang="zh-CN" altLang="en-US" sz="1200" b="0" i="0" u="none" strike="noStrike" kern="1200" dirty="0">
                <a:solidFill>
                  <a:schemeClr val="tx1"/>
                </a:solidFill>
                <a:effectLst/>
                <a:latin typeface="+mn-lt"/>
                <a:ea typeface="+mn-ea"/>
                <a:cs typeface="+mn-cs"/>
              </a:rPr>
              <a:t>：虽然</a:t>
            </a:r>
            <a:r>
              <a:rPr lang="en-GB" sz="1200" b="0" i="0" u="none" strike="noStrike" kern="1200" dirty="0">
                <a:solidFill>
                  <a:schemeClr val="tx1"/>
                </a:solidFill>
                <a:effectLst/>
                <a:latin typeface="+mn-lt"/>
                <a:ea typeface="+mn-ea"/>
                <a:cs typeface="+mn-cs"/>
              </a:rPr>
              <a:t>GDP</a:t>
            </a:r>
            <a:r>
              <a:rPr lang="zh-CN" altLang="en-US" sz="1200" b="0" i="0" u="none" strike="noStrike" kern="1200" dirty="0">
                <a:solidFill>
                  <a:schemeClr val="tx1"/>
                </a:solidFill>
                <a:effectLst/>
                <a:latin typeface="+mn-lt"/>
                <a:ea typeface="+mn-ea"/>
                <a:cs typeface="+mn-cs"/>
              </a:rPr>
              <a:t>对健康的边际回报相对较弱，仍需通过结构性改革（如缩小城乡差距、改善公共卫生服务）来增强其健康效应；</a:t>
            </a:r>
          </a:p>
          <a:p>
            <a:r>
              <a:rPr lang="zh-CN" altLang="en-US" sz="1200" b="1" i="0" u="none" strike="noStrike" kern="1200" dirty="0">
                <a:solidFill>
                  <a:schemeClr val="tx1"/>
                </a:solidFill>
                <a:effectLst/>
                <a:latin typeface="+mn-lt"/>
                <a:ea typeface="+mn-ea"/>
                <a:cs typeface="+mn-cs"/>
              </a:rPr>
              <a:t>跨区协同治理</a:t>
            </a:r>
            <a:r>
              <a:rPr lang="zh-CN" altLang="en-US" sz="1200" b="0" i="0" u="none" strike="noStrike" kern="1200" dirty="0">
                <a:solidFill>
                  <a:schemeClr val="tx1"/>
                </a:solidFill>
                <a:effectLst/>
                <a:latin typeface="+mn-lt"/>
                <a:ea typeface="+mn-ea"/>
                <a:cs typeface="+mn-cs"/>
              </a:rPr>
              <a:t>：邻域溢出效应有限，单靠自然扩散不足以缩小地区差距，建议建立区域卫生联盟、共享资源与经验；</a:t>
            </a:r>
          </a:p>
          <a:p>
            <a:r>
              <a:rPr lang="zh-CN" altLang="en-US" sz="1200" b="1" i="0" u="none" strike="noStrike" kern="1200" dirty="0">
                <a:solidFill>
                  <a:schemeClr val="tx1"/>
                </a:solidFill>
                <a:effectLst/>
                <a:latin typeface="+mn-lt"/>
                <a:ea typeface="+mn-ea"/>
                <a:cs typeface="+mn-cs"/>
              </a:rPr>
              <a:t>挖掘隐含空间因素</a:t>
            </a:r>
            <a:r>
              <a:rPr lang="zh-CN" altLang="en-US" sz="1200" b="0" i="0" u="none" strike="noStrike" kern="1200" dirty="0">
                <a:solidFill>
                  <a:schemeClr val="tx1"/>
                </a:solidFill>
                <a:effectLst/>
                <a:latin typeface="+mn-lt"/>
                <a:ea typeface="+mn-ea"/>
                <a:cs typeface="+mn-cs"/>
              </a:rPr>
              <a:t>：显著的残差空间自相关提示环境、医疗资源分布、生活方式等需纳入后续研究，以完善干预策略。</a:t>
            </a:r>
          </a:p>
          <a:p>
            <a:endParaRPr lang="en-GB" dirty="0"/>
          </a:p>
        </p:txBody>
      </p:sp>
      <p:sp>
        <p:nvSpPr>
          <p:cNvPr id="4" name="Slide Number Placeholder 3"/>
          <p:cNvSpPr>
            <a:spLocks noGrp="1"/>
          </p:cNvSpPr>
          <p:nvPr>
            <p:ph type="sldNum" sz="quarter" idx="5"/>
          </p:nvPr>
        </p:nvSpPr>
        <p:spPr/>
        <p:txBody>
          <a:bodyPr/>
          <a:lstStyle/>
          <a:p>
            <a:fld id="{6AA0D926-0B64-594E-9DCE-66112001AC28}" type="slidenum">
              <a:rPr lang="en-GB" smtClean="0"/>
              <a:t>10</a:t>
            </a:fld>
            <a:endParaRPr lang="en-GB"/>
          </a:p>
        </p:txBody>
      </p:sp>
    </p:spTree>
    <p:extLst>
      <p:ext uri="{BB962C8B-B14F-4D97-AF65-F5344CB8AC3E}">
        <p14:creationId xmlns:p14="http://schemas.microsoft.com/office/powerpoint/2010/main" val="34789128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C128FA71-3A18-48C0-980F-4B68F7F63042}" type="datetime1">
              <a:rPr lang="en-US" smtClean="0"/>
              <a:t>7/20/25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888970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1C1210E-201E-4473-82AC-2466F5386C38}" type="datetime1">
              <a:rPr lang="en-US" smtClean="0"/>
              <a:t>7/20/25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6566142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01EA198-6CAB-4B8F-B93F-1F9C8C4B6CE7}" type="datetime1">
              <a:rPr lang="en-US" smtClean="0"/>
              <a:t>7/20/25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219377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CA06041F-4525-44D5-AA4F-332294BF1F56}" type="datetime1">
              <a:rPr lang="en-US" smtClean="0"/>
              <a:t>7/20/25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7707714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F9557091-BBDF-4EB9-BA6B-2BB67AC4FC0F}" type="datetime1">
              <a:rPr lang="en-US" smtClean="0"/>
              <a:t>7/20/25</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261097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2D6B226B-77A6-410C-9796-083F278E0125}" type="datetime1">
              <a:rPr lang="en-US" smtClean="0"/>
              <a:t>7/20/25</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0121261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3A578B-D289-4C40-8593-3D356C49DA58}" type="datetime1">
              <a:rPr lang="en-US" smtClean="0"/>
              <a:t>7/20/25</a:t>
            </a:fld>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298536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713DFAE3-14DB-48A7-A80F-80DDB072CE3D}" type="datetime1">
              <a:rPr lang="en-US" smtClean="0"/>
              <a:t>7/20/25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222849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92C5EAEF-6478-4102-8F5D-A5FE9FC97ACB}" type="datetime1">
              <a:rPr lang="en-US" smtClean="0"/>
              <a:t>7/20/25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897005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7104EDB3-C0E8-45F8-9E1D-1B6C8D1880C0}" type="datetime1">
              <a:rPr lang="en-US" smtClean="0"/>
              <a:t>7/20/25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0721229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CF0EC4B-54ED-4041-B552-9BA760FA3DBA}" type="datetime1">
              <a:rPr lang="en-US" smtClean="0"/>
              <a:t>7/20/25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291838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7F45AC6-C491-4585-A584-9CE2AF7D5500}" type="datetime1">
              <a:rPr lang="en-US" smtClean="0"/>
              <a:t>7/20/25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1887801187"/>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5" Type="http://schemas.openxmlformats.org/officeDocument/2006/relationships/image" Target="../media/image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image" Target="../media/image1.png"/><Relationship Id="rId5" Type="http://schemas.openxmlformats.org/officeDocument/2006/relationships/image" Target="../media/image2.jpe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4a"/><Relationship Id="rId1" Type="http://schemas.microsoft.com/office/2007/relationships/media" Target="../media/media4.m4a"/><Relationship Id="rId6" Type="http://schemas.openxmlformats.org/officeDocument/2006/relationships/image" Target="../media/image1.png"/><Relationship Id="rId5" Type="http://schemas.openxmlformats.org/officeDocument/2006/relationships/image" Target="../media/image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png"/><Relationship Id="rId2" Type="http://schemas.openxmlformats.org/officeDocument/2006/relationships/audio" Target="../media/media5.m4a"/><Relationship Id="rId1" Type="http://schemas.microsoft.com/office/2007/relationships/media" Target="../media/media5.m4a"/><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6.m4a"/><Relationship Id="rId1" Type="http://schemas.microsoft.com/office/2007/relationships/media" Target="../media/media6.m4a"/><Relationship Id="rId6" Type="http://schemas.openxmlformats.org/officeDocument/2006/relationships/image" Target="../media/image1.png"/><Relationship Id="rId5" Type="http://schemas.openxmlformats.org/officeDocument/2006/relationships/image" Target="../media/image6.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7.m4a"/><Relationship Id="rId1" Type="http://schemas.microsoft.com/office/2007/relationships/media" Target="../media/media7.m4a"/><Relationship Id="rId6" Type="http://schemas.openxmlformats.org/officeDocument/2006/relationships/image" Target="../media/image1.png"/><Relationship Id="rId5" Type="http://schemas.openxmlformats.org/officeDocument/2006/relationships/image" Target="../media/image7.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8.m4a"/><Relationship Id="rId1" Type="http://schemas.microsoft.com/office/2007/relationships/media" Target="../media/media8.m4a"/><Relationship Id="rId6" Type="http://schemas.openxmlformats.org/officeDocument/2006/relationships/image" Target="../media/image1.png"/><Relationship Id="rId5" Type="http://schemas.openxmlformats.org/officeDocument/2006/relationships/image" Target="../media/image8.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9.m4a"/><Relationship Id="rId1" Type="http://schemas.microsoft.com/office/2007/relationships/media" Target="../media/media9.m4a"/><Relationship Id="rId6" Type="http://schemas.openxmlformats.org/officeDocument/2006/relationships/image" Target="../media/image1.png"/><Relationship Id="rId5" Type="http://schemas.openxmlformats.org/officeDocument/2006/relationships/image" Target="../media/image9.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0.m4a"/><Relationship Id="rId1" Type="http://schemas.microsoft.com/office/2007/relationships/media" Target="../media/media10.m4a"/><Relationship Id="rId5" Type="http://schemas.openxmlformats.org/officeDocument/2006/relationships/image" Target="../media/image1.png"/><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1956C057-D419-59AB-F82F-341489D59F20}"/>
              </a:ext>
            </a:extLst>
          </p:cNvPr>
          <p:cNvSpPr>
            <a:spLocks noGrp="1"/>
          </p:cNvSpPr>
          <p:nvPr>
            <p:ph type="ctrTitle"/>
          </p:nvPr>
        </p:nvSpPr>
        <p:spPr>
          <a:xfrm>
            <a:off x="1314824" y="735106"/>
            <a:ext cx="10053763" cy="2928470"/>
          </a:xfrm>
        </p:spPr>
        <p:txBody>
          <a:bodyPr anchor="b">
            <a:normAutofit/>
          </a:bodyPr>
          <a:lstStyle/>
          <a:p>
            <a:pPr algn="l"/>
            <a:r>
              <a:rPr lang="en-US" altLang="zh-CN" sz="4800" dirty="0">
                <a:solidFill>
                  <a:srgbClr val="FFFFFF"/>
                </a:solidFill>
              </a:rPr>
              <a:t>A</a:t>
            </a:r>
            <a:r>
              <a:rPr lang="zh-CN" altLang="en-US" sz="4800" dirty="0">
                <a:solidFill>
                  <a:srgbClr val="FFFFFF"/>
                </a:solidFill>
              </a:rPr>
              <a:t> </a:t>
            </a:r>
            <a:r>
              <a:rPr lang="en-US" altLang="zh-CN" sz="4800" dirty="0">
                <a:solidFill>
                  <a:srgbClr val="FFFFFF"/>
                </a:solidFill>
              </a:rPr>
              <a:t>simple</a:t>
            </a:r>
            <a:r>
              <a:rPr lang="zh-CN" altLang="en-US" sz="4800" dirty="0">
                <a:solidFill>
                  <a:srgbClr val="FFFFFF"/>
                </a:solidFill>
              </a:rPr>
              <a:t> </a:t>
            </a:r>
            <a:r>
              <a:rPr lang="en-US" altLang="zh-CN" sz="4800" dirty="0">
                <a:solidFill>
                  <a:srgbClr val="FFFFFF"/>
                </a:solidFill>
              </a:rPr>
              <a:t>spatial</a:t>
            </a:r>
            <a:r>
              <a:rPr lang="zh-CN" altLang="en-US" sz="4800" dirty="0">
                <a:solidFill>
                  <a:srgbClr val="FFFFFF"/>
                </a:solidFill>
              </a:rPr>
              <a:t> </a:t>
            </a:r>
            <a:r>
              <a:rPr lang="en-US" altLang="zh-CN" sz="4800" dirty="0">
                <a:solidFill>
                  <a:srgbClr val="FFFFFF"/>
                </a:solidFill>
              </a:rPr>
              <a:t>analysis</a:t>
            </a:r>
            <a:r>
              <a:rPr lang="zh-CN" altLang="en-US" sz="4800" dirty="0">
                <a:solidFill>
                  <a:srgbClr val="FFFFFF"/>
                </a:solidFill>
              </a:rPr>
              <a:t> </a:t>
            </a:r>
            <a:r>
              <a:rPr lang="en-US" altLang="zh-CN" sz="4800" dirty="0">
                <a:solidFill>
                  <a:srgbClr val="FFFFFF"/>
                </a:solidFill>
              </a:rPr>
              <a:t>of</a:t>
            </a:r>
            <a:r>
              <a:rPr lang="zh-CN" altLang="en-US" sz="4800" dirty="0">
                <a:solidFill>
                  <a:srgbClr val="FFFFFF"/>
                </a:solidFill>
              </a:rPr>
              <a:t> </a:t>
            </a:r>
            <a:r>
              <a:rPr lang="en-US" altLang="zh-CN" sz="4800" dirty="0">
                <a:solidFill>
                  <a:srgbClr val="FFFFFF"/>
                </a:solidFill>
              </a:rPr>
              <a:t>health</a:t>
            </a:r>
            <a:r>
              <a:rPr lang="zh-CN" altLang="en-US" sz="4800" dirty="0">
                <a:solidFill>
                  <a:srgbClr val="FFFFFF"/>
                </a:solidFill>
              </a:rPr>
              <a:t> </a:t>
            </a:r>
            <a:r>
              <a:rPr lang="en-US" altLang="zh-CN" sz="4800" dirty="0">
                <a:solidFill>
                  <a:srgbClr val="FFFFFF"/>
                </a:solidFill>
              </a:rPr>
              <a:t>outcomes</a:t>
            </a:r>
            <a:r>
              <a:rPr lang="zh-CN" altLang="en-US" sz="4800" dirty="0">
                <a:solidFill>
                  <a:srgbClr val="FFFFFF"/>
                </a:solidFill>
              </a:rPr>
              <a:t> </a:t>
            </a:r>
            <a:r>
              <a:rPr lang="en-US" altLang="zh-CN" sz="4800" dirty="0">
                <a:solidFill>
                  <a:srgbClr val="FFFFFF"/>
                </a:solidFill>
              </a:rPr>
              <a:t>in</a:t>
            </a:r>
            <a:r>
              <a:rPr lang="zh-CN" altLang="en-US" sz="4800" dirty="0">
                <a:solidFill>
                  <a:srgbClr val="FFFFFF"/>
                </a:solidFill>
              </a:rPr>
              <a:t> </a:t>
            </a:r>
            <a:r>
              <a:rPr lang="en-US" altLang="zh-CN" sz="4800" dirty="0">
                <a:solidFill>
                  <a:srgbClr val="FFFFFF"/>
                </a:solidFill>
              </a:rPr>
              <a:t>China</a:t>
            </a:r>
            <a:endParaRPr lang="en-GB" sz="4800" dirty="0">
              <a:solidFill>
                <a:srgbClr val="FFFFFF"/>
              </a:solidFill>
            </a:endParaRPr>
          </a:p>
        </p:txBody>
      </p:sp>
      <p:pic>
        <p:nvPicPr>
          <p:cNvPr id="9" name="Audio 8">
            <a:extLst>
              <a:ext uri="{FF2B5EF4-FFF2-40B4-BE49-F238E27FC236}">
                <a16:creationId xmlns:a16="http://schemas.microsoft.com/office/drawing/2014/main" id="{E324C147-7693-B6F4-6AAC-831F677F387B}"/>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1981558056"/>
      </p:ext>
    </p:extLst>
  </p:cSld>
  <p:clrMapOvr>
    <a:masterClrMapping/>
  </p:clrMapOvr>
  <mc:AlternateContent xmlns:mc="http://schemas.openxmlformats.org/markup-compatibility/2006">
    <mc:Choice xmlns:p14="http://schemas.microsoft.com/office/powerpoint/2010/main" Requires="p14">
      <p:transition spd="slow" p14:dur="2000" advTm="11680"/>
    </mc:Choice>
    <mc:Fallback>
      <p:transition spd="slow" advTm="116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par>
                                <p:cTn id="7" presetID="10" presetClass="entr" presetSubtype="0" fill="hold" grpId="0" nodeType="withEffect">
                                  <p:stCondLst>
                                    <p:cond delay="500"/>
                                  </p:stCondLst>
                                  <p:iterate type="lt">
                                    <p:tmPct val="10000"/>
                                  </p:iterate>
                                  <p:childTnLst>
                                    <p:set>
                                      <p:cBhvr>
                                        <p:cTn id="8" dur="1" fill="hold">
                                          <p:stCondLst>
                                            <p:cond delay="0"/>
                                          </p:stCondLst>
                                        </p:cTn>
                                        <p:tgtEl>
                                          <p:spTgt spid="2"/>
                                        </p:tgtEl>
                                        <p:attrNameLst>
                                          <p:attrName>style.visibility</p:attrName>
                                        </p:attrNameLst>
                                      </p:cBhvr>
                                      <p:to>
                                        <p:strVal val="visible"/>
                                      </p:to>
                                    </p:set>
                                    <p:animEffect transition="in" filter="fade">
                                      <p:cBhvr>
                                        <p:cTn id="9"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0" fill="hold" display="0">
                  <p:stCondLst>
                    <p:cond delay="indefinite"/>
                  </p:stCondLst>
                  <p:endCondLst>
                    <p:cond evt="onStopAudio" delay="0">
                      <p:tgtEl>
                        <p:sldTgt/>
                      </p:tgtEl>
                    </p:cond>
                  </p:endCondLst>
                </p:cTn>
                <p:tgtEl>
                  <p:spTgt spid="9"/>
                </p:tgtEl>
              </p:cMediaNode>
            </p:audio>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EA853-26D5-323E-14CD-C1E8F049070E}"/>
              </a:ext>
            </a:extLst>
          </p:cNvPr>
          <p:cNvSpPr>
            <a:spLocks noGrp="1"/>
          </p:cNvSpPr>
          <p:nvPr>
            <p:ph type="title"/>
          </p:nvPr>
        </p:nvSpPr>
        <p:spPr/>
        <p:txBody>
          <a:bodyPr/>
          <a:lstStyle/>
          <a:p>
            <a:r>
              <a:rPr lang="en-US" altLang="zh-CN" dirty="0"/>
              <a:t>Data</a:t>
            </a:r>
            <a:r>
              <a:rPr lang="zh-CN" altLang="en-US" dirty="0"/>
              <a:t> </a:t>
            </a:r>
            <a:r>
              <a:rPr lang="en-US" altLang="zh-CN" dirty="0"/>
              <a:t>sources</a:t>
            </a:r>
            <a:endParaRPr lang="en-GB" dirty="0"/>
          </a:p>
        </p:txBody>
      </p:sp>
      <p:sp>
        <p:nvSpPr>
          <p:cNvPr id="3" name="Content Placeholder 2">
            <a:extLst>
              <a:ext uri="{FF2B5EF4-FFF2-40B4-BE49-F238E27FC236}">
                <a16:creationId xmlns:a16="http://schemas.microsoft.com/office/drawing/2014/main" id="{57585DCB-6713-0147-3AA3-629B5A18BF12}"/>
              </a:ext>
            </a:extLst>
          </p:cNvPr>
          <p:cNvSpPr>
            <a:spLocks noGrp="1"/>
          </p:cNvSpPr>
          <p:nvPr>
            <p:ph idx="1"/>
          </p:nvPr>
        </p:nvSpPr>
        <p:spPr/>
        <p:txBody>
          <a:bodyPr>
            <a:normAutofit lnSpcReduction="10000"/>
          </a:bodyPr>
          <a:lstStyle/>
          <a:p>
            <a:r>
              <a:rPr lang="en-US" altLang="zh-CN" dirty="0"/>
              <a:t>Data</a:t>
            </a:r>
            <a:r>
              <a:rPr lang="zh-CN" altLang="en-US" dirty="0"/>
              <a:t> </a:t>
            </a:r>
            <a:r>
              <a:rPr lang="en-US" altLang="zh-CN" dirty="0"/>
              <a:t>sources</a:t>
            </a:r>
            <a:r>
              <a:rPr lang="zh-CN" altLang="en-US" dirty="0"/>
              <a:t> </a:t>
            </a:r>
            <a:r>
              <a:rPr lang="en-US" altLang="zh-CN" dirty="0"/>
              <a:t>for</a:t>
            </a:r>
            <a:r>
              <a:rPr lang="zh-CN" altLang="en-US" dirty="0"/>
              <a:t> </a:t>
            </a:r>
            <a:r>
              <a:rPr lang="en-US" altLang="zh-CN" dirty="0"/>
              <a:t>mainland</a:t>
            </a:r>
            <a:r>
              <a:rPr lang="zh-CN" altLang="en-US" dirty="0"/>
              <a:t> </a:t>
            </a:r>
            <a:r>
              <a:rPr lang="en-US" altLang="zh-CN" dirty="0"/>
              <a:t>China</a:t>
            </a:r>
            <a:r>
              <a:rPr lang="zh-CN" altLang="en-US" dirty="0"/>
              <a:t> </a:t>
            </a:r>
            <a:r>
              <a:rPr lang="en-US" altLang="zh-CN" dirty="0"/>
              <a:t>include:</a:t>
            </a:r>
            <a:endParaRPr lang="en-GB" altLang="zh-CN" dirty="0"/>
          </a:p>
          <a:p>
            <a:pPr lvl="1"/>
            <a:r>
              <a:rPr lang="en-US" altLang="zh-CN" dirty="0"/>
              <a:t>Life</a:t>
            </a:r>
            <a:r>
              <a:rPr lang="zh-CN" altLang="en-US" dirty="0"/>
              <a:t> </a:t>
            </a:r>
            <a:r>
              <a:rPr lang="en-US" altLang="zh-CN" dirty="0"/>
              <a:t>Expectancy</a:t>
            </a:r>
            <a:r>
              <a:rPr lang="zh-CN" altLang="en-US" dirty="0"/>
              <a:t> </a:t>
            </a:r>
            <a:r>
              <a:rPr lang="en-US" altLang="zh-CN" dirty="0"/>
              <a:t>(LE):</a:t>
            </a:r>
            <a:r>
              <a:rPr lang="zh-CN" altLang="en-US" dirty="0"/>
              <a:t> </a:t>
            </a:r>
            <a:r>
              <a:rPr lang="en-US" altLang="zh-CN" dirty="0"/>
              <a:t>Global</a:t>
            </a:r>
            <a:r>
              <a:rPr lang="zh-CN" altLang="en-US" dirty="0"/>
              <a:t> </a:t>
            </a:r>
            <a:r>
              <a:rPr lang="en-US" altLang="zh-CN" dirty="0"/>
              <a:t>Data</a:t>
            </a:r>
            <a:r>
              <a:rPr lang="zh-CN" altLang="en-US" dirty="0"/>
              <a:t> </a:t>
            </a:r>
            <a:r>
              <a:rPr lang="en-US" altLang="zh-CN" dirty="0"/>
              <a:t>Lab</a:t>
            </a:r>
          </a:p>
          <a:p>
            <a:pPr lvl="1"/>
            <a:r>
              <a:rPr lang="en-US" altLang="zh-CN" dirty="0"/>
              <a:t>Mean</a:t>
            </a:r>
            <a:r>
              <a:rPr lang="zh-CN" altLang="en-US" dirty="0"/>
              <a:t> </a:t>
            </a:r>
            <a:r>
              <a:rPr lang="en-US" altLang="zh-CN" dirty="0"/>
              <a:t>years</a:t>
            </a:r>
            <a:r>
              <a:rPr lang="zh-CN" altLang="en-US" dirty="0"/>
              <a:t> </a:t>
            </a:r>
            <a:r>
              <a:rPr lang="en-US" altLang="zh-CN" dirty="0"/>
              <a:t>of</a:t>
            </a:r>
            <a:r>
              <a:rPr lang="zh-CN" altLang="en-US" dirty="0"/>
              <a:t> </a:t>
            </a:r>
            <a:r>
              <a:rPr lang="en-US" altLang="zh-CN" dirty="0"/>
              <a:t>education</a:t>
            </a:r>
            <a:r>
              <a:rPr lang="zh-CN" altLang="en-US" dirty="0"/>
              <a:t> </a:t>
            </a:r>
            <a:r>
              <a:rPr lang="en-US" altLang="zh-CN" dirty="0"/>
              <a:t>(Edu):</a:t>
            </a:r>
            <a:r>
              <a:rPr lang="zh-CN" altLang="en-US" dirty="0"/>
              <a:t> </a:t>
            </a:r>
            <a:r>
              <a:rPr lang="en-US" altLang="zh-CN" dirty="0"/>
              <a:t>Global</a:t>
            </a:r>
            <a:r>
              <a:rPr lang="zh-CN" altLang="en-US" dirty="0"/>
              <a:t> </a:t>
            </a:r>
            <a:r>
              <a:rPr lang="en-US" altLang="zh-CN" dirty="0"/>
              <a:t>Data</a:t>
            </a:r>
            <a:r>
              <a:rPr lang="zh-CN" altLang="en-US" dirty="0"/>
              <a:t> </a:t>
            </a:r>
            <a:r>
              <a:rPr lang="en-US" altLang="zh-CN" dirty="0"/>
              <a:t>Lab</a:t>
            </a:r>
          </a:p>
          <a:p>
            <a:pPr lvl="1"/>
            <a:r>
              <a:rPr lang="en-US" altLang="zh-CN" dirty="0"/>
              <a:t>GDP</a:t>
            </a:r>
            <a:r>
              <a:rPr lang="zh-CN" altLang="en-US" dirty="0"/>
              <a:t> </a:t>
            </a:r>
            <a:r>
              <a:rPr lang="en-US" altLang="zh-CN" dirty="0"/>
              <a:t>per</a:t>
            </a:r>
            <a:r>
              <a:rPr lang="zh-CN" altLang="en-US" dirty="0"/>
              <a:t> </a:t>
            </a:r>
            <a:r>
              <a:rPr lang="en-US" altLang="zh-CN" dirty="0"/>
              <a:t>capita</a:t>
            </a:r>
            <a:r>
              <a:rPr lang="zh-CN" altLang="en-US" dirty="0"/>
              <a:t> </a:t>
            </a:r>
            <a:r>
              <a:rPr lang="en-US" altLang="zh-CN" dirty="0"/>
              <a:t>in</a:t>
            </a:r>
            <a:r>
              <a:rPr lang="zh-CN" altLang="en-US" dirty="0"/>
              <a:t> </a:t>
            </a:r>
            <a:r>
              <a:rPr lang="en-US" altLang="zh-CN" dirty="0"/>
              <a:t>PPP:</a:t>
            </a:r>
            <a:r>
              <a:rPr lang="zh-CN" altLang="en-US" dirty="0"/>
              <a:t> </a:t>
            </a:r>
            <a:r>
              <a:rPr lang="en-US" altLang="zh-CN" dirty="0"/>
              <a:t>IMF</a:t>
            </a:r>
          </a:p>
          <a:p>
            <a:r>
              <a:rPr lang="en-US" altLang="zh-CN" dirty="0"/>
              <a:t>For</a:t>
            </a:r>
            <a:r>
              <a:rPr lang="zh-CN" altLang="en-US" dirty="0"/>
              <a:t> </a:t>
            </a:r>
            <a:r>
              <a:rPr lang="en-US" altLang="zh-CN" dirty="0"/>
              <a:t>Hong</a:t>
            </a:r>
            <a:r>
              <a:rPr lang="zh-CN" altLang="en-US" dirty="0"/>
              <a:t> </a:t>
            </a:r>
            <a:r>
              <a:rPr lang="en-US" altLang="zh-CN" dirty="0"/>
              <a:t>Kong,</a:t>
            </a:r>
            <a:r>
              <a:rPr lang="zh-CN" altLang="en-US" dirty="0"/>
              <a:t> </a:t>
            </a:r>
            <a:r>
              <a:rPr lang="en-US" altLang="zh-CN" dirty="0"/>
              <a:t>Macau</a:t>
            </a:r>
            <a:r>
              <a:rPr lang="zh-CN" altLang="en-US" dirty="0"/>
              <a:t> </a:t>
            </a:r>
            <a:r>
              <a:rPr lang="en-US" altLang="zh-CN" dirty="0"/>
              <a:t>and</a:t>
            </a:r>
            <a:r>
              <a:rPr lang="zh-CN" altLang="en-US" dirty="0"/>
              <a:t> </a:t>
            </a:r>
            <a:r>
              <a:rPr lang="en-US" altLang="zh-CN" dirty="0"/>
              <a:t>Taiwan,</a:t>
            </a:r>
            <a:r>
              <a:rPr lang="zh-CN" altLang="en-US" dirty="0"/>
              <a:t> </a:t>
            </a:r>
            <a:r>
              <a:rPr lang="en-US" altLang="zh-CN" dirty="0"/>
              <a:t>data</a:t>
            </a:r>
            <a:r>
              <a:rPr lang="zh-CN" altLang="en-US" dirty="0"/>
              <a:t> </a:t>
            </a:r>
            <a:r>
              <a:rPr lang="en-US" altLang="zh-CN" dirty="0"/>
              <a:t>are</a:t>
            </a:r>
            <a:r>
              <a:rPr lang="zh-CN" altLang="en-US" dirty="0"/>
              <a:t> </a:t>
            </a:r>
            <a:r>
              <a:rPr lang="en-US" altLang="zh-CN" dirty="0"/>
              <a:t>taken</a:t>
            </a:r>
            <a:r>
              <a:rPr lang="zh-CN" altLang="en-US" dirty="0"/>
              <a:t> </a:t>
            </a:r>
            <a:r>
              <a:rPr lang="en-US" altLang="zh-CN" dirty="0"/>
              <a:t>from</a:t>
            </a:r>
            <a:r>
              <a:rPr lang="zh-CN" altLang="en-US" dirty="0"/>
              <a:t> </a:t>
            </a:r>
            <a:r>
              <a:rPr lang="en-US" altLang="zh-CN" dirty="0"/>
              <a:t>IMF</a:t>
            </a:r>
            <a:r>
              <a:rPr lang="zh-CN" altLang="en-US" dirty="0"/>
              <a:t> </a:t>
            </a:r>
            <a:r>
              <a:rPr lang="en-US" altLang="zh-CN" dirty="0"/>
              <a:t>and</a:t>
            </a:r>
            <a:r>
              <a:rPr lang="zh-CN" altLang="en-US" dirty="0"/>
              <a:t> </a:t>
            </a:r>
            <a:r>
              <a:rPr lang="en-US" altLang="zh-CN" dirty="0"/>
              <a:t>respective</a:t>
            </a:r>
            <a:r>
              <a:rPr lang="zh-CN" altLang="en-US" dirty="0"/>
              <a:t> </a:t>
            </a:r>
            <a:r>
              <a:rPr lang="en-US" altLang="zh-CN" dirty="0"/>
              <a:t>governments,</a:t>
            </a:r>
            <a:r>
              <a:rPr lang="zh-CN" altLang="en-US" dirty="0"/>
              <a:t> </a:t>
            </a:r>
            <a:r>
              <a:rPr lang="en-US" altLang="zh-CN" dirty="0"/>
              <a:t>if</a:t>
            </a:r>
            <a:r>
              <a:rPr lang="zh-CN" altLang="en-US" dirty="0"/>
              <a:t> </a:t>
            </a:r>
            <a:r>
              <a:rPr lang="en-US" altLang="zh-CN" dirty="0"/>
              <a:t>not</a:t>
            </a:r>
            <a:r>
              <a:rPr lang="zh-CN" altLang="en-US" dirty="0"/>
              <a:t> </a:t>
            </a:r>
            <a:r>
              <a:rPr lang="en-US" altLang="zh-CN" dirty="0"/>
              <a:t>available</a:t>
            </a:r>
            <a:r>
              <a:rPr lang="zh-CN" altLang="en-US" dirty="0"/>
              <a:t> </a:t>
            </a:r>
            <a:r>
              <a:rPr lang="en-US" altLang="zh-CN" dirty="0"/>
              <a:t>from</a:t>
            </a:r>
            <a:r>
              <a:rPr lang="zh-CN" altLang="en-US" dirty="0"/>
              <a:t> </a:t>
            </a:r>
            <a:r>
              <a:rPr lang="en-US" altLang="zh-CN" dirty="0"/>
              <a:t>above-mentioned</a:t>
            </a:r>
            <a:r>
              <a:rPr lang="zh-CN" altLang="en-US" dirty="0"/>
              <a:t> </a:t>
            </a:r>
            <a:r>
              <a:rPr lang="en-US" altLang="zh-CN" dirty="0"/>
              <a:t>sources</a:t>
            </a:r>
          </a:p>
          <a:p>
            <a:r>
              <a:rPr lang="en-US" altLang="zh-CN" dirty="0"/>
              <a:t>To</a:t>
            </a:r>
            <a:r>
              <a:rPr lang="zh-CN" altLang="en-US" dirty="0"/>
              <a:t> </a:t>
            </a:r>
            <a:r>
              <a:rPr lang="en-US" altLang="zh-CN" dirty="0"/>
              <a:t>ensure</a:t>
            </a:r>
            <a:r>
              <a:rPr lang="zh-CN" altLang="en-US" dirty="0"/>
              <a:t> </a:t>
            </a:r>
            <a:r>
              <a:rPr lang="en-US" altLang="zh-CN" dirty="0"/>
              <a:t>comparability:</a:t>
            </a:r>
          </a:p>
          <a:p>
            <a:pPr lvl="1"/>
            <a:r>
              <a:rPr lang="en-US" altLang="zh-CN" dirty="0"/>
              <a:t>The</a:t>
            </a:r>
            <a:r>
              <a:rPr lang="zh-CN" altLang="en-US" dirty="0"/>
              <a:t> </a:t>
            </a:r>
            <a:r>
              <a:rPr lang="en-US" altLang="zh-CN" dirty="0"/>
              <a:t>year</a:t>
            </a:r>
            <a:r>
              <a:rPr lang="zh-CN" altLang="en-US" dirty="0"/>
              <a:t> </a:t>
            </a:r>
            <a:r>
              <a:rPr lang="en-US" altLang="zh-CN" dirty="0"/>
              <a:t>was</a:t>
            </a:r>
            <a:r>
              <a:rPr lang="zh-CN" altLang="en-US" dirty="0"/>
              <a:t> </a:t>
            </a:r>
            <a:r>
              <a:rPr lang="en-US" altLang="zh-CN" dirty="0"/>
              <a:t>set</a:t>
            </a:r>
            <a:r>
              <a:rPr lang="zh-CN" altLang="en-US" dirty="0"/>
              <a:t> </a:t>
            </a:r>
            <a:r>
              <a:rPr lang="en-US" altLang="zh-CN" dirty="0"/>
              <a:t>in</a:t>
            </a:r>
            <a:r>
              <a:rPr lang="zh-CN" altLang="en-US" dirty="0"/>
              <a:t> </a:t>
            </a:r>
            <a:r>
              <a:rPr lang="en-US" altLang="zh-CN" dirty="0"/>
              <a:t>2022</a:t>
            </a:r>
          </a:p>
          <a:p>
            <a:pPr lvl="1"/>
            <a:r>
              <a:rPr lang="en-US" altLang="zh-CN" dirty="0"/>
              <a:t>Monetary</a:t>
            </a:r>
            <a:r>
              <a:rPr lang="zh-CN" altLang="en-US" dirty="0"/>
              <a:t> </a:t>
            </a:r>
            <a:r>
              <a:rPr lang="en-US" altLang="zh-CN" dirty="0"/>
              <a:t>values</a:t>
            </a:r>
            <a:r>
              <a:rPr lang="zh-CN" altLang="en-US" dirty="0"/>
              <a:t> </a:t>
            </a:r>
            <a:r>
              <a:rPr lang="en-US" altLang="zh-CN" dirty="0"/>
              <a:t>were</a:t>
            </a:r>
            <a:r>
              <a:rPr lang="zh-CN" altLang="en-US" dirty="0"/>
              <a:t> </a:t>
            </a:r>
            <a:r>
              <a:rPr lang="en-US" altLang="zh-CN" dirty="0" err="1"/>
              <a:t>standardised</a:t>
            </a:r>
            <a:r>
              <a:rPr lang="zh-CN" altLang="en-US" dirty="0"/>
              <a:t> </a:t>
            </a:r>
            <a:r>
              <a:rPr lang="en-US" altLang="zh-CN" dirty="0"/>
              <a:t>to</a:t>
            </a:r>
            <a:r>
              <a:rPr lang="zh-CN" altLang="en-US" dirty="0"/>
              <a:t> </a:t>
            </a:r>
            <a:r>
              <a:rPr lang="en-US" altLang="zh-CN" dirty="0"/>
              <a:t>PPP</a:t>
            </a:r>
          </a:p>
          <a:p>
            <a:r>
              <a:rPr lang="en-US" altLang="zh-CN" dirty="0"/>
              <a:t>Geospatial</a:t>
            </a:r>
            <a:r>
              <a:rPr lang="zh-CN" altLang="en-US" dirty="0"/>
              <a:t> </a:t>
            </a:r>
            <a:r>
              <a:rPr lang="en-US" altLang="zh-CN" dirty="0"/>
              <a:t>data</a:t>
            </a:r>
            <a:r>
              <a:rPr lang="zh-CN" altLang="en-US" dirty="0"/>
              <a:t> </a:t>
            </a:r>
            <a:r>
              <a:rPr lang="en-US" altLang="zh-CN" dirty="0"/>
              <a:t>were</a:t>
            </a:r>
            <a:r>
              <a:rPr lang="zh-CN" altLang="en-US" dirty="0"/>
              <a:t> </a:t>
            </a:r>
            <a:r>
              <a:rPr lang="en-US" altLang="zh-CN" dirty="0"/>
              <a:t>provided</a:t>
            </a:r>
            <a:r>
              <a:rPr lang="zh-CN" altLang="en-US" dirty="0"/>
              <a:t> </a:t>
            </a:r>
            <a:r>
              <a:rPr lang="en-US" altLang="zh-CN" dirty="0"/>
              <a:t>by</a:t>
            </a:r>
            <a:r>
              <a:rPr lang="zh-CN" altLang="en-US" dirty="0"/>
              <a:t> </a:t>
            </a:r>
            <a:r>
              <a:rPr lang="en-US" altLang="zh-CN" dirty="0"/>
              <a:t>the</a:t>
            </a:r>
            <a:r>
              <a:rPr lang="zh-CN" altLang="en-US" dirty="0"/>
              <a:t> </a:t>
            </a:r>
            <a:r>
              <a:rPr lang="en-US" altLang="zh-CN" dirty="0"/>
              <a:t>course</a:t>
            </a:r>
            <a:endParaRPr lang="en-GB" dirty="0"/>
          </a:p>
        </p:txBody>
      </p:sp>
      <p:pic>
        <p:nvPicPr>
          <p:cNvPr id="7" name="Audio 6">
            <a:extLst>
              <a:ext uri="{FF2B5EF4-FFF2-40B4-BE49-F238E27FC236}">
                <a16:creationId xmlns:a16="http://schemas.microsoft.com/office/drawing/2014/main" id="{DBF936D6-F138-933B-6792-3C1FE87A36F6}"/>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2623705491"/>
      </p:ext>
    </p:extLst>
  </p:cSld>
  <p:clrMapOvr>
    <a:masterClrMapping/>
  </p:clrMapOvr>
  <mc:AlternateContent xmlns:mc="http://schemas.openxmlformats.org/markup-compatibility/2006">
    <mc:Choice xmlns:p14="http://schemas.microsoft.com/office/powerpoint/2010/main" Requires="p14">
      <p:transition spd="slow" p14:dur="2000" advTm="40373"/>
    </mc:Choice>
    <mc:Fallback>
      <p:transition spd="slow" advTm="4037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par>
                          <p:cTn id="7" fill="hold">
                            <p:stCondLst>
                              <p:cond delay="0"/>
                            </p:stCondLst>
                            <p:childTnLst>
                              <p:par>
                                <p:cTn id="8" presetID="1" presetClass="mediacall" presetSubtype="0" fill="hold" nodeType="afterEffect">
                                  <p:stCondLst>
                                    <p:cond delay="0"/>
                                  </p:stCondLst>
                                  <p:childTnLst>
                                    <p:cmd type="call" cmd="playFrom(0.0)">
                                      <p:cBhvr>
                                        <p:cTn id="9"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0" fill="hold" display="0">
                  <p:stCondLst>
                    <p:cond delay="indefinite"/>
                  </p:stCondLst>
                  <p:endCondLst>
                    <p:cond evt="onStopAudio" delay="0">
                      <p:tgtEl>
                        <p:sldTgt/>
                      </p:tgtEl>
                    </p:cond>
                  </p:endCondLst>
                </p:cTn>
                <p:tgtEl>
                  <p:spTgt spid="7"/>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Wooden blocks stacked to create a bar graph">
            <a:extLst>
              <a:ext uri="{FF2B5EF4-FFF2-40B4-BE49-F238E27FC236}">
                <a16:creationId xmlns:a16="http://schemas.microsoft.com/office/drawing/2014/main" id="{649259F5-9514-1E60-42BF-41218BA71B4D}"/>
              </a:ext>
            </a:extLst>
          </p:cNvPr>
          <p:cNvPicPr>
            <a:picLocks noChangeAspect="1"/>
          </p:cNvPicPr>
          <p:nvPr/>
        </p:nvPicPr>
        <p:blipFill>
          <a:blip r:embed="rId5"/>
          <a:srcRect l="25738" r="14996" b="-1"/>
          <a:stretch>
            <a:fillRect/>
          </a:stretch>
        </p:blipFill>
        <p:spPr>
          <a:xfrm>
            <a:off x="6103027" y="10"/>
            <a:ext cx="6088971" cy="6857990"/>
          </a:xfrm>
          <a:prstGeom prst="rect">
            <a:avLst/>
          </a:prstGeom>
        </p:spPr>
      </p:pic>
      <p:sp useBgFill="1">
        <p:nvSpPr>
          <p:cNvPr id="11" name="Rectangle 10">
            <a:extLst>
              <a:ext uri="{FF2B5EF4-FFF2-40B4-BE49-F238E27FC236}">
                <a16:creationId xmlns:a16="http://schemas.microsoft.com/office/drawing/2014/main" id="{59B296B9-C5A5-4E4F-9B60-C907B5F146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D0300FD3-5AF1-6305-15FA-907807267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2285995"/>
          </a:xfrm>
          <a:prstGeom prst="rect">
            <a:avLst/>
          </a:prstGeom>
          <a:ln>
            <a:noFill/>
          </a:ln>
          <a:effectLst>
            <a:outerShdw blurRad="254000" dist="127000" dir="5460000" sx="92000" sy="92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248EBE-5CD0-2D07-3C7A-96257B626BAA}"/>
              </a:ext>
            </a:extLst>
          </p:cNvPr>
          <p:cNvSpPr>
            <a:spLocks noGrp="1"/>
          </p:cNvSpPr>
          <p:nvPr>
            <p:ph type="title"/>
          </p:nvPr>
        </p:nvSpPr>
        <p:spPr>
          <a:xfrm>
            <a:off x="761801" y="328512"/>
            <a:ext cx="4778387" cy="1628970"/>
          </a:xfrm>
        </p:spPr>
        <p:txBody>
          <a:bodyPr anchor="ctr">
            <a:normAutofit/>
          </a:bodyPr>
          <a:lstStyle/>
          <a:p>
            <a:r>
              <a:rPr lang="en-US" altLang="zh-CN" sz="4000"/>
              <a:t>Methodology</a:t>
            </a:r>
            <a:endParaRPr lang="en-GB" sz="4000"/>
          </a:p>
        </p:txBody>
      </p:sp>
      <p:sp>
        <p:nvSpPr>
          <p:cNvPr id="3" name="Content Placeholder 2">
            <a:extLst>
              <a:ext uri="{FF2B5EF4-FFF2-40B4-BE49-F238E27FC236}">
                <a16:creationId xmlns:a16="http://schemas.microsoft.com/office/drawing/2014/main" id="{F801F48A-E28E-940B-1A32-0AEA72DF36EA}"/>
              </a:ext>
            </a:extLst>
          </p:cNvPr>
          <p:cNvSpPr>
            <a:spLocks noGrp="1"/>
          </p:cNvSpPr>
          <p:nvPr>
            <p:ph idx="1"/>
          </p:nvPr>
        </p:nvSpPr>
        <p:spPr>
          <a:xfrm>
            <a:off x="761801" y="2884929"/>
            <a:ext cx="4659756" cy="3374137"/>
          </a:xfrm>
        </p:spPr>
        <p:txBody>
          <a:bodyPr anchor="ctr">
            <a:normAutofit/>
          </a:bodyPr>
          <a:lstStyle/>
          <a:p>
            <a:r>
              <a:rPr lang="en-US" altLang="zh-CN" sz="1600"/>
              <a:t>Main</a:t>
            </a:r>
            <a:r>
              <a:rPr lang="zh-CN" altLang="en-US" sz="1600"/>
              <a:t> </a:t>
            </a:r>
            <a:r>
              <a:rPr lang="en-US" altLang="zh-CN" sz="1600"/>
              <a:t>question:</a:t>
            </a:r>
          </a:p>
          <a:p>
            <a:pPr lvl="1"/>
            <a:r>
              <a:rPr lang="en-US" altLang="zh-CN" sz="1600"/>
              <a:t>To</a:t>
            </a:r>
            <a:r>
              <a:rPr lang="zh-CN" altLang="en-US" sz="1600"/>
              <a:t> </a:t>
            </a:r>
            <a:r>
              <a:rPr lang="en-US" altLang="zh-CN" sz="1600"/>
              <a:t>capture</a:t>
            </a:r>
            <a:r>
              <a:rPr lang="zh-CN" altLang="en-US" sz="1600"/>
              <a:t> </a:t>
            </a:r>
            <a:r>
              <a:rPr lang="en-US" altLang="zh-CN" sz="1600"/>
              <a:t>how</a:t>
            </a:r>
            <a:r>
              <a:rPr lang="zh-CN" altLang="en-US" sz="1600"/>
              <a:t> </a:t>
            </a:r>
            <a:r>
              <a:rPr lang="en-US" altLang="zh-CN" sz="1600"/>
              <a:t>education</a:t>
            </a:r>
            <a:r>
              <a:rPr lang="zh-CN" altLang="en-US" sz="1600"/>
              <a:t> </a:t>
            </a:r>
            <a:r>
              <a:rPr lang="en-US" altLang="zh-CN" sz="1600"/>
              <a:t>(mean</a:t>
            </a:r>
            <a:r>
              <a:rPr lang="zh-CN" altLang="en-US" sz="1600"/>
              <a:t> </a:t>
            </a:r>
            <a:r>
              <a:rPr lang="en-US" altLang="zh-CN" sz="1600"/>
              <a:t>years</a:t>
            </a:r>
            <a:r>
              <a:rPr lang="zh-CN" altLang="en-US" sz="1600"/>
              <a:t> </a:t>
            </a:r>
            <a:r>
              <a:rPr lang="en-US" altLang="zh-CN" sz="1600"/>
              <a:t>of</a:t>
            </a:r>
            <a:r>
              <a:rPr lang="zh-CN" altLang="en-US" sz="1600"/>
              <a:t> </a:t>
            </a:r>
            <a:r>
              <a:rPr lang="en-US" altLang="zh-CN" sz="1600"/>
              <a:t>education)</a:t>
            </a:r>
            <a:r>
              <a:rPr lang="zh-CN" altLang="en-US" sz="1600"/>
              <a:t> </a:t>
            </a:r>
            <a:r>
              <a:rPr lang="en-US" altLang="zh-CN" sz="1600"/>
              <a:t>and</a:t>
            </a:r>
            <a:r>
              <a:rPr lang="zh-CN" altLang="en-US" sz="1600"/>
              <a:t> </a:t>
            </a:r>
            <a:r>
              <a:rPr lang="en-US" altLang="zh-CN" sz="1600"/>
              <a:t>income</a:t>
            </a:r>
            <a:r>
              <a:rPr lang="zh-CN" altLang="en-US" sz="1600"/>
              <a:t> </a:t>
            </a:r>
            <a:r>
              <a:rPr lang="en-US" altLang="zh-CN" sz="1600"/>
              <a:t>(GDP</a:t>
            </a:r>
            <a:r>
              <a:rPr lang="zh-CN" altLang="en-US" sz="1600"/>
              <a:t> </a:t>
            </a:r>
            <a:r>
              <a:rPr lang="en-US" altLang="zh-CN" sz="1600"/>
              <a:t>per</a:t>
            </a:r>
            <a:r>
              <a:rPr lang="zh-CN" altLang="en-US" sz="1600"/>
              <a:t> </a:t>
            </a:r>
            <a:r>
              <a:rPr lang="en-US" altLang="zh-CN" sz="1600"/>
              <a:t>capita)</a:t>
            </a:r>
            <a:r>
              <a:rPr lang="zh-CN" altLang="en-US" sz="1600"/>
              <a:t> </a:t>
            </a:r>
            <a:r>
              <a:rPr lang="en-US" altLang="zh-CN" sz="1600"/>
              <a:t>contribute</a:t>
            </a:r>
            <a:r>
              <a:rPr lang="zh-CN" altLang="en-US" sz="1600"/>
              <a:t> </a:t>
            </a:r>
            <a:r>
              <a:rPr lang="en-US" altLang="zh-CN" sz="1600"/>
              <a:t>to</a:t>
            </a:r>
            <a:r>
              <a:rPr lang="zh-CN" altLang="en-US" sz="1600"/>
              <a:t> </a:t>
            </a:r>
            <a:r>
              <a:rPr lang="en-US" altLang="zh-CN" sz="1600"/>
              <a:t>variation</a:t>
            </a:r>
            <a:r>
              <a:rPr lang="zh-CN" altLang="en-US" sz="1600"/>
              <a:t> </a:t>
            </a:r>
            <a:r>
              <a:rPr lang="en-US" altLang="zh-CN" sz="1600"/>
              <a:t>in</a:t>
            </a:r>
            <a:r>
              <a:rPr lang="zh-CN" altLang="en-US" sz="1600"/>
              <a:t> </a:t>
            </a:r>
            <a:r>
              <a:rPr lang="en-US" altLang="zh-CN" sz="1600"/>
              <a:t>health</a:t>
            </a:r>
            <a:r>
              <a:rPr lang="zh-CN" altLang="en-US" sz="1600"/>
              <a:t> </a:t>
            </a:r>
            <a:r>
              <a:rPr lang="en-US" altLang="zh-CN" sz="1600"/>
              <a:t>outcomes</a:t>
            </a:r>
            <a:r>
              <a:rPr lang="zh-CN" altLang="en-US" sz="1600"/>
              <a:t> </a:t>
            </a:r>
            <a:r>
              <a:rPr lang="en-US" altLang="zh-CN" sz="1600"/>
              <a:t>(life</a:t>
            </a:r>
            <a:r>
              <a:rPr lang="zh-CN" altLang="en-US" sz="1600"/>
              <a:t> </a:t>
            </a:r>
            <a:r>
              <a:rPr lang="en-US" altLang="zh-CN" sz="1600"/>
              <a:t>expectancy)</a:t>
            </a:r>
          </a:p>
          <a:p>
            <a:endParaRPr lang="en-US" altLang="zh-CN" sz="1600"/>
          </a:p>
          <a:p>
            <a:r>
              <a:rPr lang="en-US" altLang="zh-CN" sz="1600"/>
              <a:t>Models</a:t>
            </a:r>
            <a:r>
              <a:rPr lang="zh-CN" altLang="en-US" sz="1600"/>
              <a:t> </a:t>
            </a:r>
            <a:r>
              <a:rPr lang="en-US" altLang="zh-CN" sz="1600"/>
              <a:t>used:</a:t>
            </a:r>
          </a:p>
          <a:p>
            <a:pPr lvl="1"/>
            <a:r>
              <a:rPr lang="en-US" altLang="zh-CN" sz="1600"/>
              <a:t>OLS</a:t>
            </a:r>
            <a:r>
              <a:rPr lang="zh-CN" altLang="en-US" sz="1600"/>
              <a:t> </a:t>
            </a:r>
            <a:r>
              <a:rPr lang="en-US" altLang="zh-CN" sz="1600"/>
              <a:t>regression</a:t>
            </a:r>
          </a:p>
          <a:p>
            <a:pPr lvl="1"/>
            <a:r>
              <a:rPr lang="en-US" altLang="zh-CN" sz="1600"/>
              <a:t>Spatial</a:t>
            </a:r>
            <a:r>
              <a:rPr lang="zh-CN" altLang="en-US" sz="1600"/>
              <a:t> </a:t>
            </a:r>
            <a:r>
              <a:rPr lang="en-US" altLang="zh-CN" sz="1600"/>
              <a:t>lag</a:t>
            </a:r>
            <a:r>
              <a:rPr lang="zh-CN" altLang="en-US" sz="1600"/>
              <a:t> </a:t>
            </a:r>
            <a:r>
              <a:rPr lang="en-US" altLang="zh-CN" sz="1600"/>
              <a:t>model</a:t>
            </a:r>
          </a:p>
          <a:p>
            <a:pPr lvl="1"/>
            <a:r>
              <a:rPr lang="en-US" altLang="zh-CN" sz="1600"/>
              <a:t>Spatial</a:t>
            </a:r>
            <a:r>
              <a:rPr lang="zh-CN" altLang="en-US" sz="1600"/>
              <a:t> </a:t>
            </a:r>
            <a:r>
              <a:rPr lang="en-US" altLang="zh-CN" sz="1600"/>
              <a:t>error</a:t>
            </a:r>
            <a:r>
              <a:rPr lang="zh-CN" altLang="en-US" sz="1600"/>
              <a:t> </a:t>
            </a:r>
            <a:r>
              <a:rPr lang="en-US" altLang="zh-CN" sz="1600"/>
              <a:t>model</a:t>
            </a:r>
          </a:p>
          <a:p>
            <a:pPr lvl="1"/>
            <a:r>
              <a:rPr lang="en-US" altLang="zh-CN" sz="1600"/>
              <a:t>Spatial</a:t>
            </a:r>
            <a:r>
              <a:rPr lang="zh-CN" altLang="en-US" sz="1600"/>
              <a:t> </a:t>
            </a:r>
            <a:r>
              <a:rPr lang="en-US" altLang="zh-CN" sz="1600"/>
              <a:t>Durbin</a:t>
            </a:r>
            <a:r>
              <a:rPr lang="zh-CN" altLang="en-US" sz="1600"/>
              <a:t> </a:t>
            </a:r>
            <a:r>
              <a:rPr lang="en-US" altLang="zh-CN" sz="1600"/>
              <a:t>model</a:t>
            </a:r>
          </a:p>
          <a:p>
            <a:pPr lvl="1"/>
            <a:r>
              <a:rPr lang="en-US" altLang="zh-CN" sz="1600"/>
              <a:t>Spatial</a:t>
            </a:r>
            <a:r>
              <a:rPr lang="zh-CN" altLang="en-US" sz="1600"/>
              <a:t> </a:t>
            </a:r>
            <a:r>
              <a:rPr lang="en-US" altLang="zh-CN" sz="1600"/>
              <a:t>mixed</a:t>
            </a:r>
            <a:r>
              <a:rPr lang="zh-CN" altLang="en-US" sz="1600"/>
              <a:t> </a:t>
            </a:r>
            <a:r>
              <a:rPr lang="en-US" altLang="zh-CN" sz="1600"/>
              <a:t>model</a:t>
            </a:r>
            <a:endParaRPr lang="en-GB" sz="1600"/>
          </a:p>
        </p:txBody>
      </p:sp>
      <p:pic>
        <p:nvPicPr>
          <p:cNvPr id="10" name="Audio 9">
            <a:extLst>
              <a:ext uri="{FF2B5EF4-FFF2-40B4-BE49-F238E27FC236}">
                <a16:creationId xmlns:a16="http://schemas.microsoft.com/office/drawing/2014/main" id="{73A4DE2D-8E59-A48B-7997-9BE11F389D56}"/>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1869802709"/>
      </p:ext>
    </p:extLst>
  </p:cSld>
  <p:clrMapOvr>
    <a:masterClrMapping/>
  </p:clrMapOvr>
  <mc:AlternateContent xmlns:mc="http://schemas.openxmlformats.org/markup-compatibility/2006">
    <mc:Choice xmlns:p14="http://schemas.microsoft.com/office/powerpoint/2010/main" Requires="p14">
      <p:transition spd="slow" p14:dur="2000" advTm="39178"/>
    </mc:Choice>
    <mc:Fallback>
      <p:transition spd="slow" advTm="3917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0"/>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F69FA-69A9-78D0-02AE-40C4EBEDC035}"/>
              </a:ext>
            </a:extLst>
          </p:cNvPr>
          <p:cNvSpPr>
            <a:spLocks noGrp="1"/>
          </p:cNvSpPr>
          <p:nvPr>
            <p:ph type="title"/>
          </p:nvPr>
        </p:nvSpPr>
        <p:spPr/>
        <p:txBody>
          <a:bodyPr/>
          <a:lstStyle/>
          <a:p>
            <a:r>
              <a:rPr lang="en-US" altLang="zh-CN" dirty="0"/>
              <a:t>Results:</a:t>
            </a:r>
            <a:r>
              <a:rPr lang="zh-CN" altLang="en-US" dirty="0"/>
              <a:t> </a:t>
            </a:r>
            <a:r>
              <a:rPr lang="en-US" altLang="zh-CN" dirty="0"/>
              <a:t>Building</a:t>
            </a:r>
            <a:r>
              <a:rPr lang="zh-CN" altLang="en-US" dirty="0"/>
              <a:t> </a:t>
            </a:r>
            <a:r>
              <a:rPr lang="en-US" altLang="zh-CN" dirty="0"/>
              <a:t>s</a:t>
            </a:r>
            <a:r>
              <a:rPr lang="en-US" dirty="0"/>
              <a:t>patial</a:t>
            </a:r>
            <a:r>
              <a:rPr lang="zh-CN" altLang="en-US" dirty="0"/>
              <a:t> </a:t>
            </a:r>
            <a:r>
              <a:rPr lang="en-US" altLang="zh-CN" dirty="0"/>
              <a:t>matrix</a:t>
            </a:r>
            <a:endParaRPr lang="en-GB" dirty="0"/>
          </a:p>
        </p:txBody>
      </p:sp>
      <p:pic>
        <p:nvPicPr>
          <p:cNvPr id="4" name="Content Placeholder 3">
            <a:extLst>
              <a:ext uri="{FF2B5EF4-FFF2-40B4-BE49-F238E27FC236}">
                <a16:creationId xmlns:a16="http://schemas.microsoft.com/office/drawing/2014/main" id="{54D4AA0F-28DF-9D22-5AD1-E2EBC90A2633}"/>
              </a:ext>
            </a:extLst>
          </p:cNvPr>
          <p:cNvPicPr>
            <a:picLocks noGrp="1" noChangeAspect="1"/>
          </p:cNvPicPr>
          <p:nvPr>
            <p:ph idx="1"/>
          </p:nvPr>
        </p:nvPicPr>
        <p:blipFill>
          <a:blip r:embed="rId5"/>
          <a:stretch>
            <a:fillRect/>
          </a:stretch>
        </p:blipFill>
        <p:spPr>
          <a:xfrm>
            <a:off x="3011249" y="1825625"/>
            <a:ext cx="6169502" cy="4351338"/>
          </a:xfrm>
          <a:prstGeom prst="rect">
            <a:avLst/>
          </a:prstGeom>
        </p:spPr>
      </p:pic>
      <p:pic>
        <p:nvPicPr>
          <p:cNvPr id="6" name="Audio 5">
            <a:extLst>
              <a:ext uri="{FF2B5EF4-FFF2-40B4-BE49-F238E27FC236}">
                <a16:creationId xmlns:a16="http://schemas.microsoft.com/office/drawing/2014/main" id="{57263FA8-6E1E-2E5E-4828-6F7260CA588C}"/>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1271186712"/>
      </p:ext>
    </p:extLst>
  </p:cSld>
  <p:clrMapOvr>
    <a:masterClrMapping/>
  </p:clrMapOvr>
  <mc:AlternateContent xmlns:mc="http://schemas.openxmlformats.org/markup-compatibility/2006">
    <mc:Choice xmlns:p14="http://schemas.microsoft.com/office/powerpoint/2010/main" Requires="p14">
      <p:transition spd="slow" p14:dur="2000" advTm="9002"/>
    </mc:Choice>
    <mc:Fallback>
      <p:transition spd="slow" advTm="900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AD7AA-1C0F-6D07-86E1-DAD7D878DB52}"/>
              </a:ext>
            </a:extLst>
          </p:cNvPr>
          <p:cNvSpPr>
            <a:spLocks noGrp="1"/>
          </p:cNvSpPr>
          <p:nvPr>
            <p:ph type="title"/>
          </p:nvPr>
        </p:nvSpPr>
        <p:spPr/>
        <p:txBody>
          <a:bodyPr/>
          <a:lstStyle/>
          <a:p>
            <a:r>
              <a:rPr lang="en-US" altLang="zh-CN" dirty="0"/>
              <a:t>Results:</a:t>
            </a:r>
            <a:r>
              <a:rPr lang="zh-CN" altLang="en-US" dirty="0"/>
              <a:t> </a:t>
            </a:r>
            <a:r>
              <a:rPr lang="en-US" altLang="zh-CN" dirty="0"/>
              <a:t>OLS</a:t>
            </a:r>
            <a:r>
              <a:rPr lang="zh-CN" altLang="en-US" dirty="0"/>
              <a:t> </a:t>
            </a:r>
            <a:r>
              <a:rPr lang="en-US" altLang="zh-CN" dirty="0"/>
              <a:t>estimation</a:t>
            </a:r>
            <a:br>
              <a:rPr lang="en-US" altLang="zh-CN" dirty="0"/>
            </a:br>
            <a:endParaRPr lang="en-GB" dirty="0"/>
          </a:p>
        </p:txBody>
      </p:sp>
      <p:pic>
        <p:nvPicPr>
          <p:cNvPr id="14" name="Content Placeholder 13" descr="A close-up of a number&#10;&#10;AI-generated content may be incorrect.">
            <a:extLst>
              <a:ext uri="{FF2B5EF4-FFF2-40B4-BE49-F238E27FC236}">
                <a16:creationId xmlns:a16="http://schemas.microsoft.com/office/drawing/2014/main" id="{6CB7E75C-CAFC-84EF-D8C5-9E01898A0F13}"/>
              </a:ext>
            </a:extLst>
          </p:cNvPr>
          <p:cNvPicPr>
            <a:picLocks noGrp="1" noChangeAspect="1"/>
          </p:cNvPicPr>
          <p:nvPr>
            <p:ph idx="1"/>
          </p:nvPr>
        </p:nvPicPr>
        <p:blipFill>
          <a:blip r:embed="rId5"/>
          <a:stretch>
            <a:fillRect/>
          </a:stretch>
        </p:blipFill>
        <p:spPr>
          <a:xfrm>
            <a:off x="502717" y="1982595"/>
            <a:ext cx="8204200" cy="4038600"/>
          </a:xfrm>
        </p:spPr>
      </p:pic>
      <p:pic>
        <p:nvPicPr>
          <p:cNvPr id="15" name="Picture 14">
            <a:extLst>
              <a:ext uri="{FF2B5EF4-FFF2-40B4-BE49-F238E27FC236}">
                <a16:creationId xmlns:a16="http://schemas.microsoft.com/office/drawing/2014/main" id="{60E832FA-C44C-0747-F240-66E48BFB39BC}"/>
              </a:ext>
            </a:extLst>
          </p:cNvPr>
          <p:cNvPicPr>
            <a:picLocks noChangeAspect="1"/>
          </p:cNvPicPr>
          <p:nvPr/>
        </p:nvPicPr>
        <p:blipFill>
          <a:blip r:embed="rId6"/>
          <a:srcRect l="3510"/>
          <a:stretch>
            <a:fillRect/>
          </a:stretch>
        </p:blipFill>
        <p:spPr>
          <a:xfrm>
            <a:off x="8706917" y="2189903"/>
            <a:ext cx="3292882" cy="3623984"/>
          </a:xfrm>
          <a:prstGeom prst="rect">
            <a:avLst/>
          </a:prstGeom>
        </p:spPr>
      </p:pic>
      <p:pic>
        <p:nvPicPr>
          <p:cNvPr id="5" name="Audio 4">
            <a:extLst>
              <a:ext uri="{FF2B5EF4-FFF2-40B4-BE49-F238E27FC236}">
                <a16:creationId xmlns:a16="http://schemas.microsoft.com/office/drawing/2014/main" id="{3D497C03-9F71-5B53-FB97-B806E2F13C7A}"/>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2027517890"/>
      </p:ext>
    </p:extLst>
  </p:cSld>
  <p:clrMapOvr>
    <a:masterClrMapping/>
  </p:clrMapOvr>
  <mc:AlternateContent xmlns:mc="http://schemas.openxmlformats.org/markup-compatibility/2006">
    <mc:Choice xmlns:p14="http://schemas.microsoft.com/office/powerpoint/2010/main" Requires="p14">
      <p:transition spd="slow" p14:dur="2000" advTm="77077"/>
    </mc:Choice>
    <mc:Fallback>
      <p:transition spd="slow" advTm="7707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CE3A8-9C56-06DD-4A17-E782D20E124A}"/>
              </a:ext>
            </a:extLst>
          </p:cNvPr>
          <p:cNvSpPr>
            <a:spLocks noGrp="1"/>
          </p:cNvSpPr>
          <p:nvPr>
            <p:ph type="title"/>
          </p:nvPr>
        </p:nvSpPr>
        <p:spPr/>
        <p:txBody>
          <a:bodyPr/>
          <a:lstStyle/>
          <a:p>
            <a:r>
              <a:rPr lang="en-US" altLang="zh-CN" dirty="0"/>
              <a:t>Results:</a:t>
            </a:r>
            <a:r>
              <a:rPr lang="zh-CN" altLang="en-US" dirty="0"/>
              <a:t> </a:t>
            </a:r>
            <a:r>
              <a:rPr lang="en-GB" dirty="0"/>
              <a:t>Spatial</a:t>
            </a:r>
            <a:r>
              <a:rPr lang="zh-CN" altLang="en-US" dirty="0"/>
              <a:t> </a:t>
            </a:r>
            <a:r>
              <a:rPr lang="en-US" altLang="zh-CN" dirty="0"/>
              <a:t>lag</a:t>
            </a:r>
            <a:r>
              <a:rPr lang="zh-CN" altLang="en-US" dirty="0"/>
              <a:t> </a:t>
            </a:r>
            <a:r>
              <a:rPr lang="en-US" altLang="zh-CN" dirty="0"/>
              <a:t>model</a:t>
            </a:r>
            <a:endParaRPr lang="en-GB" dirty="0"/>
          </a:p>
        </p:txBody>
      </p:sp>
      <p:pic>
        <p:nvPicPr>
          <p:cNvPr id="9" name="Content Placeholder 8" descr="A screenshot of a computer&#10;&#10;AI-generated content may be incorrect.">
            <a:extLst>
              <a:ext uri="{FF2B5EF4-FFF2-40B4-BE49-F238E27FC236}">
                <a16:creationId xmlns:a16="http://schemas.microsoft.com/office/drawing/2014/main" id="{2EB66D3B-BECB-4DD7-F0A1-FF315A5EDC33}"/>
              </a:ext>
            </a:extLst>
          </p:cNvPr>
          <p:cNvPicPr>
            <a:picLocks noGrp="1" noChangeAspect="1"/>
          </p:cNvPicPr>
          <p:nvPr>
            <p:ph idx="1"/>
          </p:nvPr>
        </p:nvPicPr>
        <p:blipFill>
          <a:blip r:embed="rId5"/>
          <a:stretch>
            <a:fillRect/>
          </a:stretch>
        </p:blipFill>
        <p:spPr>
          <a:xfrm>
            <a:off x="2877823" y="1825625"/>
            <a:ext cx="6436354" cy="4351338"/>
          </a:xfrm>
        </p:spPr>
      </p:pic>
      <p:pic>
        <p:nvPicPr>
          <p:cNvPr id="5" name="Audio 4">
            <a:extLst>
              <a:ext uri="{FF2B5EF4-FFF2-40B4-BE49-F238E27FC236}">
                <a16:creationId xmlns:a16="http://schemas.microsoft.com/office/drawing/2014/main" id="{534886A3-8DC0-62B7-6A14-7910745F3D44}"/>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151306534"/>
      </p:ext>
    </p:extLst>
  </p:cSld>
  <p:clrMapOvr>
    <a:masterClrMapping/>
  </p:clrMapOvr>
  <mc:AlternateContent xmlns:mc="http://schemas.openxmlformats.org/markup-compatibility/2006">
    <mc:Choice xmlns:p14="http://schemas.microsoft.com/office/powerpoint/2010/main" Requires="p14">
      <p:transition spd="slow" p14:dur="2000" advTm="48117"/>
    </mc:Choice>
    <mc:Fallback>
      <p:transition spd="slow" advTm="4811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A5161-37D8-B05B-86FF-81E357317C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9820E7-3FE6-C38B-88F5-6398370A1A68}"/>
              </a:ext>
            </a:extLst>
          </p:cNvPr>
          <p:cNvSpPr>
            <a:spLocks noGrp="1"/>
          </p:cNvSpPr>
          <p:nvPr>
            <p:ph type="title"/>
          </p:nvPr>
        </p:nvSpPr>
        <p:spPr/>
        <p:txBody>
          <a:bodyPr/>
          <a:lstStyle/>
          <a:p>
            <a:r>
              <a:rPr lang="en-US" altLang="zh-CN" dirty="0"/>
              <a:t>Results:</a:t>
            </a:r>
            <a:r>
              <a:rPr lang="zh-CN" altLang="en-US" dirty="0"/>
              <a:t> </a:t>
            </a:r>
            <a:r>
              <a:rPr lang="en-GB" dirty="0"/>
              <a:t>Spatial</a:t>
            </a:r>
            <a:r>
              <a:rPr lang="zh-CN" altLang="en-US" dirty="0"/>
              <a:t> </a:t>
            </a:r>
            <a:r>
              <a:rPr lang="en-US" altLang="zh-CN" dirty="0"/>
              <a:t>error</a:t>
            </a:r>
            <a:r>
              <a:rPr lang="zh-CN" altLang="en-US" dirty="0"/>
              <a:t> </a:t>
            </a:r>
            <a:r>
              <a:rPr lang="en-US" altLang="zh-CN" dirty="0"/>
              <a:t>model</a:t>
            </a:r>
            <a:endParaRPr lang="en-GB" dirty="0"/>
          </a:p>
        </p:txBody>
      </p:sp>
      <p:pic>
        <p:nvPicPr>
          <p:cNvPr id="7" name="Content Placeholder 6" descr="A screenshot of a computer&#10;&#10;AI-generated content may be incorrect.">
            <a:extLst>
              <a:ext uri="{FF2B5EF4-FFF2-40B4-BE49-F238E27FC236}">
                <a16:creationId xmlns:a16="http://schemas.microsoft.com/office/drawing/2014/main" id="{594E5CA3-5FDE-59EC-66DF-4341D49B6D5D}"/>
              </a:ext>
            </a:extLst>
          </p:cNvPr>
          <p:cNvPicPr>
            <a:picLocks noGrp="1" noChangeAspect="1"/>
          </p:cNvPicPr>
          <p:nvPr>
            <p:ph idx="1"/>
          </p:nvPr>
        </p:nvPicPr>
        <p:blipFill>
          <a:blip r:embed="rId5"/>
          <a:stretch>
            <a:fillRect/>
          </a:stretch>
        </p:blipFill>
        <p:spPr>
          <a:xfrm>
            <a:off x="2038350" y="1848644"/>
            <a:ext cx="8115300" cy="4305300"/>
          </a:xfrm>
          <a:prstGeom prst="rect">
            <a:avLst/>
          </a:prstGeom>
        </p:spPr>
      </p:pic>
      <p:pic>
        <p:nvPicPr>
          <p:cNvPr id="5" name="Audio 4">
            <a:extLst>
              <a:ext uri="{FF2B5EF4-FFF2-40B4-BE49-F238E27FC236}">
                <a16:creationId xmlns:a16="http://schemas.microsoft.com/office/drawing/2014/main" id="{1DEE9660-2905-4856-36EC-8A3DD1497D17}"/>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1159433870"/>
      </p:ext>
    </p:extLst>
  </p:cSld>
  <p:clrMapOvr>
    <a:masterClrMapping/>
  </p:clrMapOvr>
  <mc:AlternateContent xmlns:mc="http://schemas.openxmlformats.org/markup-compatibility/2006">
    <mc:Choice xmlns:p14="http://schemas.microsoft.com/office/powerpoint/2010/main" Requires="p14">
      <p:transition spd="slow" p14:dur="2000" advTm="31626"/>
    </mc:Choice>
    <mc:Fallback>
      <p:transition spd="slow" advTm="3162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FBA9B-8985-367F-AA1A-925C0C9C779F}"/>
              </a:ext>
            </a:extLst>
          </p:cNvPr>
          <p:cNvSpPr>
            <a:spLocks noGrp="1"/>
          </p:cNvSpPr>
          <p:nvPr>
            <p:ph type="title"/>
          </p:nvPr>
        </p:nvSpPr>
        <p:spPr/>
        <p:txBody>
          <a:bodyPr/>
          <a:lstStyle/>
          <a:p>
            <a:r>
              <a:rPr lang="en-US" altLang="zh-CN" dirty="0"/>
              <a:t>Results:</a:t>
            </a:r>
            <a:r>
              <a:rPr lang="zh-CN" altLang="en-US" dirty="0"/>
              <a:t> </a:t>
            </a:r>
            <a:r>
              <a:rPr lang="en-US" altLang="zh-CN" dirty="0"/>
              <a:t>Spatial</a:t>
            </a:r>
            <a:r>
              <a:rPr lang="zh-CN" altLang="en-US" dirty="0"/>
              <a:t> </a:t>
            </a:r>
            <a:r>
              <a:rPr lang="en-US" altLang="zh-CN" dirty="0"/>
              <a:t>Durbin</a:t>
            </a:r>
            <a:r>
              <a:rPr lang="zh-CN" altLang="en-US" dirty="0"/>
              <a:t> </a:t>
            </a:r>
            <a:r>
              <a:rPr lang="en-US" altLang="zh-CN" dirty="0"/>
              <a:t>model</a:t>
            </a:r>
            <a:endParaRPr lang="en-GB" dirty="0"/>
          </a:p>
        </p:txBody>
      </p:sp>
      <p:pic>
        <p:nvPicPr>
          <p:cNvPr id="4" name="Content Placeholder 3">
            <a:extLst>
              <a:ext uri="{FF2B5EF4-FFF2-40B4-BE49-F238E27FC236}">
                <a16:creationId xmlns:a16="http://schemas.microsoft.com/office/drawing/2014/main" id="{AD8BD071-4C4F-BFF8-900B-680253F516AD}"/>
              </a:ext>
            </a:extLst>
          </p:cNvPr>
          <p:cNvPicPr>
            <a:picLocks noGrp="1" noChangeAspect="1"/>
          </p:cNvPicPr>
          <p:nvPr>
            <p:ph idx="1"/>
          </p:nvPr>
        </p:nvPicPr>
        <p:blipFill>
          <a:blip r:embed="rId5"/>
          <a:stretch>
            <a:fillRect/>
          </a:stretch>
        </p:blipFill>
        <p:spPr>
          <a:xfrm>
            <a:off x="2939537" y="1825625"/>
            <a:ext cx="6312925" cy="4351338"/>
          </a:xfrm>
          <a:prstGeom prst="rect">
            <a:avLst/>
          </a:prstGeom>
        </p:spPr>
      </p:pic>
      <p:pic>
        <p:nvPicPr>
          <p:cNvPr id="6" name="Audio 5">
            <a:extLst>
              <a:ext uri="{FF2B5EF4-FFF2-40B4-BE49-F238E27FC236}">
                <a16:creationId xmlns:a16="http://schemas.microsoft.com/office/drawing/2014/main" id="{CB3491A4-6783-A548-D679-107E64476877}"/>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2634410671"/>
      </p:ext>
    </p:extLst>
  </p:cSld>
  <p:clrMapOvr>
    <a:masterClrMapping/>
  </p:clrMapOvr>
  <mc:AlternateContent xmlns:mc="http://schemas.openxmlformats.org/markup-compatibility/2006">
    <mc:Choice xmlns:p14="http://schemas.microsoft.com/office/powerpoint/2010/main" Requires="p14">
      <p:transition spd="slow" p14:dur="2000" advTm="43509"/>
    </mc:Choice>
    <mc:Fallback>
      <p:transition spd="slow" advTm="4350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3CFA3-055D-6351-C0FD-82B3D4D4A0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01DBF5-1CBA-6762-97DD-FCA06F8D2BBC}"/>
              </a:ext>
            </a:extLst>
          </p:cNvPr>
          <p:cNvSpPr>
            <a:spLocks noGrp="1"/>
          </p:cNvSpPr>
          <p:nvPr>
            <p:ph type="title"/>
          </p:nvPr>
        </p:nvSpPr>
        <p:spPr/>
        <p:txBody>
          <a:bodyPr/>
          <a:lstStyle/>
          <a:p>
            <a:r>
              <a:rPr lang="en-US" altLang="zh-CN" dirty="0"/>
              <a:t>Results:</a:t>
            </a:r>
            <a:r>
              <a:rPr lang="zh-CN" altLang="en-US" dirty="0"/>
              <a:t> </a:t>
            </a:r>
            <a:r>
              <a:rPr lang="en-US" altLang="zh-CN" dirty="0"/>
              <a:t>Spatial</a:t>
            </a:r>
            <a:r>
              <a:rPr lang="zh-CN" altLang="en-US" dirty="0"/>
              <a:t> </a:t>
            </a:r>
            <a:r>
              <a:rPr lang="en-US" altLang="zh-CN" dirty="0"/>
              <a:t>mixed</a:t>
            </a:r>
            <a:r>
              <a:rPr lang="zh-CN" altLang="en-US" dirty="0"/>
              <a:t> </a:t>
            </a:r>
            <a:r>
              <a:rPr lang="en-US" altLang="zh-CN" dirty="0"/>
              <a:t>model</a:t>
            </a:r>
            <a:endParaRPr lang="en-GB" dirty="0"/>
          </a:p>
        </p:txBody>
      </p:sp>
      <p:pic>
        <p:nvPicPr>
          <p:cNvPr id="9" name="Content Placeholder 8">
            <a:extLst>
              <a:ext uri="{FF2B5EF4-FFF2-40B4-BE49-F238E27FC236}">
                <a16:creationId xmlns:a16="http://schemas.microsoft.com/office/drawing/2014/main" id="{893AD922-A03A-A401-F76D-2EBAF2C6FC1A}"/>
              </a:ext>
            </a:extLst>
          </p:cNvPr>
          <p:cNvPicPr>
            <a:picLocks noGrp="1" noChangeAspect="1"/>
          </p:cNvPicPr>
          <p:nvPr>
            <p:ph idx="1"/>
          </p:nvPr>
        </p:nvPicPr>
        <p:blipFill>
          <a:blip r:embed="rId5"/>
          <a:stretch>
            <a:fillRect/>
          </a:stretch>
        </p:blipFill>
        <p:spPr>
          <a:xfrm>
            <a:off x="2454737" y="1825625"/>
            <a:ext cx="7282526" cy="4351338"/>
          </a:xfrm>
          <a:prstGeom prst="rect">
            <a:avLst/>
          </a:prstGeom>
        </p:spPr>
      </p:pic>
      <p:pic>
        <p:nvPicPr>
          <p:cNvPr id="5" name="Audio 4">
            <a:extLst>
              <a:ext uri="{FF2B5EF4-FFF2-40B4-BE49-F238E27FC236}">
                <a16:creationId xmlns:a16="http://schemas.microsoft.com/office/drawing/2014/main" id="{41C2EAEE-4984-7B44-53CD-A1772DCF9F62}"/>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2277158026"/>
      </p:ext>
    </p:extLst>
  </p:cSld>
  <p:clrMapOvr>
    <a:masterClrMapping/>
  </p:clrMapOvr>
  <mc:AlternateContent xmlns:mc="http://schemas.openxmlformats.org/markup-compatibility/2006">
    <mc:Choice xmlns:p14="http://schemas.microsoft.com/office/powerpoint/2010/main" Requires="p14">
      <p:transition spd="slow" p14:dur="2000" advTm="118965"/>
    </mc:Choice>
    <mc:Fallback>
      <p:transition spd="slow" advTm="11896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76BE2-4210-4FB9-6E5D-13A61D4092E8}"/>
              </a:ext>
            </a:extLst>
          </p:cNvPr>
          <p:cNvSpPr>
            <a:spLocks noGrp="1"/>
          </p:cNvSpPr>
          <p:nvPr>
            <p:ph type="title"/>
          </p:nvPr>
        </p:nvSpPr>
        <p:spPr/>
        <p:txBody>
          <a:bodyPr/>
          <a:lstStyle/>
          <a:p>
            <a:r>
              <a:rPr lang="en-US" altLang="zh-CN" dirty="0"/>
              <a:t>Discussion</a:t>
            </a:r>
            <a:endParaRPr lang="en-GB" dirty="0"/>
          </a:p>
        </p:txBody>
      </p:sp>
      <p:sp>
        <p:nvSpPr>
          <p:cNvPr id="3" name="Content Placeholder 2">
            <a:extLst>
              <a:ext uri="{FF2B5EF4-FFF2-40B4-BE49-F238E27FC236}">
                <a16:creationId xmlns:a16="http://schemas.microsoft.com/office/drawing/2014/main" id="{B06F5A08-6225-347E-9205-13EA48D64D18}"/>
              </a:ext>
            </a:extLst>
          </p:cNvPr>
          <p:cNvSpPr>
            <a:spLocks noGrp="1"/>
          </p:cNvSpPr>
          <p:nvPr>
            <p:ph idx="1"/>
          </p:nvPr>
        </p:nvSpPr>
        <p:spPr/>
        <p:txBody>
          <a:bodyPr>
            <a:normAutofit/>
          </a:bodyPr>
          <a:lstStyle/>
          <a:p>
            <a:r>
              <a:rPr lang="en-GB" dirty="0"/>
              <a:t>Model</a:t>
            </a:r>
            <a:r>
              <a:rPr lang="zh-CN" altLang="en-US" dirty="0"/>
              <a:t> </a:t>
            </a:r>
            <a:r>
              <a:rPr lang="en-US" altLang="zh-CN" dirty="0"/>
              <a:t>comparisons:</a:t>
            </a:r>
          </a:p>
          <a:p>
            <a:pPr lvl="1"/>
            <a:r>
              <a:rPr lang="en-US" altLang="zh-CN" dirty="0"/>
              <a:t>Improved</a:t>
            </a:r>
            <a:r>
              <a:rPr lang="zh-CN" altLang="en-US" dirty="0"/>
              <a:t> </a:t>
            </a:r>
            <a:r>
              <a:rPr lang="en-US" altLang="zh-CN" dirty="0"/>
              <a:t>R-squared</a:t>
            </a:r>
            <a:r>
              <a:rPr lang="zh-CN" altLang="en-US" dirty="0"/>
              <a:t> </a:t>
            </a:r>
            <a:r>
              <a:rPr lang="en-US" altLang="zh-CN" dirty="0"/>
              <a:t>with</a:t>
            </a:r>
            <a:r>
              <a:rPr lang="zh-CN" altLang="en-US" dirty="0"/>
              <a:t> </a:t>
            </a:r>
            <a:r>
              <a:rPr lang="en-US" altLang="zh-CN" dirty="0"/>
              <a:t>spatial</a:t>
            </a:r>
            <a:r>
              <a:rPr lang="zh-CN" altLang="en-US" dirty="0"/>
              <a:t> </a:t>
            </a:r>
            <a:r>
              <a:rPr lang="en-US" altLang="zh-CN" dirty="0"/>
              <a:t>modelling</a:t>
            </a:r>
          </a:p>
          <a:p>
            <a:pPr lvl="1"/>
            <a:r>
              <a:rPr lang="en-US" altLang="zh-CN" dirty="0"/>
              <a:t>Spatial</a:t>
            </a:r>
            <a:r>
              <a:rPr lang="zh-CN" altLang="en-US" dirty="0"/>
              <a:t> </a:t>
            </a:r>
            <a:r>
              <a:rPr lang="en-US" altLang="zh-CN" dirty="0"/>
              <a:t>mixed</a:t>
            </a:r>
            <a:r>
              <a:rPr lang="zh-CN" altLang="en-US" dirty="0"/>
              <a:t> </a:t>
            </a:r>
            <a:r>
              <a:rPr lang="en-US" altLang="zh-CN" dirty="0"/>
              <a:t>model</a:t>
            </a:r>
            <a:r>
              <a:rPr lang="zh-CN" altLang="en-US" dirty="0"/>
              <a:t> </a:t>
            </a:r>
            <a:r>
              <a:rPr lang="en-US" altLang="zh-CN" dirty="0"/>
              <a:t>outperforms</a:t>
            </a:r>
            <a:r>
              <a:rPr lang="zh-CN" altLang="en-US" dirty="0"/>
              <a:t> </a:t>
            </a:r>
            <a:r>
              <a:rPr lang="en-US" altLang="zh-CN" dirty="0"/>
              <a:t>other</a:t>
            </a:r>
            <a:r>
              <a:rPr lang="zh-CN" altLang="en-US" dirty="0"/>
              <a:t> </a:t>
            </a:r>
            <a:r>
              <a:rPr lang="en-US" altLang="zh-CN" dirty="0"/>
              <a:t>models</a:t>
            </a:r>
          </a:p>
          <a:p>
            <a:r>
              <a:rPr lang="en-US" altLang="zh-CN" dirty="0"/>
              <a:t>Direct</a:t>
            </a:r>
            <a:r>
              <a:rPr lang="zh-CN" altLang="en-US" dirty="0"/>
              <a:t> </a:t>
            </a:r>
            <a:r>
              <a:rPr lang="en-US" altLang="zh-CN" dirty="0"/>
              <a:t>and</a:t>
            </a:r>
            <a:r>
              <a:rPr lang="zh-CN" altLang="en-US" dirty="0"/>
              <a:t> </a:t>
            </a:r>
            <a:r>
              <a:rPr lang="en-US" altLang="zh-CN" dirty="0"/>
              <a:t>spillover</a:t>
            </a:r>
            <a:r>
              <a:rPr lang="zh-CN" altLang="en-US" dirty="0"/>
              <a:t> </a:t>
            </a:r>
            <a:r>
              <a:rPr lang="en-US" altLang="zh-CN" dirty="0"/>
              <a:t>effects</a:t>
            </a:r>
          </a:p>
          <a:p>
            <a:pPr lvl="1"/>
            <a:r>
              <a:rPr lang="en-US" altLang="zh-CN" dirty="0"/>
              <a:t>Education</a:t>
            </a:r>
            <a:r>
              <a:rPr lang="zh-CN" altLang="en-US" dirty="0"/>
              <a:t> </a:t>
            </a:r>
            <a:r>
              <a:rPr lang="en-US" altLang="zh-CN" dirty="0"/>
              <a:t>has</a:t>
            </a:r>
            <a:r>
              <a:rPr lang="zh-CN" altLang="en-US" dirty="0"/>
              <a:t> </a:t>
            </a:r>
            <a:r>
              <a:rPr lang="en-US" altLang="zh-CN" dirty="0"/>
              <a:t>consistently</a:t>
            </a:r>
            <a:r>
              <a:rPr lang="zh-CN" altLang="en-US" dirty="0"/>
              <a:t> </a:t>
            </a:r>
            <a:r>
              <a:rPr lang="en-US" altLang="zh-CN" dirty="0"/>
              <a:t>high</a:t>
            </a:r>
            <a:r>
              <a:rPr lang="zh-CN" altLang="en-US" dirty="0"/>
              <a:t> </a:t>
            </a:r>
            <a:r>
              <a:rPr lang="en-US" altLang="zh-CN" dirty="0"/>
              <a:t>impact,</a:t>
            </a:r>
            <a:r>
              <a:rPr lang="zh-CN" altLang="en-US" dirty="0"/>
              <a:t> </a:t>
            </a:r>
            <a:r>
              <a:rPr lang="en-US" altLang="zh-CN" dirty="0"/>
              <a:t>yet</a:t>
            </a:r>
            <a:r>
              <a:rPr lang="zh-CN" altLang="en-US" dirty="0"/>
              <a:t> </a:t>
            </a:r>
            <a:r>
              <a:rPr lang="en-US" altLang="zh-CN" dirty="0"/>
              <a:t>GDP</a:t>
            </a:r>
            <a:r>
              <a:rPr lang="zh-CN" altLang="en-US" dirty="0"/>
              <a:t> </a:t>
            </a:r>
            <a:r>
              <a:rPr lang="en-US" altLang="zh-CN" dirty="0"/>
              <a:t>per</a:t>
            </a:r>
            <a:r>
              <a:rPr lang="zh-CN" altLang="en-US" dirty="0"/>
              <a:t> </a:t>
            </a:r>
            <a:r>
              <a:rPr lang="en-US" altLang="zh-CN" dirty="0"/>
              <a:t>capita</a:t>
            </a:r>
            <a:r>
              <a:rPr lang="zh-CN" altLang="en-US" dirty="0"/>
              <a:t> </a:t>
            </a:r>
            <a:r>
              <a:rPr lang="en-US" altLang="zh-CN" dirty="0"/>
              <a:t>is</a:t>
            </a:r>
            <a:r>
              <a:rPr lang="zh-CN" altLang="en-US" dirty="0"/>
              <a:t> </a:t>
            </a:r>
            <a:r>
              <a:rPr lang="en-US" altLang="zh-CN" dirty="0"/>
              <a:t>slightly</a:t>
            </a:r>
            <a:r>
              <a:rPr lang="zh-CN" altLang="en-US" dirty="0"/>
              <a:t> </a:t>
            </a:r>
            <a:r>
              <a:rPr lang="en-US" altLang="zh-CN" dirty="0"/>
              <a:t>insignificant</a:t>
            </a:r>
            <a:endParaRPr lang="en-GB" altLang="zh-CN" dirty="0"/>
          </a:p>
          <a:p>
            <a:pPr lvl="1"/>
            <a:r>
              <a:rPr lang="en-US" altLang="zh-CN" dirty="0"/>
              <a:t>Spillover</a:t>
            </a:r>
            <a:r>
              <a:rPr lang="zh-CN" altLang="en-US" dirty="0"/>
              <a:t> </a:t>
            </a:r>
            <a:r>
              <a:rPr lang="en-US" altLang="zh-CN" dirty="0"/>
              <a:t>of</a:t>
            </a:r>
            <a:r>
              <a:rPr lang="zh-CN" altLang="en-US" dirty="0"/>
              <a:t> </a:t>
            </a:r>
            <a:r>
              <a:rPr lang="en-US" altLang="zh-CN" dirty="0"/>
              <a:t>GDP</a:t>
            </a:r>
            <a:r>
              <a:rPr lang="zh-CN" altLang="en-US" dirty="0"/>
              <a:t> </a:t>
            </a:r>
            <a:r>
              <a:rPr lang="en-US" altLang="zh-CN" dirty="0"/>
              <a:t>per</a:t>
            </a:r>
            <a:r>
              <a:rPr lang="zh-CN" altLang="en-US" dirty="0"/>
              <a:t> </a:t>
            </a:r>
            <a:r>
              <a:rPr lang="en-US" altLang="zh-CN" dirty="0"/>
              <a:t>capita</a:t>
            </a:r>
            <a:r>
              <a:rPr lang="zh-CN" altLang="en-US" dirty="0"/>
              <a:t> </a:t>
            </a:r>
            <a:r>
              <a:rPr lang="en-US" altLang="zh-CN" dirty="0"/>
              <a:t>insignificant,</a:t>
            </a:r>
            <a:r>
              <a:rPr lang="zh-CN" altLang="en-US" dirty="0"/>
              <a:t> </a:t>
            </a:r>
            <a:r>
              <a:rPr lang="en-US" altLang="zh-CN" dirty="0"/>
              <a:t>yet</a:t>
            </a:r>
            <a:r>
              <a:rPr lang="zh-CN" altLang="en-US" dirty="0"/>
              <a:t> </a:t>
            </a:r>
            <a:r>
              <a:rPr lang="en-US" altLang="zh-CN" dirty="0"/>
              <a:t>distributed</a:t>
            </a:r>
            <a:r>
              <a:rPr lang="zh-CN" altLang="en-US" dirty="0"/>
              <a:t> </a:t>
            </a:r>
            <a:r>
              <a:rPr lang="en-US" altLang="zh-CN" dirty="0"/>
              <a:t>lags</a:t>
            </a:r>
            <a:r>
              <a:rPr lang="zh-CN" altLang="en-US" dirty="0"/>
              <a:t> </a:t>
            </a:r>
            <a:r>
              <a:rPr lang="en-US" altLang="zh-CN" dirty="0"/>
              <a:t>of</a:t>
            </a:r>
            <a:r>
              <a:rPr lang="zh-CN" altLang="en-US" dirty="0"/>
              <a:t> </a:t>
            </a:r>
            <a:r>
              <a:rPr lang="en-US" altLang="zh-CN" dirty="0"/>
              <a:t>life</a:t>
            </a:r>
            <a:r>
              <a:rPr lang="zh-CN" altLang="en-US" dirty="0"/>
              <a:t> </a:t>
            </a:r>
            <a:r>
              <a:rPr lang="en-US" altLang="zh-CN" dirty="0"/>
              <a:t>expectancy</a:t>
            </a:r>
            <a:r>
              <a:rPr lang="zh-CN" altLang="en-US" dirty="0"/>
              <a:t> </a:t>
            </a:r>
            <a:r>
              <a:rPr lang="en-US" altLang="zh-CN" dirty="0"/>
              <a:t>significant</a:t>
            </a:r>
          </a:p>
          <a:p>
            <a:pPr lvl="1"/>
            <a:r>
              <a:rPr lang="en-US" altLang="zh-CN" dirty="0"/>
              <a:t>There</a:t>
            </a:r>
            <a:r>
              <a:rPr lang="zh-CN" altLang="en-US" dirty="0"/>
              <a:t> </a:t>
            </a:r>
            <a:r>
              <a:rPr lang="en-US" altLang="zh-CN" dirty="0"/>
              <a:t>could</a:t>
            </a:r>
            <a:r>
              <a:rPr lang="zh-CN" altLang="en-US" dirty="0"/>
              <a:t> </a:t>
            </a:r>
            <a:r>
              <a:rPr lang="en-US" altLang="zh-CN" dirty="0"/>
              <a:t>be</a:t>
            </a:r>
            <a:r>
              <a:rPr lang="zh-CN" altLang="en-US" dirty="0"/>
              <a:t> </a:t>
            </a:r>
            <a:r>
              <a:rPr lang="en-US" altLang="zh-CN" dirty="0"/>
              <a:t>unobserved</a:t>
            </a:r>
            <a:r>
              <a:rPr lang="zh-CN" altLang="en-US" dirty="0"/>
              <a:t> </a:t>
            </a:r>
            <a:r>
              <a:rPr lang="en-US" altLang="zh-CN" dirty="0"/>
              <a:t>heterogeneity</a:t>
            </a:r>
            <a:endParaRPr lang="en-GB" dirty="0"/>
          </a:p>
        </p:txBody>
      </p:sp>
      <p:pic>
        <p:nvPicPr>
          <p:cNvPr id="6" name="Audio 5">
            <a:extLst>
              <a:ext uri="{FF2B5EF4-FFF2-40B4-BE49-F238E27FC236}">
                <a16:creationId xmlns:a16="http://schemas.microsoft.com/office/drawing/2014/main" id="{ECCCB6C1-2456-BBEB-EA14-027CA8A11D50}"/>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2626268243"/>
      </p:ext>
    </p:extLst>
  </p:cSld>
  <p:clrMapOvr>
    <a:masterClrMapping/>
  </p:clrMapOvr>
  <mc:AlternateContent xmlns:mc="http://schemas.openxmlformats.org/markup-compatibility/2006">
    <mc:Choice xmlns:p14="http://schemas.microsoft.com/office/powerpoint/2010/main" Requires="p14">
      <p:transition spd="slow" p14:dur="2000" advTm="72881"/>
    </mc:Choice>
    <mc:Fallback>
      <p:transition spd="slow" advTm="7288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110</TotalTime>
  <Words>3001</Words>
  <Application>Microsoft Macintosh PowerPoint</Application>
  <PresentationFormat>Widescreen</PresentationFormat>
  <Paragraphs>118</Paragraphs>
  <Slides>10</Slides>
  <Notes>10</Notes>
  <HiddenSlides>0</HiddenSlides>
  <MMClips>10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Arial</vt:lpstr>
      <vt:lpstr>Calibri</vt:lpstr>
      <vt:lpstr>Calibri Light</vt:lpstr>
      <vt:lpstr>Office 2013 - 2022 Theme</vt:lpstr>
      <vt:lpstr>A simple spatial analysis of health outcomes in China</vt:lpstr>
      <vt:lpstr>Data sources</vt:lpstr>
      <vt:lpstr>Methodology</vt:lpstr>
      <vt:lpstr>Results: Building spatial matrix</vt:lpstr>
      <vt:lpstr>Results: OLS estimation </vt:lpstr>
      <vt:lpstr>Results: Spatial lag model</vt:lpstr>
      <vt:lpstr>Results: Spatial error model</vt:lpstr>
      <vt:lpstr>Results: Spatial Durbin model</vt:lpstr>
      <vt:lpstr>Results: Spatial mixed model</vt:lpstr>
      <vt:lpstr>Discussion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Frank Chen</dc:creator>
  <cp:lastModifiedBy>Frank Chen</cp:lastModifiedBy>
  <cp:revision>2</cp:revision>
  <dcterms:created xsi:type="dcterms:W3CDTF">2025-07-20T00:58:45Z</dcterms:created>
  <dcterms:modified xsi:type="dcterms:W3CDTF">2025-07-20T02:48:58Z</dcterms:modified>
</cp:coreProperties>
</file>