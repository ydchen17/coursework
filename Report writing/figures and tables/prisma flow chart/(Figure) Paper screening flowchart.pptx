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0" r:id="rId1"/>
  </p:sldMasterIdLst>
  <p:sldIdLst>
    <p:sldId id="256" r:id="rId2"/>
  </p:sldIdLst>
  <p:sldSz cx="12960350" cy="115204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60" d="100"/>
          <a:sy n="60" d="100"/>
        </p:scale>
        <p:origin x="1744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2026" y="1885414"/>
            <a:ext cx="11016298" cy="4010837"/>
          </a:xfrm>
        </p:spPr>
        <p:txBody>
          <a:bodyPr anchor="b"/>
          <a:lstStyle>
            <a:lvl1pPr algn="ctr">
              <a:defRPr sz="850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0044" y="6050924"/>
            <a:ext cx="9720263" cy="2781450"/>
          </a:xfrm>
        </p:spPr>
        <p:txBody>
          <a:bodyPr/>
          <a:lstStyle>
            <a:lvl1pPr marL="0" indent="0" algn="ctr">
              <a:buNone/>
              <a:defRPr sz="3402"/>
            </a:lvl1pPr>
            <a:lvl2pPr marL="648035" indent="0" algn="ctr">
              <a:buNone/>
              <a:defRPr sz="2835"/>
            </a:lvl2pPr>
            <a:lvl3pPr marL="1296071" indent="0" algn="ctr">
              <a:buNone/>
              <a:defRPr sz="2551"/>
            </a:lvl3pPr>
            <a:lvl4pPr marL="1944106" indent="0" algn="ctr">
              <a:buNone/>
              <a:defRPr sz="2268"/>
            </a:lvl4pPr>
            <a:lvl5pPr marL="2592141" indent="0" algn="ctr">
              <a:buNone/>
              <a:defRPr sz="2268"/>
            </a:lvl5pPr>
            <a:lvl6pPr marL="3240176" indent="0" algn="ctr">
              <a:buNone/>
              <a:defRPr sz="2268"/>
            </a:lvl6pPr>
            <a:lvl7pPr marL="3888212" indent="0" algn="ctr">
              <a:buNone/>
              <a:defRPr sz="2268"/>
            </a:lvl7pPr>
            <a:lvl8pPr marL="4536247" indent="0" algn="ctr">
              <a:buNone/>
              <a:defRPr sz="2268"/>
            </a:lvl8pPr>
            <a:lvl9pPr marL="5184282" indent="0" algn="ctr">
              <a:buNone/>
              <a:defRPr sz="2268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B578F-CE61-D445-8E48-39808DB5B3FE}" type="datetimeFigureOut">
              <a:rPr lang="en-US" smtClean="0"/>
              <a:t>12/19/22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AEF3E-8960-6E41-A2E9-925221D8FC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4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B578F-CE61-D445-8E48-39808DB5B3FE}" type="datetimeFigureOut">
              <a:rPr lang="en-US" smtClean="0"/>
              <a:t>12/19/22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AEF3E-8960-6E41-A2E9-925221D8FC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72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4275" y="2872125"/>
            <a:ext cx="11178302" cy="4792202"/>
          </a:xfrm>
        </p:spPr>
        <p:txBody>
          <a:bodyPr anchor="b"/>
          <a:lstStyle>
            <a:lvl1pPr>
              <a:defRPr sz="850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4275" y="7709663"/>
            <a:ext cx="11178302" cy="2520106"/>
          </a:xfrm>
        </p:spPr>
        <p:txBody>
          <a:bodyPr/>
          <a:lstStyle>
            <a:lvl1pPr marL="0" indent="0">
              <a:buNone/>
              <a:defRPr sz="3402">
                <a:solidFill>
                  <a:schemeClr val="tx1"/>
                </a:solidFill>
              </a:defRPr>
            </a:lvl1pPr>
            <a:lvl2pPr marL="648035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2pPr>
            <a:lvl3pPr marL="1296071" indent="0">
              <a:buNone/>
              <a:defRPr sz="2551">
                <a:solidFill>
                  <a:schemeClr val="tx1">
                    <a:tint val="75000"/>
                  </a:schemeClr>
                </a:solidFill>
              </a:defRPr>
            </a:lvl3pPr>
            <a:lvl4pPr marL="1944106" indent="0">
              <a:buNone/>
              <a:defRPr sz="2268">
                <a:solidFill>
                  <a:schemeClr val="tx1">
                    <a:tint val="75000"/>
                  </a:schemeClr>
                </a:solidFill>
              </a:defRPr>
            </a:lvl4pPr>
            <a:lvl5pPr marL="2592141" indent="0">
              <a:buNone/>
              <a:defRPr sz="2268">
                <a:solidFill>
                  <a:schemeClr val="tx1">
                    <a:tint val="75000"/>
                  </a:schemeClr>
                </a:solidFill>
              </a:defRPr>
            </a:lvl5pPr>
            <a:lvl6pPr marL="3240176" indent="0">
              <a:buNone/>
              <a:defRPr sz="2268">
                <a:solidFill>
                  <a:schemeClr val="tx1">
                    <a:tint val="75000"/>
                  </a:schemeClr>
                </a:solidFill>
              </a:defRPr>
            </a:lvl6pPr>
            <a:lvl7pPr marL="3888212" indent="0">
              <a:buNone/>
              <a:defRPr sz="2268">
                <a:solidFill>
                  <a:schemeClr val="tx1">
                    <a:tint val="75000"/>
                  </a:schemeClr>
                </a:solidFill>
              </a:defRPr>
            </a:lvl7pPr>
            <a:lvl8pPr marL="4536247" indent="0">
              <a:buNone/>
              <a:defRPr sz="2268">
                <a:solidFill>
                  <a:schemeClr val="tx1">
                    <a:tint val="75000"/>
                  </a:schemeClr>
                </a:solidFill>
              </a:defRPr>
            </a:lvl8pPr>
            <a:lvl9pPr marL="5184282" indent="0">
              <a:buNone/>
              <a:defRPr sz="226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B578F-CE61-D445-8E48-39808DB5B3FE}" type="datetimeFigureOut">
              <a:rPr lang="en-US" smtClean="0"/>
              <a:t>12/19/22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AEF3E-8960-6E41-A2E9-925221D8FC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247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91024" y="3066796"/>
            <a:ext cx="5508149" cy="730964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61177" y="3066796"/>
            <a:ext cx="5508149" cy="730964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B578F-CE61-D445-8E48-39808DB5B3FE}" type="datetimeFigureOut">
              <a:rPr lang="en-US" smtClean="0"/>
              <a:t>12/19/22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AEF3E-8960-6E41-A2E9-925221D8FC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85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2" y="613362"/>
            <a:ext cx="11178302" cy="222676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2713" y="2824120"/>
            <a:ext cx="5482835" cy="1384058"/>
          </a:xfrm>
        </p:spPr>
        <p:txBody>
          <a:bodyPr anchor="b"/>
          <a:lstStyle>
            <a:lvl1pPr marL="0" indent="0">
              <a:buNone/>
              <a:defRPr sz="3402" b="1"/>
            </a:lvl1pPr>
            <a:lvl2pPr marL="648035" indent="0">
              <a:buNone/>
              <a:defRPr sz="2835" b="1"/>
            </a:lvl2pPr>
            <a:lvl3pPr marL="1296071" indent="0">
              <a:buNone/>
              <a:defRPr sz="2551" b="1"/>
            </a:lvl3pPr>
            <a:lvl4pPr marL="1944106" indent="0">
              <a:buNone/>
              <a:defRPr sz="2268" b="1"/>
            </a:lvl4pPr>
            <a:lvl5pPr marL="2592141" indent="0">
              <a:buNone/>
              <a:defRPr sz="2268" b="1"/>
            </a:lvl5pPr>
            <a:lvl6pPr marL="3240176" indent="0">
              <a:buNone/>
              <a:defRPr sz="2268" b="1"/>
            </a:lvl6pPr>
            <a:lvl7pPr marL="3888212" indent="0">
              <a:buNone/>
              <a:defRPr sz="2268" b="1"/>
            </a:lvl7pPr>
            <a:lvl8pPr marL="4536247" indent="0">
              <a:buNone/>
              <a:defRPr sz="2268" b="1"/>
            </a:lvl8pPr>
            <a:lvl9pPr marL="5184282" indent="0">
              <a:buNone/>
              <a:defRPr sz="226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2713" y="4208178"/>
            <a:ext cx="5482835" cy="618959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61178" y="2824120"/>
            <a:ext cx="5509837" cy="1384058"/>
          </a:xfrm>
        </p:spPr>
        <p:txBody>
          <a:bodyPr anchor="b"/>
          <a:lstStyle>
            <a:lvl1pPr marL="0" indent="0">
              <a:buNone/>
              <a:defRPr sz="3402" b="1"/>
            </a:lvl1pPr>
            <a:lvl2pPr marL="648035" indent="0">
              <a:buNone/>
              <a:defRPr sz="2835" b="1"/>
            </a:lvl2pPr>
            <a:lvl3pPr marL="1296071" indent="0">
              <a:buNone/>
              <a:defRPr sz="2551" b="1"/>
            </a:lvl3pPr>
            <a:lvl4pPr marL="1944106" indent="0">
              <a:buNone/>
              <a:defRPr sz="2268" b="1"/>
            </a:lvl4pPr>
            <a:lvl5pPr marL="2592141" indent="0">
              <a:buNone/>
              <a:defRPr sz="2268" b="1"/>
            </a:lvl5pPr>
            <a:lvl6pPr marL="3240176" indent="0">
              <a:buNone/>
              <a:defRPr sz="2268" b="1"/>
            </a:lvl6pPr>
            <a:lvl7pPr marL="3888212" indent="0">
              <a:buNone/>
              <a:defRPr sz="2268" b="1"/>
            </a:lvl7pPr>
            <a:lvl8pPr marL="4536247" indent="0">
              <a:buNone/>
              <a:defRPr sz="2268" b="1"/>
            </a:lvl8pPr>
            <a:lvl9pPr marL="5184282" indent="0">
              <a:buNone/>
              <a:defRPr sz="226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61178" y="4208178"/>
            <a:ext cx="5509837" cy="618959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B578F-CE61-D445-8E48-39808DB5B3FE}" type="datetimeFigureOut">
              <a:rPr lang="en-US" smtClean="0"/>
              <a:t>12/19/22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AEF3E-8960-6E41-A2E9-925221D8FC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766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B578F-CE61-D445-8E48-39808DB5B3FE}" type="datetimeFigureOut">
              <a:rPr lang="en-US" smtClean="0"/>
              <a:t>12/19/22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AEF3E-8960-6E41-A2E9-925221D8FC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3680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B578F-CE61-D445-8E48-39808DB5B3FE}" type="datetimeFigureOut">
              <a:rPr lang="en-US" smtClean="0"/>
              <a:t>12/19/22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AEF3E-8960-6E41-A2E9-925221D8FC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461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2" y="768032"/>
            <a:ext cx="4180050" cy="2688114"/>
          </a:xfrm>
        </p:spPr>
        <p:txBody>
          <a:bodyPr anchor="b"/>
          <a:lstStyle>
            <a:lvl1pPr>
              <a:defRPr sz="453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09837" y="1658740"/>
            <a:ext cx="6561177" cy="8187013"/>
          </a:xfrm>
        </p:spPr>
        <p:txBody>
          <a:bodyPr/>
          <a:lstStyle>
            <a:lvl1pPr>
              <a:defRPr sz="4536"/>
            </a:lvl1pPr>
            <a:lvl2pPr>
              <a:defRPr sz="3969"/>
            </a:lvl2pPr>
            <a:lvl3pPr>
              <a:defRPr sz="3402"/>
            </a:lvl3pPr>
            <a:lvl4pPr>
              <a:defRPr sz="2835"/>
            </a:lvl4pPr>
            <a:lvl5pPr>
              <a:defRPr sz="2835"/>
            </a:lvl5pPr>
            <a:lvl6pPr>
              <a:defRPr sz="2835"/>
            </a:lvl6pPr>
            <a:lvl7pPr>
              <a:defRPr sz="2835"/>
            </a:lvl7pPr>
            <a:lvl8pPr>
              <a:defRPr sz="2835"/>
            </a:lvl8pPr>
            <a:lvl9pPr>
              <a:defRPr sz="2835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2712" y="3456146"/>
            <a:ext cx="4180050" cy="6402939"/>
          </a:xfrm>
        </p:spPr>
        <p:txBody>
          <a:bodyPr/>
          <a:lstStyle>
            <a:lvl1pPr marL="0" indent="0">
              <a:buNone/>
              <a:defRPr sz="2268"/>
            </a:lvl1pPr>
            <a:lvl2pPr marL="648035" indent="0">
              <a:buNone/>
              <a:defRPr sz="1984"/>
            </a:lvl2pPr>
            <a:lvl3pPr marL="1296071" indent="0">
              <a:buNone/>
              <a:defRPr sz="1701"/>
            </a:lvl3pPr>
            <a:lvl4pPr marL="1944106" indent="0">
              <a:buNone/>
              <a:defRPr sz="1417"/>
            </a:lvl4pPr>
            <a:lvl5pPr marL="2592141" indent="0">
              <a:buNone/>
              <a:defRPr sz="1417"/>
            </a:lvl5pPr>
            <a:lvl6pPr marL="3240176" indent="0">
              <a:buNone/>
              <a:defRPr sz="1417"/>
            </a:lvl6pPr>
            <a:lvl7pPr marL="3888212" indent="0">
              <a:buNone/>
              <a:defRPr sz="1417"/>
            </a:lvl7pPr>
            <a:lvl8pPr marL="4536247" indent="0">
              <a:buNone/>
              <a:defRPr sz="1417"/>
            </a:lvl8pPr>
            <a:lvl9pPr marL="5184282" indent="0">
              <a:buNone/>
              <a:defRPr sz="141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B578F-CE61-D445-8E48-39808DB5B3FE}" type="datetimeFigureOut">
              <a:rPr lang="en-US" smtClean="0"/>
              <a:t>12/19/22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AEF3E-8960-6E41-A2E9-925221D8FC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801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2" y="768032"/>
            <a:ext cx="4180050" cy="2688114"/>
          </a:xfrm>
        </p:spPr>
        <p:txBody>
          <a:bodyPr anchor="b"/>
          <a:lstStyle>
            <a:lvl1pPr>
              <a:defRPr sz="453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09837" y="1658740"/>
            <a:ext cx="6561177" cy="8187013"/>
          </a:xfrm>
        </p:spPr>
        <p:txBody>
          <a:bodyPr anchor="t"/>
          <a:lstStyle>
            <a:lvl1pPr marL="0" indent="0">
              <a:buNone/>
              <a:defRPr sz="4536"/>
            </a:lvl1pPr>
            <a:lvl2pPr marL="648035" indent="0">
              <a:buNone/>
              <a:defRPr sz="3969"/>
            </a:lvl2pPr>
            <a:lvl3pPr marL="1296071" indent="0">
              <a:buNone/>
              <a:defRPr sz="3402"/>
            </a:lvl3pPr>
            <a:lvl4pPr marL="1944106" indent="0">
              <a:buNone/>
              <a:defRPr sz="2835"/>
            </a:lvl4pPr>
            <a:lvl5pPr marL="2592141" indent="0">
              <a:buNone/>
              <a:defRPr sz="2835"/>
            </a:lvl5pPr>
            <a:lvl6pPr marL="3240176" indent="0">
              <a:buNone/>
              <a:defRPr sz="2835"/>
            </a:lvl6pPr>
            <a:lvl7pPr marL="3888212" indent="0">
              <a:buNone/>
              <a:defRPr sz="2835"/>
            </a:lvl7pPr>
            <a:lvl8pPr marL="4536247" indent="0">
              <a:buNone/>
              <a:defRPr sz="2835"/>
            </a:lvl8pPr>
            <a:lvl9pPr marL="5184282" indent="0">
              <a:buNone/>
              <a:defRPr sz="283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2712" y="3456146"/>
            <a:ext cx="4180050" cy="6402939"/>
          </a:xfrm>
        </p:spPr>
        <p:txBody>
          <a:bodyPr/>
          <a:lstStyle>
            <a:lvl1pPr marL="0" indent="0">
              <a:buNone/>
              <a:defRPr sz="2268"/>
            </a:lvl1pPr>
            <a:lvl2pPr marL="648035" indent="0">
              <a:buNone/>
              <a:defRPr sz="1984"/>
            </a:lvl2pPr>
            <a:lvl3pPr marL="1296071" indent="0">
              <a:buNone/>
              <a:defRPr sz="1701"/>
            </a:lvl3pPr>
            <a:lvl4pPr marL="1944106" indent="0">
              <a:buNone/>
              <a:defRPr sz="1417"/>
            </a:lvl4pPr>
            <a:lvl5pPr marL="2592141" indent="0">
              <a:buNone/>
              <a:defRPr sz="1417"/>
            </a:lvl5pPr>
            <a:lvl6pPr marL="3240176" indent="0">
              <a:buNone/>
              <a:defRPr sz="1417"/>
            </a:lvl6pPr>
            <a:lvl7pPr marL="3888212" indent="0">
              <a:buNone/>
              <a:defRPr sz="1417"/>
            </a:lvl7pPr>
            <a:lvl8pPr marL="4536247" indent="0">
              <a:buNone/>
              <a:defRPr sz="1417"/>
            </a:lvl8pPr>
            <a:lvl9pPr marL="5184282" indent="0">
              <a:buNone/>
              <a:defRPr sz="141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B578F-CE61-D445-8E48-39808DB5B3FE}" type="datetimeFigureOut">
              <a:rPr lang="en-US" smtClean="0"/>
              <a:t>12/19/22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AEF3E-8960-6E41-A2E9-925221D8FC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042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B578F-CE61-D445-8E48-39808DB5B3FE}" type="datetimeFigureOut">
              <a:rPr lang="en-US" smtClean="0"/>
              <a:t>12/19/22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AEF3E-8960-6E41-A2E9-925221D8FC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928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4751" y="613359"/>
            <a:ext cx="2794575" cy="976308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91025" y="613359"/>
            <a:ext cx="8221722" cy="976308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B578F-CE61-D445-8E48-39808DB5B3FE}" type="datetimeFigureOut">
              <a:rPr lang="en-US" smtClean="0"/>
              <a:t>12/19/22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AEF3E-8960-6E41-A2E9-925221D8FC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602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024" y="613362"/>
            <a:ext cx="11178302" cy="2226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1024" y="3066796"/>
            <a:ext cx="11178302" cy="73096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91024" y="10677788"/>
            <a:ext cx="2916079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B578F-CE61-D445-8E48-39808DB5B3FE}" type="datetimeFigureOut">
              <a:rPr lang="en-US" smtClean="0"/>
              <a:t>12/19/22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93116" y="10677788"/>
            <a:ext cx="4374118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3247" y="10677788"/>
            <a:ext cx="2916079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AEF3E-8960-6E41-A2E9-925221D8FC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191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1296071" rtl="0" eaLnBrk="1" latinLnBrk="0" hangingPunct="1">
        <a:lnSpc>
          <a:spcPct val="90000"/>
        </a:lnSpc>
        <a:spcBef>
          <a:spcPct val="0"/>
        </a:spcBef>
        <a:buNone/>
        <a:defRPr sz="62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4018" indent="-324018" algn="l" defTabSz="1296071" rtl="0" eaLnBrk="1" latinLnBrk="0" hangingPunct="1">
        <a:lnSpc>
          <a:spcPct val="90000"/>
        </a:lnSpc>
        <a:spcBef>
          <a:spcPts val="1417"/>
        </a:spcBef>
        <a:buFont typeface="Arial" panose="020B0604020202020204" pitchFamily="34" charset="0"/>
        <a:buChar char="•"/>
        <a:defRPr sz="3969" kern="1200">
          <a:solidFill>
            <a:schemeClr val="tx1"/>
          </a:solidFill>
          <a:latin typeface="+mn-lt"/>
          <a:ea typeface="+mn-ea"/>
          <a:cs typeface="+mn-cs"/>
        </a:defRPr>
      </a:lvl1pPr>
      <a:lvl2pPr marL="972053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3402" kern="1200">
          <a:solidFill>
            <a:schemeClr val="tx1"/>
          </a:solidFill>
          <a:latin typeface="+mn-lt"/>
          <a:ea typeface="+mn-ea"/>
          <a:cs typeface="+mn-cs"/>
        </a:defRPr>
      </a:lvl2pPr>
      <a:lvl3pPr marL="1620088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268123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4pPr>
      <a:lvl5pPr marL="2916159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5pPr>
      <a:lvl6pPr marL="3564194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6pPr>
      <a:lvl7pPr marL="4212229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7pPr>
      <a:lvl8pPr marL="4860265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8pPr>
      <a:lvl9pPr marL="5508300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1pPr>
      <a:lvl2pPr marL="648035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96071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3pPr>
      <a:lvl4pPr marL="1944106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4pPr>
      <a:lvl5pPr marL="2592141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5pPr>
      <a:lvl6pPr marL="3240176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6pPr>
      <a:lvl7pPr marL="3888212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7pPr>
      <a:lvl8pPr marL="4536247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8pPr>
      <a:lvl9pPr marL="5184282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1895FBE-7394-2979-54AC-EFAA318EFC2F}"/>
              </a:ext>
            </a:extLst>
          </p:cNvPr>
          <p:cNvSpPr/>
          <p:nvPr/>
        </p:nvSpPr>
        <p:spPr>
          <a:xfrm>
            <a:off x="5993662" y="737070"/>
            <a:ext cx="2802564" cy="2050213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  <a:cs typeface="--unknown-1--"/>
              </a:rPr>
              <a:t>Records identified from:</a:t>
            </a:r>
            <a:endParaRPr lang="en-GB" sz="1589" dirty="0">
              <a:latin typeface="Helvetica" pitchFamily="2" charset="0"/>
              <a:ea typeface="SimSun" panose="02010600030101010101" pitchFamily="2" charset="-122"/>
              <a:cs typeface="--unknown-1--"/>
            </a:endParaRPr>
          </a:p>
          <a:p>
            <a:pPr marL="508125" indent="-247642" algn="just"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  <a:cs typeface="--unknown-1--"/>
              </a:rPr>
              <a:t>Medline (n = 1156)</a:t>
            </a:r>
            <a:endParaRPr lang="en-GB" sz="1589" dirty="0">
              <a:latin typeface="Helvetica" pitchFamily="2" charset="0"/>
              <a:ea typeface="SimSun" panose="02010600030101010101" pitchFamily="2" charset="-122"/>
              <a:cs typeface="--unknown-1--"/>
            </a:endParaRPr>
          </a:p>
          <a:p>
            <a:pPr marL="508125" indent="-247642" algn="just"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  <a:cs typeface="--unknown-1--"/>
              </a:rPr>
              <a:t>Embase (n = 1247)</a:t>
            </a:r>
            <a:endParaRPr lang="en-GB" sz="1589" dirty="0">
              <a:latin typeface="Helvetica" pitchFamily="2" charset="0"/>
              <a:ea typeface="SimSun" panose="02010600030101010101" pitchFamily="2" charset="-122"/>
              <a:cs typeface="--unknown-1--"/>
            </a:endParaRPr>
          </a:p>
          <a:p>
            <a:pPr marL="508125" indent="-247642" algn="just"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  <a:cs typeface="--unknown-1--"/>
              </a:rPr>
              <a:t>Global Health (n = 382)</a:t>
            </a:r>
            <a:endParaRPr lang="en-GB" sz="1589" dirty="0">
              <a:latin typeface="Helvetica" pitchFamily="2" charset="0"/>
              <a:ea typeface="SimSun" panose="02010600030101010101" pitchFamily="2" charset="-122"/>
              <a:cs typeface="--unknown-1--"/>
            </a:endParaRPr>
          </a:p>
          <a:p>
            <a:pPr marL="508125" indent="-247642" algn="just"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  <a:cs typeface="--unknown-1--"/>
              </a:rPr>
              <a:t>PsyclNFO (n = 404)</a:t>
            </a:r>
            <a:endParaRPr lang="en-GB" sz="1589" dirty="0">
              <a:latin typeface="Helvetica" pitchFamily="2" charset="0"/>
              <a:ea typeface="SimSun" panose="02010600030101010101" pitchFamily="2" charset="-122"/>
              <a:cs typeface="--unknown-1--"/>
            </a:endParaRPr>
          </a:p>
          <a:p>
            <a:pPr marL="508125" indent="-247642" algn="just"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  <a:cs typeface="--unknown-1--"/>
              </a:rPr>
              <a:t>CINAHL (n = 448)</a:t>
            </a:r>
            <a:endParaRPr lang="en-GB" sz="1589" dirty="0">
              <a:latin typeface="Helvetica" pitchFamily="2" charset="0"/>
              <a:ea typeface="SimSun" panose="02010600030101010101" pitchFamily="2" charset="-122"/>
              <a:cs typeface="--unknown-1--"/>
            </a:endParaRPr>
          </a:p>
          <a:p>
            <a:pPr marL="260483" algn="just"/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  <a:cs typeface="--unknown-1--"/>
              </a:rPr>
              <a:t>As of 21 Sept</a:t>
            </a: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  <a:cs typeface="--unknown-1--"/>
              </a:rPr>
              <a:t>ember</a:t>
            </a:r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  <a:cs typeface="--unknown-1--"/>
              </a:rPr>
              <a:t> 2022</a:t>
            </a:r>
            <a:endParaRPr lang="en-GB" sz="1589" dirty="0">
              <a:latin typeface="Helvetica" pitchFamily="2" charset="0"/>
              <a:ea typeface="SimSun" panose="02010600030101010101" pitchFamily="2" charset="-122"/>
              <a:cs typeface="--unknown-1--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D2D5A5-F90B-6D17-60FF-47C218758D55}"/>
              </a:ext>
            </a:extLst>
          </p:cNvPr>
          <p:cNvSpPr/>
          <p:nvPr/>
        </p:nvSpPr>
        <p:spPr>
          <a:xfrm>
            <a:off x="9632320" y="737062"/>
            <a:ext cx="2802564" cy="2049166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984 duplicate records removed before screening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4C4B30-745D-3271-A65C-F2064F3BF4BB}"/>
              </a:ext>
            </a:extLst>
          </p:cNvPr>
          <p:cNvSpPr/>
          <p:nvPr/>
        </p:nvSpPr>
        <p:spPr>
          <a:xfrm>
            <a:off x="5993662" y="3269610"/>
            <a:ext cx="2802564" cy="868042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2653 records screened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3D6C13-FC98-571E-4FA7-C36658DBB09A}"/>
              </a:ext>
            </a:extLst>
          </p:cNvPr>
          <p:cNvSpPr/>
          <p:nvPr/>
        </p:nvSpPr>
        <p:spPr>
          <a:xfrm>
            <a:off x="9645504" y="3269610"/>
            <a:ext cx="2802564" cy="868042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2369 records excluded through Rayyan-assisted screening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373773-27BD-0927-0849-288FFADE6B0E}"/>
              </a:ext>
            </a:extLst>
          </p:cNvPr>
          <p:cNvSpPr/>
          <p:nvPr/>
        </p:nvSpPr>
        <p:spPr>
          <a:xfrm>
            <a:off x="5993662" y="4631039"/>
            <a:ext cx="2802564" cy="868042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257 reports sought for retrieval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DB9FDC-E811-97C1-ACC7-65D7BA90E7B6}"/>
              </a:ext>
            </a:extLst>
          </p:cNvPr>
          <p:cNvSpPr/>
          <p:nvPr/>
        </p:nvSpPr>
        <p:spPr>
          <a:xfrm>
            <a:off x="9645504" y="4660316"/>
            <a:ext cx="2802564" cy="868042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30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14 reports not retrieved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C35CA5-1AC4-8356-9ACE-03A403DFAB17}"/>
              </a:ext>
            </a:extLst>
          </p:cNvPr>
          <p:cNvSpPr/>
          <p:nvPr/>
        </p:nvSpPr>
        <p:spPr>
          <a:xfrm>
            <a:off x="5993662" y="5977826"/>
            <a:ext cx="2802564" cy="868042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243 reports assessed for eligibility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383EA7-910D-0AAA-E00A-0BA0FA46AD65}"/>
              </a:ext>
            </a:extLst>
          </p:cNvPr>
          <p:cNvSpPr/>
          <p:nvPr/>
        </p:nvSpPr>
        <p:spPr>
          <a:xfrm>
            <a:off x="9707861" y="5977828"/>
            <a:ext cx="2802564" cy="5330853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236</a:t>
            </a:r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reports excluded:</a:t>
            </a:r>
          </a:p>
          <a:p>
            <a:endParaRPr lang="en-GB" sz="1300" dirty="0">
              <a:solidFill>
                <a:srgbClr val="000000"/>
              </a:solidFill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330190" indent="-330190">
              <a:buFont typeface="Arial" panose="020B0604020202020204" pitchFamily="34" charset="0"/>
              <a:buChar char="•"/>
            </a:pP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Wrong</a:t>
            </a:r>
            <a:r>
              <a:rPr lang="zh-CN" altLang="en-US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publication</a:t>
            </a:r>
            <a:r>
              <a:rPr lang="zh-CN" altLang="en-US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type</a:t>
            </a:r>
            <a:endParaRPr lang="en-GB" altLang="zh-CN" sz="1300" dirty="0">
              <a:solidFill>
                <a:srgbClr val="000000"/>
              </a:solidFill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787390" lvl="1" indent="-330190">
              <a:buFont typeface="Arial" panose="020B0604020202020204" pitchFamily="34" charset="0"/>
              <a:buChar char="•"/>
            </a:pP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Systematic review and meta-analysis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(</a:t>
            </a: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n = 54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)</a:t>
            </a:r>
          </a:p>
          <a:p>
            <a:pPr marL="787390" lvl="1" indent="-33019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Retracted article </a:t>
            </a: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(n = 1)</a:t>
            </a:r>
          </a:p>
          <a:p>
            <a:pPr marL="787390" lvl="1" indent="-330190">
              <a:buFont typeface="Arial" panose="020B0604020202020204" pitchFamily="34" charset="0"/>
              <a:buChar char="•"/>
            </a:pP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Conference abstracts (n = 7)</a:t>
            </a:r>
          </a:p>
          <a:p>
            <a:pPr marL="787390" lvl="1" indent="-330190">
              <a:buFont typeface="Arial" panose="020B0604020202020204" pitchFamily="34" charset="0"/>
              <a:buChar char="•"/>
            </a:pP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Not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in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English/Chinese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(n = 12)</a:t>
            </a:r>
          </a:p>
          <a:p>
            <a:pPr marL="330190" indent="-330190">
              <a:buFont typeface="Arial" panose="020B0604020202020204" pitchFamily="34" charset="0"/>
              <a:buChar char="•"/>
            </a:pP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Wrong</a:t>
            </a:r>
            <a:r>
              <a:rPr lang="zh-CN" altLang="en-US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population</a:t>
            </a:r>
          </a:p>
          <a:p>
            <a:pPr marL="787390" lvl="1" indent="-330190">
              <a:buFont typeface="Arial" panose="020B0604020202020204" pitchFamily="34" charset="0"/>
              <a:buChar char="•"/>
            </a:pP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Not LMICs (n = 30)</a:t>
            </a:r>
          </a:p>
          <a:p>
            <a:pPr marL="787390" lvl="1" indent="-330190">
              <a:buFont typeface="Arial" panose="020B0604020202020204" pitchFamily="34" charset="0"/>
              <a:buChar char="•"/>
            </a:pP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Not people with dementia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and/or</a:t>
            </a: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their carers (n = 23)</a:t>
            </a:r>
            <a:endParaRPr lang="en-GB" sz="1300" dirty="0">
              <a:solidFill>
                <a:srgbClr val="000000"/>
              </a:solidFill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330190" indent="-330190">
              <a:buFont typeface="Arial" panose="020B0604020202020204" pitchFamily="34" charset="0"/>
              <a:buChar char="•"/>
            </a:pP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Wrong</a:t>
            </a:r>
            <a:r>
              <a:rPr lang="zh-CN" altLang="en-US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intervention</a:t>
            </a:r>
            <a:endParaRPr lang="en-GB" sz="1300" dirty="0">
              <a:solidFill>
                <a:srgbClr val="000000"/>
              </a:solidFill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787390" lvl="1" indent="-330190">
              <a:buFont typeface="Arial" panose="020B0604020202020204" pitchFamily="34" charset="0"/>
              <a:buChar char="•"/>
            </a:pP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No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significant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proportion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of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caregiver support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(</a:t>
            </a: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n=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76)</a:t>
            </a:r>
            <a:endParaRPr lang="en-GB" sz="1050" dirty="0">
              <a:solidFill>
                <a:srgbClr val="000000"/>
              </a:solidFill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330190" indent="-330190">
              <a:buFont typeface="Arial" panose="020B0604020202020204" pitchFamily="34" charset="0"/>
              <a:buChar char="•"/>
            </a:pP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Wrong</a:t>
            </a:r>
            <a:r>
              <a:rPr lang="zh-CN" altLang="en-US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comparator</a:t>
            </a:r>
          </a:p>
          <a:p>
            <a:pPr marL="787390" lvl="1" indent="-330190">
              <a:buFont typeface="Arial" panose="020B0604020202020204" pitchFamily="34" charset="0"/>
              <a:buChar char="•"/>
            </a:pP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No intervention evaluated (n = 4)</a:t>
            </a:r>
          </a:p>
          <a:p>
            <a:pPr marL="330190" indent="-330190">
              <a:buFont typeface="Arial" panose="020B0604020202020204" pitchFamily="34" charset="0"/>
              <a:buChar char="•"/>
            </a:pP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Wrong</a:t>
            </a:r>
            <a:r>
              <a:rPr lang="zh-CN" altLang="en-US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outcomes</a:t>
            </a:r>
          </a:p>
          <a:p>
            <a:pPr marL="787390" lvl="1" indent="-330190">
              <a:buFont typeface="Arial" panose="020B0604020202020204" pitchFamily="34" charset="0"/>
              <a:buChar char="•"/>
            </a:pP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No evaluation for caregivers (n = 1)</a:t>
            </a:r>
          </a:p>
          <a:p>
            <a:pPr marL="330190" indent="-330190">
              <a:buFont typeface="Arial" panose="020B0604020202020204" pitchFamily="34" charset="0"/>
              <a:buChar char="•"/>
            </a:pP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Wrong</a:t>
            </a:r>
            <a:r>
              <a:rPr lang="zh-CN" altLang="en-US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study</a:t>
            </a:r>
            <a:r>
              <a:rPr lang="zh-CN" altLang="en-US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design</a:t>
            </a:r>
            <a:r>
              <a:rPr lang="zh-CN" altLang="en-US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lang="en-US" altLang="zh-CN" sz="1300" dirty="0">
              <a:solidFill>
                <a:srgbClr val="000000"/>
              </a:solidFill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787390" lvl="1" indent="-330190">
              <a:buFont typeface="Arial" panose="020B0604020202020204" pitchFamily="34" charset="0"/>
              <a:buChar char="•"/>
            </a:pP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Not RCT (n = 28)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391C13-624F-4C87-7EB7-C16CFBBB5BE1}"/>
              </a:ext>
            </a:extLst>
          </p:cNvPr>
          <p:cNvSpPr/>
          <p:nvPr/>
        </p:nvSpPr>
        <p:spPr>
          <a:xfrm>
            <a:off x="5993661" y="7924822"/>
            <a:ext cx="2802564" cy="119368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7</a:t>
            </a:r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new studies included in review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2282FFF-14AC-B994-23B1-7A230AD70A50}"/>
              </a:ext>
            </a:extLst>
          </p:cNvPr>
          <p:cNvCxnSpPr/>
          <p:nvPr/>
        </p:nvCxnSpPr>
        <p:spPr>
          <a:xfrm>
            <a:off x="8801765" y="1755693"/>
            <a:ext cx="836469" cy="0"/>
          </a:xfrm>
          <a:prstGeom prst="straightConnector1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E6FBEE7-1EEB-8041-CF70-8A8177E83E3B}"/>
              </a:ext>
            </a:extLst>
          </p:cNvPr>
          <p:cNvCxnSpPr/>
          <p:nvPr/>
        </p:nvCxnSpPr>
        <p:spPr>
          <a:xfrm>
            <a:off x="8801757" y="3688042"/>
            <a:ext cx="836432" cy="0"/>
          </a:xfrm>
          <a:prstGeom prst="straightConnector1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DED695C-9763-D0E1-EF3A-88CA9BDD51DD}"/>
              </a:ext>
            </a:extLst>
          </p:cNvPr>
          <p:cNvCxnSpPr/>
          <p:nvPr/>
        </p:nvCxnSpPr>
        <p:spPr>
          <a:xfrm>
            <a:off x="8814941" y="5078747"/>
            <a:ext cx="836432" cy="0"/>
          </a:xfrm>
          <a:prstGeom prst="straightConnector1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582BCEA-7C53-BBC7-2123-FF1A773F6AEA}"/>
              </a:ext>
            </a:extLst>
          </p:cNvPr>
          <p:cNvCxnSpPr/>
          <p:nvPr/>
        </p:nvCxnSpPr>
        <p:spPr>
          <a:xfrm>
            <a:off x="8841307" y="6440176"/>
            <a:ext cx="836432" cy="0"/>
          </a:xfrm>
          <a:prstGeom prst="straightConnector1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" name="Flowchart: Alternate Process 29">
            <a:extLst>
              <a:ext uri="{FF2B5EF4-FFF2-40B4-BE49-F238E27FC236}">
                <a16:creationId xmlns:a16="http://schemas.microsoft.com/office/drawing/2014/main" id="{88491F17-ECB5-626F-F02D-4CBDE182D351}"/>
              </a:ext>
            </a:extLst>
          </p:cNvPr>
          <p:cNvSpPr/>
          <p:nvPr/>
        </p:nvSpPr>
        <p:spPr>
          <a:xfrm>
            <a:off x="5967303" y="180780"/>
            <a:ext cx="6451933" cy="433498"/>
          </a:xfrm>
          <a:prstGeom prst="flowChartAlternateProcess">
            <a:avLst/>
          </a:prstGeom>
          <a:solidFill>
            <a:srgbClr val="FFC000"/>
          </a:solidFill>
          <a:ln w="12700" cap="flat" cmpd="sng" algn="ctr">
            <a:solidFill>
              <a:srgbClr val="FFC000">
                <a:shade val="50000"/>
              </a:srgbClr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GB" sz="1300" b="1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  <a:cs typeface="--unknown-1--"/>
              </a:rPr>
              <a:t>Identification of new studies via databases and registers</a:t>
            </a:r>
            <a:endParaRPr lang="en-GB" sz="1589" dirty="0">
              <a:latin typeface="Helvetica" pitchFamily="2" charset="0"/>
              <a:ea typeface="SimSun" panose="02010600030101010101" pitchFamily="2" charset="-122"/>
              <a:cs typeface="--unknown-1--"/>
            </a:endParaRPr>
          </a:p>
        </p:txBody>
      </p:sp>
      <p:sp>
        <p:nvSpPr>
          <p:cNvPr id="21" name="Flowchart: Alternate Process 31">
            <a:extLst>
              <a:ext uri="{FF2B5EF4-FFF2-40B4-BE49-F238E27FC236}">
                <a16:creationId xmlns:a16="http://schemas.microsoft.com/office/drawing/2014/main" id="{2B6FDE12-9D46-16CA-9E72-E9AE1BB2FC13}"/>
              </a:ext>
            </a:extLst>
          </p:cNvPr>
          <p:cNvSpPr/>
          <p:nvPr/>
        </p:nvSpPr>
        <p:spPr>
          <a:xfrm rot="16200000">
            <a:off x="-200516" y="1650558"/>
            <a:ext cx="2116708" cy="390398"/>
          </a:xfrm>
          <a:prstGeom prst="flowChartAlternateProcess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GB" sz="1300" b="1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  <a:cs typeface="--unknown-1--"/>
              </a:rPr>
              <a:t>Identification</a:t>
            </a:r>
            <a:endParaRPr lang="en-GB" sz="1589" dirty="0">
              <a:latin typeface="Helvetica" pitchFamily="2" charset="0"/>
              <a:ea typeface="SimSun" panose="02010600030101010101" pitchFamily="2" charset="-122"/>
              <a:cs typeface="--unknown-1--"/>
            </a:endParaRPr>
          </a:p>
        </p:txBody>
      </p:sp>
      <p:sp>
        <p:nvSpPr>
          <p:cNvPr id="22" name="Flowchart: Alternate Process 32">
            <a:extLst>
              <a:ext uri="{FF2B5EF4-FFF2-40B4-BE49-F238E27FC236}">
                <a16:creationId xmlns:a16="http://schemas.microsoft.com/office/drawing/2014/main" id="{44B25415-3CFE-B6E1-E1C6-7A908F5D2826}"/>
              </a:ext>
            </a:extLst>
          </p:cNvPr>
          <p:cNvSpPr/>
          <p:nvPr/>
        </p:nvSpPr>
        <p:spPr>
          <a:xfrm rot="16200000">
            <a:off x="-1340538" y="5296859"/>
            <a:ext cx="4396755" cy="390398"/>
          </a:xfrm>
          <a:prstGeom prst="flowChartAlternateProcess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300" b="1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Screening</a:t>
            </a:r>
          </a:p>
        </p:txBody>
      </p:sp>
      <p:sp>
        <p:nvSpPr>
          <p:cNvPr id="23" name="Flowchart: Alternate Process 33">
            <a:extLst>
              <a:ext uri="{FF2B5EF4-FFF2-40B4-BE49-F238E27FC236}">
                <a16:creationId xmlns:a16="http://schemas.microsoft.com/office/drawing/2014/main" id="{5E73CB6E-CAEB-23DE-E3DC-7B186C62C72D}"/>
              </a:ext>
            </a:extLst>
          </p:cNvPr>
          <p:cNvSpPr/>
          <p:nvPr/>
        </p:nvSpPr>
        <p:spPr>
          <a:xfrm rot="16200000">
            <a:off x="-838423" y="9453219"/>
            <a:ext cx="3419865" cy="363061"/>
          </a:xfrm>
          <a:prstGeom prst="flowChartAlternateProcess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GB" sz="1300" b="1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  <a:cs typeface="--unknown-1--"/>
              </a:rPr>
              <a:t>Inclusion</a:t>
            </a:r>
            <a:endParaRPr lang="en-GB" sz="1589" dirty="0">
              <a:latin typeface="Helvetica" pitchFamily="2" charset="0"/>
              <a:ea typeface="SimSun" panose="02010600030101010101" pitchFamily="2" charset="-122"/>
              <a:cs typeface="--unknown-1--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04DDF69-B973-AFFD-96E5-A1263F229BD2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>
            <a:off x="7394944" y="2787283"/>
            <a:ext cx="0" cy="482335"/>
          </a:xfrm>
          <a:prstGeom prst="straightConnector1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C3D2D0B-2B8D-4D32-40E9-B06C65F0CD75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7394944" y="4137660"/>
            <a:ext cx="0" cy="493387"/>
          </a:xfrm>
          <a:prstGeom prst="straightConnector1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2904C88-F1C6-43BF-B842-ACA82B4838BC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7394944" y="5499089"/>
            <a:ext cx="0" cy="478745"/>
          </a:xfrm>
          <a:prstGeom prst="straightConnector1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65067E6-A540-99D9-1F32-BB13CA6D5CF7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 flipH="1">
            <a:off x="7394951" y="6845868"/>
            <a:ext cx="1" cy="1078946"/>
          </a:xfrm>
          <a:prstGeom prst="straightConnector1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54642F8-9949-D233-DE56-662414FAB06F}"/>
              </a:ext>
            </a:extLst>
          </p:cNvPr>
          <p:cNvSpPr/>
          <p:nvPr/>
        </p:nvSpPr>
        <p:spPr>
          <a:xfrm>
            <a:off x="5993661" y="10114995"/>
            <a:ext cx="2802564" cy="119368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Total studies included in review</a:t>
            </a:r>
          </a:p>
          <a:p>
            <a:pPr algn="ctr"/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(n = </a:t>
            </a: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27</a:t>
            </a:r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)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0B82E70-C17E-64B2-EBD4-5963433DD8B3}"/>
              </a:ext>
            </a:extLst>
          </p:cNvPr>
          <p:cNvCxnSpPr>
            <a:cxnSpLocks/>
            <a:stCxn id="15" idx="2"/>
            <a:endCxn id="28" idx="0"/>
          </p:cNvCxnSpPr>
          <p:nvPr/>
        </p:nvCxnSpPr>
        <p:spPr>
          <a:xfrm>
            <a:off x="7394943" y="9118503"/>
            <a:ext cx="0" cy="996484"/>
          </a:xfrm>
          <a:prstGeom prst="straightConnector1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8B4BA77C-ED3C-301D-63DC-A0CA31249CD6}"/>
              </a:ext>
            </a:extLst>
          </p:cNvPr>
          <p:cNvSpPr/>
          <p:nvPr/>
        </p:nvSpPr>
        <p:spPr>
          <a:xfrm>
            <a:off x="1247557" y="796522"/>
            <a:ext cx="2802553" cy="2062694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Studies included in previous version of review (n = </a:t>
            </a: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24</a:t>
            </a:r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)</a:t>
            </a:r>
          </a:p>
        </p:txBody>
      </p:sp>
      <p:cxnSp>
        <p:nvCxnSpPr>
          <p:cNvPr id="31" name="Connector: Elbow 26">
            <a:extLst>
              <a:ext uri="{FF2B5EF4-FFF2-40B4-BE49-F238E27FC236}">
                <a16:creationId xmlns:a16="http://schemas.microsoft.com/office/drawing/2014/main" id="{F87A194A-1415-B25F-451A-403B9E67683F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1938185" y="9365381"/>
            <a:ext cx="4055476" cy="1346456"/>
          </a:xfrm>
          <a:prstGeom prst="bentConnector3">
            <a:avLst>
              <a:gd name="adj1" fmla="val 1148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" name="Flowchart: Alternate Process 28">
            <a:extLst>
              <a:ext uri="{FF2B5EF4-FFF2-40B4-BE49-F238E27FC236}">
                <a16:creationId xmlns:a16="http://schemas.microsoft.com/office/drawing/2014/main" id="{E3309D03-E99D-E3FC-A051-9DF36C887E62}"/>
              </a:ext>
            </a:extLst>
          </p:cNvPr>
          <p:cNvSpPr/>
          <p:nvPr/>
        </p:nvSpPr>
        <p:spPr>
          <a:xfrm>
            <a:off x="1247556" y="199678"/>
            <a:ext cx="4542025" cy="414600"/>
          </a:xfrm>
          <a:prstGeom prst="flowChartAlternateProcess">
            <a:avLst/>
          </a:prstGeom>
          <a:solidFill>
            <a:srgbClr val="FFC000"/>
          </a:solidFill>
          <a:ln w="12700" cap="flat" cmpd="sng" algn="ctr">
            <a:solidFill>
              <a:srgbClr val="FFC000">
                <a:shade val="50000"/>
              </a:srgbClr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GB" sz="1300" b="1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  <a:cs typeface="--unknown-1--"/>
              </a:rPr>
              <a:t>Previous studies</a:t>
            </a:r>
            <a:endParaRPr lang="en-GB" sz="1589">
              <a:latin typeface="Helvetica" pitchFamily="2" charset="0"/>
              <a:ea typeface="SimSun" panose="02010600030101010101" pitchFamily="2" charset="-122"/>
              <a:cs typeface="--unknown-1--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4A359F4-C7B4-0FB2-FFF1-61040E7D7225}"/>
              </a:ext>
            </a:extLst>
          </p:cNvPr>
          <p:cNvSpPr/>
          <p:nvPr/>
        </p:nvSpPr>
        <p:spPr>
          <a:xfrm>
            <a:off x="1251403" y="8171695"/>
            <a:ext cx="2802564" cy="119368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2</a:t>
            </a: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0</a:t>
            </a:r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previous studies included in review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90B48CC-5EA7-7863-2D87-713660B61E49}"/>
              </a:ext>
            </a:extLst>
          </p:cNvPr>
          <p:cNvCxnSpPr>
            <a:cxnSpLocks/>
          </p:cNvCxnSpPr>
          <p:nvPr/>
        </p:nvCxnSpPr>
        <p:spPr>
          <a:xfrm flipH="1">
            <a:off x="1938188" y="2911136"/>
            <a:ext cx="1" cy="5260559"/>
          </a:xfrm>
          <a:prstGeom prst="straightConnector1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76365B05-3414-C875-800A-6D2EE2CCFD7B}"/>
              </a:ext>
            </a:extLst>
          </p:cNvPr>
          <p:cNvSpPr/>
          <p:nvPr/>
        </p:nvSpPr>
        <p:spPr>
          <a:xfrm>
            <a:off x="2564641" y="4453186"/>
            <a:ext cx="2802564" cy="227232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="horz" wrap="square" lIns="132080" tIns="66040" rIns="132080" bIns="660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4</a:t>
            </a:r>
            <a:r>
              <a:rPr lang="zh-CN" altLang="en-US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studies</a:t>
            </a:r>
            <a:r>
              <a:rPr lang="en-GB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reports excluded:</a:t>
            </a:r>
          </a:p>
          <a:p>
            <a:endParaRPr lang="en-GB" sz="1300" dirty="0">
              <a:solidFill>
                <a:srgbClr val="000000"/>
              </a:solidFill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330190" indent="-330190">
              <a:buFont typeface="Arial" panose="020B0604020202020204" pitchFamily="34" charset="0"/>
              <a:buChar char="•"/>
            </a:pP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Wrong</a:t>
            </a:r>
            <a:r>
              <a:rPr lang="zh-CN" altLang="en-US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comparators</a:t>
            </a:r>
          </a:p>
          <a:p>
            <a:pPr marL="787390" lvl="1" indent="-330190">
              <a:buFont typeface="Arial" panose="020B0604020202020204" pitchFamily="34" charset="0"/>
              <a:buChar char="•"/>
            </a:pP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Comparing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two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caregiver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interventions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(n =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2</a:t>
            </a: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)</a:t>
            </a:r>
          </a:p>
          <a:p>
            <a:pPr marL="330190" indent="-330190">
              <a:buFont typeface="Arial" panose="020B0604020202020204" pitchFamily="34" charset="0"/>
              <a:buChar char="•"/>
            </a:pP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Wrong</a:t>
            </a:r>
            <a:r>
              <a:rPr lang="zh-CN" altLang="en-US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30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outcomes</a:t>
            </a:r>
          </a:p>
          <a:p>
            <a:pPr marL="787390" lvl="1" indent="-330190">
              <a:buFont typeface="Arial" panose="020B0604020202020204" pitchFamily="34" charset="0"/>
              <a:buChar char="•"/>
            </a:pP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No evaluation for caregiver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or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care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recipient</a:t>
            </a:r>
            <a:r>
              <a:rPr lang="zh-CN" altLang="en-US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health</a:t>
            </a:r>
            <a:r>
              <a:rPr lang="en-GB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r>
              <a:rPr lang="en-US" altLang="zh-CN" sz="1050" dirty="0">
                <a:solidFill>
                  <a:srgbClr val="000000"/>
                </a:solidFill>
                <a:latin typeface="Arial" panose="020B0604020202020204" pitchFamily="34" charset="0"/>
                <a:ea typeface="SimSun" panose="02010600030101010101" pitchFamily="2" charset="-122"/>
              </a:rPr>
              <a:t>(n=2)</a:t>
            </a:r>
          </a:p>
        </p:txBody>
      </p:sp>
      <p:cxnSp>
        <p:nvCxnSpPr>
          <p:cNvPr id="62" name="Connector: Elbow 26">
            <a:extLst>
              <a:ext uri="{FF2B5EF4-FFF2-40B4-BE49-F238E27FC236}">
                <a16:creationId xmlns:a16="http://schemas.microsoft.com/office/drawing/2014/main" id="{9BBEBA2B-ED35-E051-07BA-BF0DC9B05B39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4050110" y="1827869"/>
            <a:ext cx="534843" cy="2625314"/>
          </a:xfrm>
          <a:prstGeom prst="bentConnector2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885016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232</TotalTime>
  <Words>256</Words>
  <Application>Microsoft Macintosh PowerPoint</Application>
  <PresentationFormat>Custom</PresentationFormat>
  <Paragraphs>47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4</cp:revision>
  <cp:lastPrinted>2022-12-19T08:53:11Z</cp:lastPrinted>
  <dcterms:created xsi:type="dcterms:W3CDTF">2022-12-14T01:40:57Z</dcterms:created>
  <dcterms:modified xsi:type="dcterms:W3CDTF">2022-12-19T08:53:24Z</dcterms:modified>
</cp:coreProperties>
</file>