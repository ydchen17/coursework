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1881839696" r:id="rId3"/>
    <p:sldId id="1881839687" r:id="rId4"/>
    <p:sldId id="1881839697" r:id="rId5"/>
    <p:sldId id="1881839698" r:id="rId6"/>
    <p:sldId id="1881839700" r:id="rId7"/>
    <p:sldId id="1881839699" r:id="rId8"/>
    <p:sldId id="1881839702" r:id="rId9"/>
    <p:sldId id="188183970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B2DFCA-F6E7-1F0D-9894-435210056D12}" name="Engesser,M (pgt)" initials="E(" userId="S::m.engesser@lse.ac.uk::8c48c78f-6244-468d-a706-15266a529d3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994"/>
    <a:srgbClr val="00DF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89" d="100"/>
          <a:sy n="89" d="100"/>
        </p:scale>
        <p:origin x="1976" y="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BCB24-FA4D-0C49-AA96-F54AB7B97B98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3F814-7F0B-0F41-B611-3D47A70D4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9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F814-7F0B-0F41-B611-3D47A70D40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7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41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10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9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42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37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89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4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E2CED-FD3D-684A-902A-C9F2D4F895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2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33AC-A484-BB49-BAED-2106C99CF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C418B-227E-ED40-8492-6A1D586A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8193A-B4AC-2D41-9CD5-8F825C5A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C125A-4D25-7E42-9135-7285A9468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7BEF7-4BBA-D547-AEC0-C07F29E5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2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B96C-57D2-E949-A932-2A5F4D03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8F6D-7E3A-8D42-B246-CD1D40CFE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9E68-52AA-3D42-BC62-FEDA72B88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0215-F4FB-EE43-BA53-199AF077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C6F3F-B5B2-8A48-89E1-2598E2D5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5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FE72-4469-BA43-9D3A-EE13DC84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D8B3-15B9-C54D-AE70-8ED22B3DB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9E9EB-4DFE-5B4A-97AA-DEB1007F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763DF-DC29-174D-9E09-527F6A87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6A741-574F-8D47-94CF-D20546B7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18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46EC-C639-A24D-9DB2-65AAC2BF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E3CF-8476-9E4F-B8EA-5BAE799DB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10EB2-338A-3C46-95DD-3B55D2963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C4E47-5917-474E-9C91-53C8007F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53E0C-5001-8945-82F9-86CB641D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35CAC-9D6D-094E-8B6B-B1BD328E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47AC-7412-784B-9DBD-0267F9D1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E01E6-27F1-A540-8E99-7B1671053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A3B08-DC4A-074D-AD3A-99EE1D26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D8CB8-9CE4-C843-9C69-BB2A353FE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53DD6-E826-BD4B-9A86-00761E442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EB4E1-CE9D-1345-94E5-0D907944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CB2A6-D75F-944C-9CD0-61E9EDBF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3DD89-6E5E-B24F-850F-AD7278E5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2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E4C4-C07B-0846-8269-AF15164A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E8BC8-1D9C-B143-9653-06E0EEB3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14605-FAC4-4245-A44C-34010AF7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517CF-E808-E54D-845D-7BDE62DB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61861-10C4-2E40-A7E8-EDD6BBE7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D6860-BF35-3642-AC0E-1C65CA0D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35F38-90DB-0240-88B4-FD44B536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92C5-2D24-2944-B2E9-CFBFF1A5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80608-13AA-5C43-9BAA-F478FAF6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50DF7-0175-7A42-8D21-BE7A0ED69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A31EA-3FB5-E542-9A91-705ECBD9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B8B7F-BE5F-6B4F-AFA9-0F8EA070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353C-2B45-BB47-8A67-A0859CCA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4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498A-CB55-7D49-86DE-6C132A93D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F8AFD-48AC-2E4D-9E27-3B8D4C555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D8ED4-EC32-C348-A91A-1D9F0D781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E93EC-03A5-AA4F-9B63-39240F72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40EBD-8B4C-EB40-8B3B-5B636608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928C0-3E42-2146-BFC3-F506375F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1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5F9B8-1BE8-B749-AA8D-35D50910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2E4DF-1840-AF44-B607-C6BCB79F9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F885-A970-A54B-957B-4D49D0F5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764A2-1CD9-6F44-9909-31EA1E82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18191-0AAD-E346-9B09-29B7CF98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6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0BBA8-D813-7A46-99FD-FCDEE1A44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DC37F-70AF-734A-B4AC-335FAF7B4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9AC9D-E337-7047-A6B4-D8DB035D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C0C3-B6C0-A549-8FCE-CC54F89C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2423-922D-444A-A8E9-1AFBF0D0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78D45-E6FD-2A47-AC98-A3A19547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DDF45-F0C2-424E-9224-7D0DAE17C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C274-232C-BD41-9F6A-1DC6FC72F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6BA3D-38B7-3642-8D59-D0A700A47C1E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51BD3-3300-D84B-9999-5FADC5324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0CBE-F5A5-5640-A422-FAD9F7F58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B8924-2682-0343-8018-D1D1614F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8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9R9savfPdCHC8XLz2iiMvL_71lPJERWK/view" TargetMode="External"/><Relationship Id="rId3" Type="http://schemas.openxmlformats.org/officeDocument/2006/relationships/hyperlink" Target="https://drive.google.com/drive/folders/1fVF72syScyPgC2cWsXoUsrFUFjG3d-_q?usp=sharing" TargetMode="External"/><Relationship Id="rId7" Type="http://schemas.openxmlformats.org/officeDocument/2006/relationships/hyperlink" Target="https://drive.google.com/drive/folders/1c88UygDkwPhLJupWnOMWvENrJoiQRh5_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drive/folders/1fgSUbY6VxDiV1ipVVD32cLXsKh4Z8Vzk?usp=sharing" TargetMode="External"/><Relationship Id="rId5" Type="http://schemas.openxmlformats.org/officeDocument/2006/relationships/hyperlink" Target="https://drive.google.com/drive/folders/1LZ5OD_R0NvvKsEme2n-FZD0g4mrJasa3?usp=sharing" TargetMode="External"/><Relationship Id="rId4" Type="http://schemas.openxmlformats.org/officeDocument/2006/relationships/hyperlink" Target="https://prisma-statement.org/prismastatement/flowdiagram.asp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skofbias.info/welcome/rob-2-0-too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drive.google.com/file/d/19R9savfPdCHC8XLz2iiMvL_71lPJERWK/vie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3226434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34CED1E-1BC1-0441-A330-6FC4944F74D6}"/>
              </a:ext>
            </a:extLst>
          </p:cNvPr>
          <p:cNvGrpSpPr/>
          <p:nvPr/>
        </p:nvGrpSpPr>
        <p:grpSpPr>
          <a:xfrm>
            <a:off x="6739848" y="761247"/>
            <a:ext cx="3924728" cy="4087748"/>
            <a:chOff x="6739848" y="761247"/>
            <a:chExt cx="3924728" cy="408774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AFE9062-D1E0-954A-90D2-D0DEFE142A72}"/>
                </a:ext>
              </a:extLst>
            </p:cNvPr>
            <p:cNvSpPr txBox="1"/>
            <p:nvPr/>
          </p:nvSpPr>
          <p:spPr>
            <a:xfrm>
              <a:off x="6739848" y="761247"/>
              <a:ext cx="3924728" cy="16312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CN" sz="2000" b="1" dirty="0">
                  <a:solidFill>
                    <a:schemeClr val="bg1"/>
                  </a:solidFill>
                  <a:highlight>
                    <a:srgbClr val="05A994"/>
                  </a:highlight>
                  <a:latin typeface="Roboto Light"/>
                  <a:ea typeface="Roboto Light"/>
                  <a:cs typeface="Roboto Light"/>
                </a:rPr>
                <a:t>HP407</a:t>
              </a:r>
              <a:endParaRPr lang="en-US" sz="2000" b="1" dirty="0">
                <a:solidFill>
                  <a:schemeClr val="bg1"/>
                </a:solidFill>
                <a:highlight>
                  <a:srgbClr val="05A994"/>
                </a:highlight>
                <a:latin typeface="Roboto Light"/>
                <a:ea typeface="Roboto Light"/>
                <a:cs typeface="Roboto Light"/>
              </a:endParaRPr>
            </a:p>
            <a:p>
              <a:endParaRPr lang="en-US" sz="2000" b="1" dirty="0">
                <a:solidFill>
                  <a:schemeClr val="bg1"/>
                </a:solidFill>
                <a:highlight>
                  <a:srgbClr val="05A994"/>
                </a:highlight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Meta-analysis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for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caregiver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interventions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in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low-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and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middle-income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countries</a:t>
              </a:r>
              <a:r>
                <a:rPr lang="zh-CN" altLang="en-US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2000" b="1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(LMICs)</a:t>
              </a:r>
              <a:endParaRPr lang="en-US" sz="20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49CBA9-9B7D-A94F-9425-10E30A61BB02}"/>
                </a:ext>
              </a:extLst>
            </p:cNvPr>
            <p:cNvSpPr txBox="1"/>
            <p:nvPr/>
          </p:nvSpPr>
          <p:spPr>
            <a:xfrm>
              <a:off x="6739848" y="3531263"/>
              <a:ext cx="3924728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Roboto Light"/>
                  <a:ea typeface="Roboto Light" panose="02000000000000000000" pitchFamily="2" charset="0"/>
                  <a:cs typeface="Roboto Light"/>
                </a:rPr>
                <a:t>Summative</a:t>
              </a:r>
              <a:r>
                <a:rPr lang="zh-CN" altLang="en-US" sz="1600" b="1" dirty="0">
                  <a:solidFill>
                    <a:schemeClr val="bg1"/>
                  </a:solidFill>
                  <a:latin typeface="Roboto Light"/>
                  <a:ea typeface="Roboto Light" panose="02000000000000000000" pitchFamily="2" charset="0"/>
                  <a:cs typeface="Roboto Light"/>
                </a:rPr>
                <a:t> </a:t>
              </a:r>
              <a:r>
                <a:rPr lang="en-US" altLang="zh-CN" sz="1600" b="1" dirty="0">
                  <a:solidFill>
                    <a:schemeClr val="bg1"/>
                  </a:solidFill>
                  <a:latin typeface="Roboto Light"/>
                  <a:ea typeface="Roboto Light" panose="02000000000000000000" pitchFamily="2" charset="0"/>
                  <a:cs typeface="Roboto Light"/>
                </a:rPr>
                <a:t>project</a:t>
              </a:r>
              <a:endParaRPr lang="en-GB" sz="1600" b="1" dirty="0">
                <a:solidFill>
                  <a:schemeClr val="bg1"/>
                </a:solidFill>
                <a:latin typeface="Roboto Light"/>
                <a:ea typeface="Roboto Light" panose="02000000000000000000" pitchFamily="2" charset="0"/>
                <a:cs typeface="Roboto Light"/>
              </a:endParaRPr>
            </a:p>
            <a:p>
              <a:endParaRPr lang="en-US" altLang="zh-CN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endParaRPr>
            </a:p>
            <a:p>
              <a:r>
                <a:rPr lang="en-US" altLang="zh-CN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Updated</a:t>
              </a:r>
              <a:r>
                <a:rPr lang="zh-CN" altLang="en-US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23</a:t>
              </a:r>
              <a:r>
                <a:rPr lang="zh-CN" altLang="en-US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December</a:t>
              </a:r>
              <a:r>
                <a:rPr lang="zh-CN" altLang="en-US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</a:t>
              </a:r>
              <a:r>
                <a:rPr lang="en-US" altLang="zh-CN" sz="1600" dirty="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2022</a:t>
              </a:r>
              <a:endParaRPr lang="en-GB" sz="1600" dirty="0">
                <a:solidFill>
                  <a:schemeClr val="bg1"/>
                </a:solidFill>
                <a:latin typeface="Roboto Light"/>
                <a:ea typeface="Roboto Light" panose="02000000000000000000" pitchFamily="2" charset="0"/>
                <a:cs typeface="Roboto Light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F52F39E-6F26-2845-BDE0-6DB3D4FEC21C}"/>
                </a:ext>
              </a:extLst>
            </p:cNvPr>
            <p:cNvCxnSpPr>
              <a:cxnSpLocks/>
            </p:cNvCxnSpPr>
            <p:nvPr/>
          </p:nvCxnSpPr>
          <p:spPr>
            <a:xfrm>
              <a:off x="6873411" y="3254237"/>
              <a:ext cx="145893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472B28-FE01-1842-BEF2-E3BFCB21DDAA}"/>
                </a:ext>
              </a:extLst>
            </p:cNvPr>
            <p:cNvSpPr txBox="1"/>
            <p:nvPr/>
          </p:nvSpPr>
          <p:spPr>
            <a:xfrm>
              <a:off x="6873411" y="4541218"/>
              <a:ext cx="211647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5A994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Student</a:t>
              </a:r>
              <a:r>
                <a:rPr lang="zh-CN" altLang="en-US" sz="1400" dirty="0">
                  <a:solidFill>
                    <a:srgbClr val="05A994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 </a:t>
              </a:r>
              <a:r>
                <a:rPr lang="en-US" altLang="zh-CN" sz="1400" dirty="0">
                  <a:solidFill>
                    <a:srgbClr val="05A994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assignment</a:t>
              </a:r>
              <a:endParaRPr lang="en-GB" sz="1400" dirty="0">
                <a:solidFill>
                  <a:srgbClr val="05A994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73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Group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work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and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individual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write-up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548677" y="1321980"/>
            <a:ext cx="5547323" cy="529375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Deadline: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GB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Thursday, 26 January 2023, 12:00 PM</a:t>
            </a:r>
            <a:endParaRPr lang="en-US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endParaRPr lang="en-US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said,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US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dirty="0"/>
              <a:t>Remember that your </a:t>
            </a:r>
            <a:r>
              <a:rPr lang="en-US" b="1" u="sng" dirty="0"/>
              <a:t>individual</a:t>
            </a:r>
            <a:r>
              <a:rPr lang="en-US" dirty="0"/>
              <a:t> research project report will account for 100% of the course grade on HP407. Although you are working on completing a systematic review and meta-analysis in groups, your final reports will be developed individually. 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Parts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allowed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same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across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group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members: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search terms and strategy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list of included studies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extraction tables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forest plots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risk of bias assessment tables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99BF3E-0459-E8A3-0788-01E99C7915D2}"/>
              </a:ext>
            </a:extLst>
          </p:cNvPr>
          <p:cNvSpPr/>
          <p:nvPr/>
        </p:nvSpPr>
        <p:spPr>
          <a:xfrm>
            <a:off x="7057113" y="573381"/>
            <a:ext cx="4718177" cy="61401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sz="1600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Useful</a:t>
            </a:r>
            <a:r>
              <a:rPr lang="zh-CN" altLang="en-US" sz="1600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links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Search</a:t>
            </a:r>
            <a:r>
              <a:rPr lang="zh-CN" altLang="en-US" sz="1400" dirty="0"/>
              <a:t> </a:t>
            </a:r>
            <a:r>
              <a:rPr lang="en-US" altLang="zh-CN" sz="1400" dirty="0"/>
              <a:t>terms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strategy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Shared</a:t>
            </a:r>
            <a:r>
              <a:rPr lang="zh-CN" altLang="en-US" sz="1400" dirty="0"/>
              <a:t> </a:t>
            </a:r>
            <a:r>
              <a:rPr lang="en-US" altLang="zh-CN" sz="1400" dirty="0"/>
              <a:t>folder:</a:t>
            </a:r>
            <a:r>
              <a:rPr lang="zh-CN" altLang="en-US" sz="1400" dirty="0"/>
              <a:t> </a:t>
            </a:r>
            <a:r>
              <a:rPr lang="en-US" altLang="zh-CN" sz="14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https://drive.google.com/drive/folders/1fVF72syScyPgC2cWsXoUsrFUFjG3d-_q?usp=sharing</a:t>
            </a:r>
            <a:endParaRPr lang="en-GB" altLang="zh-CN" sz="14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PRISMA</a:t>
            </a:r>
            <a:r>
              <a:rPr lang="zh-CN" altLang="en-US" sz="1400" dirty="0"/>
              <a:t> </a:t>
            </a:r>
            <a:r>
              <a:rPr lang="en-US" altLang="zh-CN" sz="1400" dirty="0"/>
              <a:t>flow</a:t>
            </a:r>
            <a:r>
              <a:rPr lang="zh-CN" altLang="en-US" sz="1400" dirty="0"/>
              <a:t> </a:t>
            </a:r>
            <a:r>
              <a:rPr lang="en-US" altLang="zh-CN" sz="1400" dirty="0"/>
              <a:t>chart:</a:t>
            </a:r>
            <a:r>
              <a:rPr lang="zh-CN" altLang="en-US" sz="1400" dirty="0"/>
              <a:t> </a:t>
            </a:r>
            <a:r>
              <a:rPr lang="en-GB" altLang="zh-CN" sz="1400" dirty="0">
                <a:hlinkClick r:id="rId4"/>
              </a:rPr>
              <a:t>https://prisma-statement.org/prismastatement/flowdiagram.aspx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List</a:t>
            </a:r>
            <a:r>
              <a:rPr lang="zh-CN" altLang="en-US" sz="1400" dirty="0"/>
              <a:t> </a:t>
            </a:r>
            <a:r>
              <a:rPr lang="en-US" altLang="zh-CN" sz="1400" dirty="0"/>
              <a:t>of</a:t>
            </a:r>
            <a:r>
              <a:rPr lang="zh-CN" altLang="en-US" sz="1400" dirty="0"/>
              <a:t> </a:t>
            </a:r>
            <a:r>
              <a:rPr lang="en-US" altLang="zh-CN" sz="1400" dirty="0"/>
              <a:t>included</a:t>
            </a:r>
            <a:r>
              <a:rPr lang="zh-CN" altLang="en-US" sz="1400" dirty="0"/>
              <a:t> </a:t>
            </a:r>
            <a:r>
              <a:rPr lang="en-US" altLang="zh-CN" sz="1400" dirty="0"/>
              <a:t>studies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Shared</a:t>
            </a:r>
            <a:r>
              <a:rPr lang="zh-CN" altLang="en-US" sz="1400" dirty="0"/>
              <a:t> </a:t>
            </a:r>
            <a:r>
              <a:rPr lang="en-US" altLang="zh-CN" sz="1400" dirty="0"/>
              <a:t>folder:</a:t>
            </a:r>
            <a:r>
              <a:rPr lang="zh-CN" altLang="en-US" sz="1400" dirty="0"/>
              <a:t> </a:t>
            </a:r>
            <a:r>
              <a:rPr lang="en-US" altLang="zh-CN" sz="1400" dirty="0">
                <a:hlinkClick r:id="rId5"/>
              </a:rPr>
              <a:t>https://drive.google.com/drive/folders/1LZ5OD_R0NvvKsEme2n-FZD0g4mrJasa3?usp=sharing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Data</a:t>
            </a:r>
            <a:r>
              <a:rPr lang="zh-CN" altLang="en-US" sz="1400" dirty="0"/>
              <a:t> </a:t>
            </a:r>
            <a:r>
              <a:rPr lang="en-US" altLang="zh-CN" sz="1400" dirty="0"/>
              <a:t>extraction</a:t>
            </a:r>
            <a:r>
              <a:rPr lang="zh-CN" altLang="en-US" sz="1400" dirty="0"/>
              <a:t> </a:t>
            </a:r>
            <a:r>
              <a:rPr lang="en-US" altLang="zh-CN" sz="1400" dirty="0"/>
              <a:t>tables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Shared</a:t>
            </a:r>
            <a:r>
              <a:rPr lang="zh-CN" altLang="en-US" sz="1400" dirty="0"/>
              <a:t> </a:t>
            </a:r>
            <a:r>
              <a:rPr lang="en-US" altLang="zh-CN" sz="1400" dirty="0"/>
              <a:t>folder:</a:t>
            </a:r>
            <a:r>
              <a:rPr lang="zh-CN" altLang="en-US" sz="1400" dirty="0"/>
              <a:t> </a:t>
            </a:r>
            <a:r>
              <a:rPr lang="en-US" altLang="zh-CN" sz="1400" dirty="0">
                <a:hlinkClick r:id="rId6"/>
              </a:rPr>
              <a:t>https://drive.google.com/drive/folders/1fgSUbY6VxDiV1ipVVD32cLXsKh4Z8Vzk?usp=sharing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Risk</a:t>
            </a:r>
            <a:r>
              <a:rPr lang="zh-CN" altLang="en-US" sz="1400" dirty="0"/>
              <a:t> </a:t>
            </a:r>
            <a:r>
              <a:rPr lang="en-US" altLang="zh-CN" sz="1400" dirty="0"/>
              <a:t>of</a:t>
            </a:r>
            <a:r>
              <a:rPr lang="zh-CN" altLang="en-US" sz="1400" dirty="0"/>
              <a:t> </a:t>
            </a:r>
            <a:r>
              <a:rPr lang="en-US" altLang="zh-CN" sz="1400" dirty="0"/>
              <a:t>bias</a:t>
            </a:r>
            <a:r>
              <a:rPr lang="zh-CN" altLang="en-US" sz="1400" dirty="0"/>
              <a:t> </a:t>
            </a:r>
            <a:r>
              <a:rPr lang="en-US" altLang="zh-CN" sz="1400" dirty="0"/>
              <a:t>assessment</a:t>
            </a:r>
            <a:r>
              <a:rPr lang="zh-CN" altLang="en-US" sz="1400" dirty="0"/>
              <a:t> </a:t>
            </a:r>
            <a:r>
              <a:rPr lang="en-US" altLang="zh-CN" sz="1400" dirty="0"/>
              <a:t>tables</a:t>
            </a:r>
            <a:r>
              <a:rPr lang="zh-CN" altLang="en-US" sz="1400" dirty="0"/>
              <a:t> </a:t>
            </a:r>
            <a:endParaRPr lang="en-GB" altLang="zh-CN" sz="14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It</a:t>
            </a:r>
            <a:r>
              <a:rPr lang="zh-CN" altLang="en-US" sz="1400" dirty="0"/>
              <a:t> </a:t>
            </a:r>
            <a:r>
              <a:rPr lang="en-US" altLang="zh-CN" sz="1400" dirty="0"/>
              <a:t>is</a:t>
            </a:r>
            <a:r>
              <a:rPr lang="zh-CN" altLang="en-US" sz="1400" dirty="0"/>
              <a:t> </a:t>
            </a:r>
            <a:r>
              <a:rPr lang="en-US" altLang="zh-CN" sz="1400" dirty="0"/>
              <a:t>part</a:t>
            </a:r>
            <a:r>
              <a:rPr lang="zh-CN" altLang="en-US" sz="1400" dirty="0"/>
              <a:t> </a:t>
            </a:r>
            <a:r>
              <a:rPr lang="en-US" altLang="zh-CN" sz="1400" dirty="0"/>
              <a:t>of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data</a:t>
            </a:r>
            <a:r>
              <a:rPr lang="zh-CN" altLang="en-US" sz="1400" dirty="0"/>
              <a:t> </a:t>
            </a:r>
            <a:r>
              <a:rPr lang="en-US" altLang="zh-CN" sz="1400" dirty="0"/>
              <a:t>extraction</a:t>
            </a:r>
            <a:r>
              <a:rPr lang="zh-CN" altLang="en-US" sz="1400" dirty="0"/>
              <a:t> </a:t>
            </a:r>
            <a:r>
              <a:rPr lang="en-US" altLang="zh-CN" sz="1400" dirty="0"/>
              <a:t>tables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Shared</a:t>
            </a:r>
            <a:r>
              <a:rPr lang="zh-CN" altLang="en-US" sz="1400" dirty="0"/>
              <a:t> </a:t>
            </a:r>
            <a:r>
              <a:rPr lang="en-US" altLang="zh-CN" sz="1400" dirty="0"/>
              <a:t>folder:</a:t>
            </a:r>
            <a:r>
              <a:rPr lang="zh-CN" altLang="en-US" sz="1400" dirty="0"/>
              <a:t> </a:t>
            </a:r>
            <a:r>
              <a:rPr lang="en-US" altLang="zh-CN" sz="1400" dirty="0">
                <a:hlinkClick r:id="rId7"/>
              </a:rPr>
              <a:t>https://drive.google.com/drive/folders/1c88UygDkwPhLJupWnOMWvENrJoiQRh5_?usp=sharing</a:t>
            </a:r>
            <a:r>
              <a:rPr lang="zh-CN" altLang="en-US" sz="1400" dirty="0"/>
              <a:t> </a:t>
            </a:r>
            <a:endParaRPr lang="en-GB" altLang="zh-CN" sz="14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Risk</a:t>
            </a:r>
            <a:r>
              <a:rPr lang="zh-CN" altLang="en-US" sz="1400" dirty="0"/>
              <a:t> </a:t>
            </a:r>
            <a:r>
              <a:rPr lang="en-US" altLang="zh-CN" sz="1400" dirty="0"/>
              <a:t>of</a:t>
            </a:r>
            <a:r>
              <a:rPr lang="zh-CN" altLang="en-US" sz="1400" dirty="0"/>
              <a:t> </a:t>
            </a:r>
            <a:r>
              <a:rPr lang="en-US" altLang="zh-CN" sz="1400" dirty="0"/>
              <a:t>bias</a:t>
            </a:r>
            <a:r>
              <a:rPr lang="zh-CN" altLang="en-US" sz="1400" dirty="0"/>
              <a:t> </a:t>
            </a:r>
            <a:r>
              <a:rPr lang="en-US" altLang="zh-CN" sz="1400" dirty="0"/>
              <a:t>assessment</a:t>
            </a:r>
            <a:r>
              <a:rPr lang="zh-CN" altLang="en-US" sz="1400" dirty="0"/>
              <a:t> </a:t>
            </a:r>
            <a:r>
              <a:rPr lang="en-US" altLang="zh-CN" sz="1400" dirty="0"/>
              <a:t>guideline:</a:t>
            </a:r>
            <a:r>
              <a:rPr lang="zh-CN" altLang="en-US" sz="1400" dirty="0"/>
              <a:t> </a:t>
            </a:r>
            <a:r>
              <a:rPr lang="en-GB" altLang="zh-CN" sz="1400" dirty="0">
                <a:hlinkClick r:id="rId8"/>
              </a:rPr>
              <a:t>https://drive.google.com/file/d/19R9savfPdCHC8XLz2iiMvL_71lPJERWK/view</a:t>
            </a:r>
            <a:r>
              <a:rPr lang="zh-CN" altLang="en-US" sz="1400" dirty="0"/>
              <a:t> </a:t>
            </a:r>
            <a:r>
              <a:rPr lang="en-US" altLang="zh-CN" sz="1400" dirty="0"/>
              <a:t>(Should</a:t>
            </a:r>
            <a:r>
              <a:rPr lang="zh-CN" altLang="en-US" sz="1400" dirty="0"/>
              <a:t> </a:t>
            </a:r>
            <a:r>
              <a:rPr lang="en-US" altLang="zh-CN" sz="1400" dirty="0"/>
              <a:t>write</a:t>
            </a:r>
            <a:r>
              <a:rPr lang="zh-CN" altLang="en-US" sz="1400" dirty="0"/>
              <a:t> </a:t>
            </a:r>
            <a:r>
              <a:rPr lang="en-US" altLang="zh-CN" sz="1400" dirty="0"/>
              <a:t>with</a:t>
            </a:r>
            <a:r>
              <a:rPr lang="zh-CN" altLang="en-US" sz="1400" dirty="0"/>
              <a:t> </a:t>
            </a:r>
            <a:r>
              <a:rPr lang="en-US" altLang="zh-CN" sz="1400" dirty="0"/>
              <a:t>your</a:t>
            </a:r>
            <a:r>
              <a:rPr lang="zh-CN" altLang="en-US" sz="1400" dirty="0"/>
              <a:t> </a:t>
            </a:r>
            <a:r>
              <a:rPr lang="en-US" altLang="zh-CN" sz="1400" dirty="0"/>
              <a:t>own</a:t>
            </a:r>
            <a:r>
              <a:rPr lang="zh-CN" altLang="en-US" sz="1400" dirty="0"/>
              <a:t> </a:t>
            </a:r>
            <a:r>
              <a:rPr lang="en-US" altLang="zh-CN" sz="1400" dirty="0"/>
              <a:t>words!)</a:t>
            </a:r>
            <a:endParaRPr lang="en-GB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68220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Cover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page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&amp;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report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guideline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350535" y="1244751"/>
            <a:ext cx="11358582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Before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you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start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writing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assignment,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	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Use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cover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page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from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Moodle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	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Read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report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</p:txBody>
      </p:sp>
      <p:pic>
        <p:nvPicPr>
          <p:cNvPr id="7" name="Picture 6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C52F3881-E135-7715-1682-10C88314D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70" y="2321969"/>
            <a:ext cx="7772400" cy="473127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FA1A0A-6624-4400-5DF5-C122ABAC8E7A}"/>
              </a:ext>
            </a:extLst>
          </p:cNvPr>
          <p:cNvCxnSpPr>
            <a:cxnSpLocks/>
          </p:cNvCxnSpPr>
          <p:nvPr/>
        </p:nvCxnSpPr>
        <p:spPr>
          <a:xfrm flipH="1">
            <a:off x="5833241" y="3101546"/>
            <a:ext cx="2433629" cy="556054"/>
          </a:xfrm>
          <a:prstGeom prst="straightConnector1">
            <a:avLst/>
          </a:prstGeom>
          <a:ln w="1270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E6020-0A51-B398-836C-ABF778E7FEF6}"/>
              </a:ext>
            </a:extLst>
          </p:cNvPr>
          <p:cNvSpPr txBox="1"/>
          <p:nvPr/>
        </p:nvSpPr>
        <p:spPr>
          <a:xfrm>
            <a:off x="8593815" y="2729473"/>
            <a:ext cx="2860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</a:t>
            </a:r>
            <a:r>
              <a:rPr lang="zh-CN" altLang="en-US" sz="3200" dirty="0">
                <a:latin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here!</a:t>
            </a:r>
          </a:p>
          <a:p>
            <a:endParaRPr lang="en-US" altLang="zh-C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also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have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essays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below!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91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936B0EA-114D-03D3-28DA-83D9F098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03" y="2244765"/>
            <a:ext cx="5825019" cy="48107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Search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terms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and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strategy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350534" y="1244751"/>
            <a:ext cx="11626977" cy="10002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file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containing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search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terms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strategy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available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Moodle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but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not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under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HP407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directory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also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copy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table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use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my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report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shared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Google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Drive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with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name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“(Table) Search </a:t>
            </a:r>
            <a:r>
              <a:rPr lang="en-US" altLang="zh-CN" b="1" dirty="0" err="1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strategy.docx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”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FA1A0A-6624-4400-5DF5-C122ABAC8E7A}"/>
              </a:ext>
            </a:extLst>
          </p:cNvPr>
          <p:cNvCxnSpPr>
            <a:cxnSpLocks/>
          </p:cNvCxnSpPr>
          <p:nvPr/>
        </p:nvCxnSpPr>
        <p:spPr>
          <a:xfrm flipH="1">
            <a:off x="4436533" y="4349955"/>
            <a:ext cx="3035720" cy="1904089"/>
          </a:xfrm>
          <a:prstGeom prst="straightConnector1">
            <a:avLst/>
          </a:prstGeom>
          <a:ln w="1270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E6020-0A51-B398-836C-ABF778E7FEF6}"/>
              </a:ext>
            </a:extLst>
          </p:cNvPr>
          <p:cNvSpPr txBox="1"/>
          <p:nvPr/>
        </p:nvSpPr>
        <p:spPr>
          <a:xfrm>
            <a:off x="7834896" y="3442014"/>
            <a:ext cx="31574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Originally</a:t>
            </a:r>
            <a:r>
              <a:rPr lang="zh-CN" altLang="en-US" sz="3200" dirty="0">
                <a:latin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here!</a:t>
            </a:r>
          </a:p>
          <a:p>
            <a:endParaRPr lang="en-US" altLang="zh-C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also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have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other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information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zh-CN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List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of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included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studies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350535" y="1244751"/>
            <a:ext cx="11240103" cy="23391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During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13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December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office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hour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session,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were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told: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will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need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include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7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studies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assigned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our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group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for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systematic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review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don’t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need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include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all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7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studies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for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meta-analysis,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which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different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from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systematic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review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don’t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need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include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studies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from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previous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records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(in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large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dataset)</a:t>
            </a:r>
          </a:p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Below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example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from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my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report,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stating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characteristics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included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studies.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For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more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information,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you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can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assess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file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“(Table) Selected characteristics of included studies_v3.docx”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shared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Google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Drive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D95FEE-656B-54AD-B0DF-354FF120F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287250"/>
              </p:ext>
            </p:extLst>
          </p:nvPr>
        </p:nvGraphicFramePr>
        <p:xfrm>
          <a:off x="303603" y="3686928"/>
          <a:ext cx="11584794" cy="259404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110550">
                  <a:extLst>
                    <a:ext uri="{9D8B030D-6E8A-4147-A177-3AD203B41FA5}">
                      <a16:colId xmlns:a16="http://schemas.microsoft.com/office/drawing/2014/main" val="2224114196"/>
                    </a:ext>
                  </a:extLst>
                </a:gridCol>
                <a:gridCol w="704389">
                  <a:extLst>
                    <a:ext uri="{9D8B030D-6E8A-4147-A177-3AD203B41FA5}">
                      <a16:colId xmlns:a16="http://schemas.microsoft.com/office/drawing/2014/main" val="1015852620"/>
                    </a:ext>
                  </a:extLst>
                </a:gridCol>
                <a:gridCol w="2718149">
                  <a:extLst>
                    <a:ext uri="{9D8B030D-6E8A-4147-A177-3AD203B41FA5}">
                      <a16:colId xmlns:a16="http://schemas.microsoft.com/office/drawing/2014/main" val="255095922"/>
                    </a:ext>
                  </a:extLst>
                </a:gridCol>
                <a:gridCol w="1408779">
                  <a:extLst>
                    <a:ext uri="{9D8B030D-6E8A-4147-A177-3AD203B41FA5}">
                      <a16:colId xmlns:a16="http://schemas.microsoft.com/office/drawing/2014/main" val="1952448543"/>
                    </a:ext>
                  </a:extLst>
                </a:gridCol>
                <a:gridCol w="809480">
                  <a:extLst>
                    <a:ext uri="{9D8B030D-6E8A-4147-A177-3AD203B41FA5}">
                      <a16:colId xmlns:a16="http://schemas.microsoft.com/office/drawing/2014/main" val="351827333"/>
                    </a:ext>
                  </a:extLst>
                </a:gridCol>
                <a:gridCol w="1006880">
                  <a:extLst>
                    <a:ext uri="{9D8B030D-6E8A-4147-A177-3AD203B41FA5}">
                      <a16:colId xmlns:a16="http://schemas.microsoft.com/office/drawing/2014/main" val="3483889624"/>
                    </a:ext>
                  </a:extLst>
                </a:gridCol>
                <a:gridCol w="905340">
                  <a:extLst>
                    <a:ext uri="{9D8B030D-6E8A-4147-A177-3AD203B41FA5}">
                      <a16:colId xmlns:a16="http://schemas.microsoft.com/office/drawing/2014/main" val="329207110"/>
                    </a:ext>
                  </a:extLst>
                </a:gridCol>
                <a:gridCol w="906049">
                  <a:extLst>
                    <a:ext uri="{9D8B030D-6E8A-4147-A177-3AD203B41FA5}">
                      <a16:colId xmlns:a16="http://schemas.microsoft.com/office/drawing/2014/main" val="2903431885"/>
                    </a:ext>
                  </a:extLst>
                </a:gridCol>
                <a:gridCol w="1007589">
                  <a:extLst>
                    <a:ext uri="{9D8B030D-6E8A-4147-A177-3AD203B41FA5}">
                      <a16:colId xmlns:a16="http://schemas.microsoft.com/office/drawing/2014/main" val="4052220599"/>
                    </a:ext>
                  </a:extLst>
                </a:gridCol>
                <a:gridCol w="1007589">
                  <a:extLst>
                    <a:ext uri="{9D8B030D-6E8A-4147-A177-3AD203B41FA5}">
                      <a16:colId xmlns:a16="http://schemas.microsoft.com/office/drawing/2014/main" val="1094013623"/>
                    </a:ext>
                  </a:extLst>
                </a:gridCol>
              </a:tblGrid>
              <a:tr h="244327">
                <a:tc rowSpan="2"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effectLst/>
                        </a:rPr>
                        <a:t>Study identifier</a:t>
                      </a:r>
                      <a:endParaRPr lang="en-GB" sz="9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900">
                          <a:effectLst/>
                        </a:rPr>
                        <a:t>Country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900">
                          <a:effectLst/>
                        </a:rPr>
                        <a:t>Descriptive name of the intervention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effectLst/>
                        </a:rPr>
                        <a:t>Intervention approach(es)</a:t>
                      </a:r>
                      <a:endParaRPr lang="en-GB" sz="9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900">
                          <a:effectLst/>
                        </a:rPr>
                        <a:t>Frequency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bg1"/>
                          </a:solidFill>
                          <a:effectLst/>
                        </a:rPr>
                        <a:t>Randomisation unit</a:t>
                      </a:r>
                      <a:endParaRPr lang="en-GB" sz="9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chemeClr val="bg1"/>
                          </a:solidFill>
                          <a:effectLst/>
                        </a:rPr>
                        <a:t>Sample size</a:t>
                      </a:r>
                    </a:p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(end</a:t>
                      </a:r>
                      <a:r>
                        <a:rPr lang="zh-CN" altLang="en-US" sz="9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of</a:t>
                      </a:r>
                      <a:r>
                        <a:rPr lang="zh-CN" altLang="en-US" sz="9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intervention)</a:t>
                      </a:r>
                      <a:endParaRPr lang="en-GB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bg1"/>
                          </a:solidFill>
                          <a:effectLst/>
                        </a:rPr>
                        <a:t>Time from the beaseline</a:t>
                      </a:r>
                      <a:endParaRPr lang="en-GB" sz="9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996661"/>
                  </a:ext>
                </a:extLst>
              </a:tr>
              <a:tr h="1221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bg1"/>
                          </a:solidFill>
                          <a:effectLst/>
                        </a:rPr>
                        <a:t>Control</a:t>
                      </a:r>
                      <a:endParaRPr lang="en-GB" sz="9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bg1"/>
                          </a:solidFill>
                          <a:effectLst/>
                        </a:rPr>
                        <a:t>Intervention</a:t>
                      </a:r>
                      <a:endParaRPr lang="en-GB" sz="9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bg1"/>
                          </a:solidFill>
                          <a:effectLst/>
                        </a:rPr>
                        <a:t>Intervention</a:t>
                      </a:r>
                      <a:endParaRPr lang="en-GB" sz="9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/>
                        </a:rPr>
                        <a:t>Measurement</a:t>
                      </a:r>
                      <a:endParaRPr lang="en-GB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67935"/>
                  </a:ext>
                </a:extLst>
              </a:tr>
              <a:tr h="262324">
                <a:tc>
                  <a:txBody>
                    <a:bodyPr/>
                    <a:lstStyle/>
                    <a:p>
                      <a:r>
                        <a:rPr lang="en-GB" sz="900" dirty="0">
                          <a:effectLst/>
                        </a:rPr>
                        <a:t>Chen 2020</a:t>
                      </a:r>
                      <a:r>
                        <a:rPr lang="en-GB" sz="900" baseline="30000" dirty="0">
                          <a:effectLst/>
                        </a:rPr>
                        <a:t>30</a:t>
                      </a:r>
                      <a:endParaRPr lang="en-GB" sz="9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China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Extended Nursing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General support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Flexible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Individual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51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51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8 wk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1 </a:t>
                      </a:r>
                      <a:r>
                        <a:rPr lang="en-GB" sz="1050" dirty="0" err="1">
                          <a:effectLst/>
                        </a:rPr>
                        <a:t>yr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31890"/>
                  </a:ext>
                </a:extLst>
              </a:tr>
              <a:tr h="285048">
                <a:tc>
                  <a:txBody>
                    <a:bodyPr/>
                    <a:lstStyle/>
                    <a:p>
                      <a:r>
                        <a:rPr lang="en-GB" sz="900">
                          <a:effectLst/>
                        </a:rPr>
                        <a:t>Govindakumari 2020</a:t>
                      </a:r>
                      <a:r>
                        <a:rPr lang="en-GB" sz="900" baseline="30000">
                          <a:effectLst/>
                        </a:rPr>
                        <a:t>31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Iran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Resilience Education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Cognitive-behavioural intervention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Weekly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Individual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27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27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8 wk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8 wk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06717"/>
                  </a:ext>
                </a:extLst>
              </a:tr>
              <a:tr h="285048">
                <a:tc>
                  <a:txBody>
                    <a:bodyPr/>
                    <a:lstStyle/>
                    <a:p>
                      <a:r>
                        <a:rPr lang="en-GB" sz="900">
                          <a:effectLst/>
                        </a:rPr>
                        <a:t>Ghaffari 2019</a:t>
                      </a:r>
                      <a:r>
                        <a:rPr lang="en-GB" sz="900" baseline="30000">
                          <a:effectLst/>
                        </a:rPr>
                        <a:t>32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India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Home-based cognitive training program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Cognitive and functional training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Twice a week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Individual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157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157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1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1 mo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93057"/>
                  </a:ext>
                </a:extLst>
              </a:tr>
              <a:tr h="285048">
                <a:tc>
                  <a:txBody>
                    <a:bodyPr/>
                    <a:lstStyle/>
                    <a:p>
                      <a:r>
                        <a:rPr lang="en-GB" sz="900" dirty="0">
                          <a:effectLst/>
                        </a:rPr>
                        <a:t>Hinton 2020</a:t>
                      </a:r>
                      <a:r>
                        <a:rPr lang="en-GB" sz="900" baseline="30000" dirty="0">
                          <a:effectLst/>
                        </a:rPr>
                        <a:t>33</a:t>
                      </a:r>
                      <a:endParaRPr lang="en-GB" sz="9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Vietnam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Multi-component interventions based on REACH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Multi-component intervention 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Weekly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Community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26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25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3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3 mo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25441"/>
                  </a:ext>
                </a:extLst>
              </a:tr>
              <a:tr h="285048">
                <a:tc>
                  <a:txBody>
                    <a:bodyPr/>
                    <a:lstStyle/>
                    <a:p>
                      <a:r>
                        <a:rPr lang="en-GB" sz="900">
                          <a:effectLst/>
                        </a:rPr>
                        <a:t>Pan 2019</a:t>
                      </a:r>
                      <a:r>
                        <a:rPr lang="en-GB" sz="900" baseline="30000">
                          <a:effectLst/>
                        </a:rPr>
                        <a:t>34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China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Nurse-led cognitive behavioural sessions and subsequent consultation calls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Cognitive-behavioural intervention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Monthly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Individual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45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54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5 </a:t>
                      </a:r>
                      <a:r>
                        <a:rPr lang="en-GB" sz="1050" dirty="0" err="1">
                          <a:effectLst/>
                        </a:rPr>
                        <a:t>mo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7 </a:t>
                      </a:r>
                      <a:r>
                        <a:rPr lang="en-GB" sz="1050" dirty="0" err="1">
                          <a:effectLst/>
                        </a:rPr>
                        <a:t>mo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483139"/>
                  </a:ext>
                </a:extLst>
              </a:tr>
              <a:tr h="285048">
                <a:tc>
                  <a:txBody>
                    <a:bodyPr/>
                    <a:lstStyle/>
                    <a:p>
                      <a:r>
                        <a:rPr lang="en-GB" sz="900" dirty="0">
                          <a:effectLst/>
                        </a:rPr>
                        <a:t>Uyar 2019</a:t>
                      </a:r>
                      <a:r>
                        <a:rPr lang="en-GB" sz="900" baseline="30000" dirty="0">
                          <a:effectLst/>
                        </a:rPr>
                        <a:t>14</a:t>
                      </a:r>
                      <a:r>
                        <a:rPr lang="zh-CN" altLang="en-US" sz="900" baseline="30000" dirty="0">
                          <a:effectLst/>
                        </a:rPr>
                        <a:t> </a:t>
                      </a:r>
                      <a:r>
                        <a:rPr lang="en-US" altLang="zh-CN" sz="900" baseline="0" dirty="0">
                          <a:effectLst/>
                        </a:rPr>
                        <a:t>[1]</a:t>
                      </a:r>
                      <a:endParaRPr lang="en-GB" sz="9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Turkey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Multicomponent psychosocial intervention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Multi-component intervention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Flexible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Individual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26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2</a:t>
                      </a:r>
                      <a:r>
                        <a:rPr lang="en-US" altLang="zh-CN" sz="1050" dirty="0">
                          <a:effectLst/>
                        </a:rPr>
                        <a:t>8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16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16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13798"/>
                  </a:ext>
                </a:extLst>
              </a:tr>
              <a:tr h="285048">
                <a:tc>
                  <a:txBody>
                    <a:bodyPr/>
                    <a:lstStyle/>
                    <a:p>
                      <a:r>
                        <a:rPr lang="en-GB" sz="900">
                          <a:effectLst/>
                        </a:rPr>
                        <a:t>Zarepour 2020</a:t>
                      </a:r>
                      <a:r>
                        <a:rPr lang="en-GB" sz="900" baseline="30000">
                          <a:effectLst/>
                        </a:rPr>
                        <a:t>35</a:t>
                      </a:r>
                      <a:endParaRPr lang="en-GB" sz="9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Iran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On-site educational intervention + informational support on the anxiety of family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Psychoeducational intervention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Twice a week</a:t>
                      </a:r>
                      <a:r>
                        <a:rPr lang="zh-CN" altLang="en-US" sz="1050" dirty="0">
                          <a:effectLst/>
                        </a:rPr>
                        <a:t> </a:t>
                      </a:r>
                      <a:r>
                        <a:rPr lang="en-US" altLang="zh-CN" sz="1050" dirty="0">
                          <a:effectLst/>
                        </a:rPr>
                        <a:t>[2]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Individual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>
                          <a:effectLst/>
                        </a:rPr>
                        <a:t>35</a:t>
                      </a:r>
                      <a:endParaRPr lang="en-GB" sz="105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35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4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effectLst/>
                        </a:rPr>
                        <a:t>4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r>
                        <a:rPr lang="en-GB" sz="1050" dirty="0">
                          <a:effectLst/>
                        </a:rPr>
                        <a:t> + 1 </a:t>
                      </a:r>
                      <a:r>
                        <a:rPr lang="en-GB" sz="1050" dirty="0" err="1">
                          <a:effectLst/>
                        </a:rPr>
                        <a:t>mo</a:t>
                      </a:r>
                      <a:endParaRPr lang="en-GB" sz="1050" dirty="0">
                        <a:effectLst/>
                      </a:endParaRPr>
                    </a:p>
                    <a:p>
                      <a:pPr algn="ctr"/>
                      <a:r>
                        <a:rPr lang="en-GB" sz="1050" dirty="0">
                          <a:effectLst/>
                        </a:rPr>
                        <a:t>4 </a:t>
                      </a:r>
                      <a:r>
                        <a:rPr lang="en-GB" sz="1050" dirty="0" err="1">
                          <a:effectLst/>
                        </a:rPr>
                        <a:t>wk</a:t>
                      </a:r>
                      <a:r>
                        <a:rPr lang="en-GB" sz="1050" dirty="0">
                          <a:effectLst/>
                        </a:rPr>
                        <a:t> + 3 </a:t>
                      </a:r>
                      <a:r>
                        <a:rPr lang="en-GB" sz="1050" dirty="0" err="1">
                          <a:effectLst/>
                        </a:rPr>
                        <a:t>mo</a:t>
                      </a:r>
                      <a:endParaRPr lang="en-GB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74550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6F013757-14A3-98E6-1458-D357460D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02" y="27296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8FAA6D2-7743-342F-8079-6424212B6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79" y="6344716"/>
            <a:ext cx="10618058" cy="56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[1]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Uyar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et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al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(2019)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GB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stated in the Abstract that “the intervention (n=31) and control groups (n=30)” but in the main text, the authors stated that “the intervention (n=30) and control groups (n=31)”. Thus, we consider this to be a typo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about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the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baseline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sample</a:t>
            </a:r>
            <a:r>
              <a:rPr lang="zh-CN" altLang="en-US" sz="1000" dirty="0"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size.</a:t>
            </a:r>
            <a:endParaRPr lang="en-GB" altLang="zh-CN" sz="105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[2]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According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to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Zarepour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(2020),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the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frequency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is</a:t>
            </a:r>
            <a:r>
              <a: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“</a:t>
            </a:r>
            <a:r>
              <a:rPr kumimoji="0" lang="en-GB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7 sessions in 4 </a:t>
            </a:r>
            <a:r>
              <a:rPr kumimoji="0" lang="en-GB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wk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”</a:t>
            </a:r>
            <a:r>
              <a:rPr kumimoji="0" lang="en-GB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ea typeface="Helvetica" pitchFamily="2" charset="0"/>
                <a:cs typeface="Times New Roman" panose="02020603050405020304" pitchFamily="18" charset="0"/>
              </a:rPr>
              <a:t>, which is around 2 sessions a week</a:t>
            </a:r>
            <a:endParaRPr kumimoji="0" lang="en-GB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43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Risk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of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bias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assessment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table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14548" y="1225405"/>
            <a:ext cx="5545524" cy="54784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am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modifying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version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risk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bias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assessment,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which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will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deviate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from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group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discussion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did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last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time,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guess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did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not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fully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comply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with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 err="1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RoB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.</a:t>
            </a:r>
          </a:p>
          <a:p>
            <a:pPr lvl="1">
              <a:spcBef>
                <a:spcPts val="600"/>
              </a:spcBef>
            </a:pPr>
            <a:endParaRPr lang="en-US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access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information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GB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  <a:hlinkClick r:id="rId3"/>
              </a:rPr>
              <a:t>https://www.riskofbias.info/welcome/rob-2-0-tool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read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full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current version,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which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available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GB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  <a:hlinkClick r:id="rId4"/>
              </a:rPr>
              <a:t>https://drive.google.com/file/d/19R9savfPdCHC8XLz2iiMvL_71lPJERWK/view</a:t>
            </a:r>
            <a:endParaRPr lang="en-GB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endParaRPr lang="en-US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describes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detail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about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differences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between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low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risk,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high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risk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some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concerns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for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each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item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assessed.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GB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endParaRPr lang="en-GB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Thus,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use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principles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flow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charts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(as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illustrated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right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guideline)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re-assess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risk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bias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shared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risk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bias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table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with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more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details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shared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Google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Drive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folder.</a:t>
            </a:r>
            <a:endParaRPr lang="en-GB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E3EEA516-253A-7F58-B87B-3C15E2F2D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059" y="3646311"/>
            <a:ext cx="5919148" cy="3057517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37512F20-A6EE-BD56-ED4C-B671EBFDA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148" y="1321980"/>
            <a:ext cx="5740967" cy="197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1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Data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extraction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table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350535" y="1244751"/>
            <a:ext cx="5587421" cy="51398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endParaRPr lang="en-GB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share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my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data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extraction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table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“</a:t>
            </a:r>
            <a:r>
              <a:rPr lang="en-US" altLang="zh-CN" sz="1600" b="1" dirty="0" err="1">
                <a:solidFill>
                  <a:srgbClr val="05A994"/>
                </a:solidFill>
                <a:latin typeface="Roboto Light" panose="02000000000000000000" pitchFamily="2" charset="0"/>
              </a:rPr>
              <a:t>Dataset_version_latest.xlsx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”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shared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Google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Drive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folder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dataset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contains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two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sets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risk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bias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information,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which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can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be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told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according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to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their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column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names.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also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re-</a:t>
            </a:r>
            <a:r>
              <a:rPr lang="en-US" altLang="zh-CN" sz="1600" b="1" dirty="0" err="1">
                <a:solidFill>
                  <a:srgbClr val="05A994"/>
                </a:solidFill>
                <a:latin typeface="Roboto Light" panose="02000000000000000000" pitchFamily="2" charset="0"/>
              </a:rPr>
              <a:t>categorised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interventions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according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to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GB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Walter and </a:t>
            </a:r>
            <a:r>
              <a:rPr lang="en-GB" altLang="zh-CN" sz="1600" b="1" dirty="0" err="1">
                <a:solidFill>
                  <a:srgbClr val="05A994"/>
                </a:solidFill>
                <a:latin typeface="Roboto Light" panose="02000000000000000000" pitchFamily="2" charset="0"/>
              </a:rPr>
              <a:t>Pinquart</a:t>
            </a:r>
            <a:r>
              <a:rPr lang="en-GB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(2020) and their previous work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zh-CN" sz="1600" b="1" dirty="0">
                <a:solidFill>
                  <a:srgbClr val="05A994"/>
                </a:solidFill>
                <a:latin typeface="Roboto Light" panose="02000000000000000000" pitchFamily="2" charset="0"/>
                <a:hlinkClick r:id="rId3"/>
              </a:rPr>
              <a:t>https://pubmed.ncbi.nlm.nih.gov/33226434/</a:t>
            </a:r>
            <a:r>
              <a:rPr lang="en-GB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endParaRPr lang="en-US" altLang="zh-CN" sz="1600" b="1" dirty="0">
              <a:solidFill>
                <a:srgbClr val="05A994"/>
              </a:solidFill>
              <a:latin typeface="Roboto Light" panose="02000000000000000000" pitchFamily="2" charset="0"/>
            </a:endParaRPr>
          </a:p>
          <a:p>
            <a:pPr lvl="1">
              <a:spcBef>
                <a:spcPts val="600"/>
              </a:spcBef>
            </a:pPr>
            <a:endParaRPr lang="en-US" altLang="zh-CN" sz="1600" b="1" dirty="0">
              <a:solidFill>
                <a:srgbClr val="05A994"/>
              </a:solidFill>
              <a:latin typeface="Roboto Light" panose="02000000000000000000" pitchFamily="2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About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previous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studies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large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dataset: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further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included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22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studies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from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large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dataset,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which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optional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for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this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project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confirmed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on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13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December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office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hour.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Thus,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you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can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exclude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these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studies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by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filtering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studies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with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their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sources,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which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first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column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table.</a:t>
            </a:r>
            <a:endParaRPr lang="en-US" sz="1600" b="1" dirty="0">
              <a:solidFill>
                <a:srgbClr val="05A994"/>
              </a:solidFill>
              <a:latin typeface="Roboto Light" panose="02000000000000000000" pitchFamily="2" charset="0"/>
            </a:endParaRPr>
          </a:p>
          <a:p>
            <a:pPr lvl="1">
              <a:spcBef>
                <a:spcPts val="600"/>
              </a:spcBef>
            </a:pPr>
            <a:endParaRPr lang="en-US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F013757-14A3-98E6-1458-D357460D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02" y="27296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055DCC-9796-A7D5-5A0D-6A589A8E3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61270"/>
              </p:ext>
            </p:extLst>
          </p:nvPr>
        </p:nvGraphicFramePr>
        <p:xfrm>
          <a:off x="6683023" y="499542"/>
          <a:ext cx="5158443" cy="58589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9261">
                  <a:extLst>
                    <a:ext uri="{9D8B030D-6E8A-4147-A177-3AD203B41FA5}">
                      <a16:colId xmlns:a16="http://schemas.microsoft.com/office/drawing/2014/main" val="2674017253"/>
                    </a:ext>
                  </a:extLst>
                </a:gridCol>
                <a:gridCol w="4029182">
                  <a:extLst>
                    <a:ext uri="{9D8B030D-6E8A-4147-A177-3AD203B41FA5}">
                      <a16:colId xmlns:a16="http://schemas.microsoft.com/office/drawing/2014/main" val="943192474"/>
                    </a:ext>
                  </a:extLst>
                </a:gridCol>
              </a:tblGrid>
              <a:tr h="270461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Type of data items</a:t>
                      </a:r>
                      <a:endParaRPr lang="en-GB" sz="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Collected data items</a:t>
                      </a:r>
                      <a:endParaRPr lang="en-GB" sz="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rgbClr val="05A9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87391"/>
                  </a:ext>
                </a:extLst>
              </a:tr>
              <a:tr h="1136043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Publication details</a:t>
                      </a:r>
                      <a:endParaRPr lang="en-GB" sz="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Source: 2019 meta-analysis OR 2022 search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Year of publication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Authors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Title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Journal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Volume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Issue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Pages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DOI</a:t>
                      </a:r>
                      <a:endParaRPr lang="en-GB" sz="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62242"/>
                  </a:ext>
                </a:extLst>
              </a:tr>
              <a:tr h="1667844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Intervention details</a:t>
                      </a:r>
                      <a:endParaRPr lang="en-GB" sz="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Intervention type: see Table 4 for details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Country: state where the research was conducted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Setting: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urban OR rural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nursing home OR community OR others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Study design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parallel group OR cross-over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randomised OR nonrandomised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Intervention and control names, as described in the paper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Detailed description of intervention quoted from the paper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Intervention duration described in the paper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Intervention duration converted to days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Intervention frequency</a:t>
                      </a:r>
                      <a:endParaRPr lang="en-GB" sz="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32522"/>
                  </a:ext>
                </a:extLst>
              </a:tr>
              <a:tr h="69278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Participant details</a:t>
                      </a:r>
                      <a:endParaRPr lang="en-GB" sz="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Participant inclusion criteria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Participant exclusion criteria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Type of dementia or mild cognitive impairment defined by the authors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Education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Gender</a:t>
                      </a:r>
                      <a:endParaRPr lang="en-GB" sz="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611188"/>
                  </a:ext>
                </a:extLst>
              </a:tr>
              <a:tr h="2091780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Outcome data</a:t>
                      </a:r>
                      <a:endParaRPr lang="en-GB" sz="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rgbClr val="05A994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List of health-related outcome measures for caregivers: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see Table 4 for details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List of health-related outcome measures for care recipients: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see Table 4 for details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Point of measurement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Raw summary statistics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Baseline sample size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Baseline mean effect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Baseline SD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Sample size at the point of measurement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Mean of the effect at the point of measurement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SD of the effect at the point of measurement</a:t>
                      </a:r>
                    </a:p>
                    <a:p>
                      <a:pPr marL="342900" lvl="0" indent="-342900">
                        <a:buFont typeface="Symbol" pitchFamily="2" charset="2"/>
                        <a:buChar char=""/>
                      </a:pPr>
                      <a:r>
                        <a:rPr lang="en-GB" sz="800" dirty="0">
                          <a:effectLst/>
                        </a:rPr>
                        <a:t>Change from baseline data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Standardised mean difference (SMD) or mean difference (MD)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Hedge’s g converted from SMD/MD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GB" sz="800" dirty="0">
                          <a:effectLst/>
                        </a:rPr>
                        <a:t>Sample size of control and experimental groups</a:t>
                      </a:r>
                      <a:endParaRPr lang="en-GB" sz="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3043" marR="4304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2426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3ED37E-BD8C-19B4-C65D-8A27DFE40F21}"/>
              </a:ext>
            </a:extLst>
          </p:cNvPr>
          <p:cNvSpPr txBox="1"/>
          <p:nvPr/>
        </p:nvSpPr>
        <p:spPr>
          <a:xfrm>
            <a:off x="8216316" y="6381111"/>
            <a:ext cx="2091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My</a:t>
            </a:r>
            <a:r>
              <a:rPr lang="zh-CN" altLang="en-US" dirty="0"/>
              <a:t> </a:t>
            </a:r>
            <a:r>
              <a:rPr lang="en-US" altLang="zh-CN" dirty="0"/>
              <a:t>list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items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4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Forest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plot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examples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490160" y="26239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F013757-14A3-98E6-1458-D357460D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02" y="27296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B96E5-ABCC-091D-B668-173FC682CC82}"/>
              </a:ext>
            </a:extLst>
          </p:cNvPr>
          <p:cNvSpPr txBox="1"/>
          <p:nvPr/>
        </p:nvSpPr>
        <p:spPr>
          <a:xfrm>
            <a:off x="7746784" y="3583725"/>
            <a:ext cx="185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Caregiver</a:t>
            </a:r>
            <a:r>
              <a:rPr lang="zh-CN" altLang="en-US" dirty="0"/>
              <a:t> </a:t>
            </a:r>
            <a:r>
              <a:rPr lang="en-US" altLang="zh-CN" dirty="0"/>
              <a:t>burden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13" name="Picture 12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B846489B-6F44-F6B3-9637-AD596D488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32" y="371305"/>
            <a:ext cx="5407378" cy="3245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C97A0F-B250-FCBC-A1D4-CF68AB7084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676" t="31635" r="9492" b="29339"/>
          <a:stretch/>
        </p:blipFill>
        <p:spPr>
          <a:xfrm>
            <a:off x="5757332" y="4513995"/>
            <a:ext cx="5407379" cy="18504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4F584F-C453-7EA9-6EB2-204508F7AF78}"/>
              </a:ext>
            </a:extLst>
          </p:cNvPr>
          <p:cNvSpPr txBox="1"/>
          <p:nvPr/>
        </p:nvSpPr>
        <p:spPr>
          <a:xfrm>
            <a:off x="7757669" y="6364560"/>
            <a:ext cx="2204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Caregiver</a:t>
            </a:r>
            <a:r>
              <a:rPr lang="zh-CN" altLang="en-US" dirty="0"/>
              <a:t> </a:t>
            </a:r>
            <a:r>
              <a:rPr lang="en-US" altLang="zh-CN" dirty="0"/>
              <a:t>depression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771EEA-98C9-7AF3-97A9-BDB3FC3051BE}"/>
              </a:ext>
            </a:extLst>
          </p:cNvPr>
          <p:cNvSpPr/>
          <p:nvPr/>
        </p:nvSpPr>
        <p:spPr>
          <a:xfrm>
            <a:off x="0" y="1514401"/>
            <a:ext cx="5120921" cy="392415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endParaRPr lang="en-GB" altLang="zh-CN" sz="1600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only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have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some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examples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for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caregiver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burden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caregiver</a:t>
            </a:r>
            <a:r>
              <a:rPr lang="zh-CN" altLang="en-US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 panose="02000000000000000000" pitchFamily="2" charset="0"/>
              </a:rPr>
              <a:t>depression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using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all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studies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extracted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dataset.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Thus,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bit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more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than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requirements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Dr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Naci</a:t>
            </a:r>
            <a:endParaRPr lang="en-GB" altLang="zh-CN" sz="1600" b="1" dirty="0">
              <a:solidFill>
                <a:srgbClr val="05A994"/>
              </a:solidFill>
              <a:latin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altLang="zh-CN" sz="1600" b="1" dirty="0">
              <a:solidFill>
                <a:srgbClr val="05A994"/>
              </a:solidFill>
              <a:latin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feel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that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these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two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plots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might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be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sufficient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write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report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in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any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case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of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emergency.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my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eventual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output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will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differ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from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two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displayed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here.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endParaRPr lang="en-US" altLang="zh-CN" sz="1600" b="1" dirty="0">
              <a:solidFill>
                <a:srgbClr val="05A994"/>
              </a:solidFill>
              <a:latin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5A994"/>
              </a:solidFill>
              <a:latin typeface="Roboto Light"/>
              <a:cs typeface="Roboto Ligh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Please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let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me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know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if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you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find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any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problems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with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plots,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but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not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ask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me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how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to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generate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the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plots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with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Stata,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as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don’t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use</a:t>
            </a:r>
            <a:r>
              <a:rPr lang="zh-CN" altLang="en-US" sz="1600" b="1" dirty="0">
                <a:solidFill>
                  <a:srgbClr val="05A994"/>
                </a:solidFill>
                <a:latin typeface="Roboto Light"/>
                <a:cs typeface="Roboto Light"/>
              </a:rPr>
              <a:t> </a:t>
            </a:r>
            <a:r>
              <a:rPr lang="en-US" altLang="zh-CN" sz="1600" b="1" dirty="0">
                <a:solidFill>
                  <a:srgbClr val="05A994"/>
                </a:solidFill>
                <a:latin typeface="Roboto Light"/>
                <a:cs typeface="Roboto Light"/>
              </a:rPr>
              <a:t>it…</a:t>
            </a:r>
            <a:endParaRPr lang="en-US" sz="1600" b="1" dirty="0">
              <a:solidFill>
                <a:srgbClr val="05A994"/>
              </a:solidFill>
              <a:latin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89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CFC47-0301-424C-9690-9AE6722D9473}"/>
              </a:ext>
            </a:extLst>
          </p:cNvPr>
          <p:cNvSpPr/>
          <p:nvPr/>
        </p:nvSpPr>
        <p:spPr>
          <a:xfrm>
            <a:off x="350534" y="1321980"/>
            <a:ext cx="11490932" cy="39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>
                <a:latin typeface="Roboto Light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923F-4CF7-6044-9267-84692EB69A19}"/>
              </a:ext>
            </a:extLst>
          </p:cNvPr>
          <p:cNvSpPr txBox="1"/>
          <p:nvPr/>
        </p:nvSpPr>
        <p:spPr>
          <a:xfrm>
            <a:off x="350533" y="371305"/>
            <a:ext cx="1135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397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Last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but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not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the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5A994"/>
                </a:solidFill>
                <a:effectLst/>
                <a:uLnTx/>
                <a:uFillTx/>
                <a:latin typeface="Roboto Light" panose="02000000000000000000" pitchFamily="2" charset="0"/>
                <a:ea typeface="+mn-ea"/>
                <a:cs typeface="+mn-cs"/>
              </a:rPr>
              <a:t>least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5A994"/>
              </a:solidFill>
              <a:effectLst/>
              <a:uLnTx/>
              <a:uFillTx/>
              <a:latin typeface="Roboto Light" panose="02000000000000000000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E63D8-731D-F44B-B88B-5678DA9BDEFF}"/>
              </a:ext>
            </a:extLst>
          </p:cNvPr>
          <p:cNvSpPr/>
          <p:nvPr/>
        </p:nvSpPr>
        <p:spPr>
          <a:xfrm>
            <a:off x="350534" y="1218906"/>
            <a:ext cx="1135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F9D4-A197-AF48-917F-754C16E18CE8}"/>
              </a:ext>
            </a:extLst>
          </p:cNvPr>
          <p:cNvSpPr/>
          <p:nvPr/>
        </p:nvSpPr>
        <p:spPr>
          <a:xfrm>
            <a:off x="5655733" y="1353409"/>
            <a:ext cx="5885020" cy="529375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In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guideline,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it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is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said,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endParaRPr lang="en-US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endParaRPr lang="en-US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  <a:p>
            <a:pPr lvl="1">
              <a:spcBef>
                <a:spcPts val="600"/>
              </a:spcBef>
            </a:pPr>
            <a:r>
              <a:rPr lang="en-US" dirty="0"/>
              <a:t>Remember that your </a:t>
            </a:r>
            <a:r>
              <a:rPr lang="en-US" b="1" u="sng" dirty="0"/>
              <a:t>individual</a:t>
            </a:r>
            <a:r>
              <a:rPr lang="en-US" dirty="0"/>
              <a:t> research project report will account for 100% of the course grade on HP407. Although you are working on completing a systematic review and meta-analysis in groups, your final reports will be developed individually. 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Parts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allowed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to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be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the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same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across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group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members: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search terms and strategy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list of included studies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extraction tables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forest plots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risk of bias assessment tables</a:t>
            </a:r>
            <a:endParaRPr lang="en-GB" altLang="zh-CN" b="1" dirty="0">
              <a:solidFill>
                <a:srgbClr val="05A994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6550B-0608-6769-C4AC-AF8339587C12}"/>
              </a:ext>
            </a:extLst>
          </p:cNvPr>
          <p:cNvSpPr txBox="1"/>
          <p:nvPr/>
        </p:nvSpPr>
        <p:spPr>
          <a:xfrm>
            <a:off x="8501449" y="2360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77276-4ACE-B2FC-3792-E4E50302FBE7}"/>
              </a:ext>
            </a:extLst>
          </p:cNvPr>
          <p:cNvSpPr/>
          <p:nvPr/>
        </p:nvSpPr>
        <p:spPr>
          <a:xfrm>
            <a:off x="446874" y="1542071"/>
            <a:ext cx="5040497" cy="4278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A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few</a:t>
            </a:r>
            <a:r>
              <a:rPr lang="zh-CN" altLang="en-US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altLang="zh-CN" b="1" dirty="0">
                <a:solidFill>
                  <a:srgbClr val="05A994"/>
                </a:solidFill>
                <a:latin typeface="Roboto Light"/>
                <a:ea typeface="Roboto Light"/>
                <a:cs typeface="Roboto Light"/>
              </a:rPr>
              <a:t>words…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me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permission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reuse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tables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figures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shared</a:t>
            </a:r>
            <a:r>
              <a:rPr lang="zh-CN" altLang="en-US" dirty="0"/>
              <a:t> </a:t>
            </a:r>
            <a:r>
              <a:rPr lang="en-US" altLang="zh-CN" dirty="0"/>
              <a:t>Google</a:t>
            </a:r>
            <a:r>
              <a:rPr lang="zh-CN" altLang="en-US" dirty="0"/>
              <a:t> </a:t>
            </a:r>
            <a:r>
              <a:rPr lang="en-US" altLang="zh-CN" dirty="0"/>
              <a:t>Drive,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r>
              <a:rPr lang="zh-CN" altLang="en-US" dirty="0"/>
              <a:t> </a:t>
            </a:r>
            <a:r>
              <a:rPr lang="en-US" altLang="zh-CN" dirty="0"/>
              <a:t>allowed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members.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update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files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error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mistake.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parts,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remember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paraphrase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avoid</a:t>
            </a:r>
            <a:r>
              <a:rPr lang="zh-CN" altLang="en-US" dirty="0"/>
              <a:t> </a:t>
            </a:r>
            <a:r>
              <a:rPr lang="en-US" altLang="zh-CN" dirty="0"/>
              <a:t>plagiarism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write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report.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me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uncertain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anything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folder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assignment.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happy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help.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/>
              <a:t>Merry</a:t>
            </a:r>
            <a:r>
              <a:rPr lang="zh-CN" altLang="en-US" b="1" dirty="0"/>
              <a:t> </a:t>
            </a:r>
            <a:r>
              <a:rPr lang="en-US" altLang="zh-CN" b="1" dirty="0"/>
              <a:t>Xmas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happy</a:t>
            </a:r>
            <a:r>
              <a:rPr lang="zh-CN" altLang="en-US" b="1" dirty="0"/>
              <a:t> </a:t>
            </a:r>
            <a:r>
              <a:rPr lang="en-US" altLang="zh-CN" b="1" dirty="0"/>
              <a:t>new</a:t>
            </a:r>
            <a:r>
              <a:rPr lang="zh-CN" altLang="en-US" b="1" dirty="0"/>
              <a:t> </a:t>
            </a:r>
            <a:r>
              <a:rPr lang="en-US" altLang="zh-CN" b="1" dirty="0"/>
              <a:t>year!</a:t>
            </a:r>
          </a:p>
        </p:txBody>
      </p:sp>
    </p:spTree>
    <p:extLst>
      <p:ext uri="{BB962C8B-B14F-4D97-AF65-F5344CB8AC3E}">
        <p14:creationId xmlns:p14="http://schemas.microsoft.com/office/powerpoint/2010/main" val="338638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DC83D93-E8BC-E243-9F61-1F0BBC97F096}" vid="{1E669522-C20E-E944-A89F-AA6A4F7F9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1574</Words>
  <Application>Microsoft Macintosh PowerPoint</Application>
  <PresentationFormat>Widescreen</PresentationFormat>
  <Paragraphs>249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Helvetica</vt:lpstr>
      <vt:lpstr>Roboto</vt:lpstr>
      <vt:lpstr>Roboto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Amanda Nguyen</dc:creator>
  <cp:lastModifiedBy>Microsoft Office User</cp:lastModifiedBy>
  <cp:revision>3</cp:revision>
  <dcterms:created xsi:type="dcterms:W3CDTF">2019-03-01T10:05:46Z</dcterms:created>
  <dcterms:modified xsi:type="dcterms:W3CDTF">2022-12-23T08:42:47Z</dcterms:modified>
</cp:coreProperties>
</file>